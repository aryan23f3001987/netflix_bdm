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venir" panose="020B0604020202020204" charset="0"/>
      <p:regular r:id="rId12"/>
    </p:embeddedFont>
    <p:embeddedFont>
      <p:font typeface="Avenir Bold" panose="020B0604020202020204" charset="0"/>
      <p:regular r:id="rId13"/>
    </p:embeddedFont>
    <p:embeddedFont>
      <p:font typeface="Barlow Condensed Semi-Bold" panose="020B0604020202020204" charset="0"/>
      <p:regular r:id="rId14"/>
    </p:embeddedFont>
    <p:embeddedFont>
      <p:font typeface="Canva Sans Bold" panose="020B0604020202020204" charset="0"/>
      <p:regular r:id="rId15"/>
    </p:embeddedFont>
    <p:embeddedFont>
      <p:font typeface="DM Sans" panose="020F0502020204030204" pitchFamily="2" charset="0"/>
      <p:regular r:id="rId16"/>
    </p:embeddedFont>
    <p:embeddedFont>
      <p:font typeface="DM Sans Bold" panose="020B0604020202020204" charset="0"/>
      <p:regular r:id="rId17"/>
    </p:embeddedFont>
    <p:embeddedFont>
      <p:font typeface="Gotham" panose="020B0604020202020204" charset="0"/>
      <p:regular r:id="rId18"/>
    </p:embeddedFont>
    <p:embeddedFont>
      <p:font typeface="Gotham Bold" panose="020B0604020202020204" charset="0"/>
      <p:regular r:id="rId19"/>
    </p:embeddedFont>
    <p:embeddedFont>
      <p:font typeface="Gotham Bold Italics" panose="020B0604020202020204" charset="0"/>
      <p:regular r:id="rId20"/>
    </p:embeddedFont>
    <p:embeddedFont>
      <p:font typeface="Montserrat Bold" panose="020B0604020202020204" charset="0"/>
      <p:regular r:id="rId21"/>
    </p:embeddedFont>
    <p:embeddedFont>
      <p:font typeface="Montserrat Semi-Bold" panose="020B0604020202020204" charset="0"/>
      <p:regular r:id="rId22"/>
    </p:embeddedFont>
    <p:embeddedFont>
      <p:font typeface="Open Sans" panose="020F0502020204030204" pitchFamily="34" charset="0"/>
      <p:regular r:id="rId23"/>
    </p:embeddedFont>
    <p:embeddedFont>
      <p:font typeface="Open Sans Bold" panose="020B0604020202020204" charset="0"/>
      <p:regular r:id="rId24"/>
    </p:embeddedFont>
    <p:embeddedFont>
      <p:font typeface="Public Sans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662"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svg"/><Relationship Id="rId3" Type="http://schemas.openxmlformats.org/officeDocument/2006/relationships/image" Target="../media/image2.svg"/><Relationship Id="rId21" Type="http://schemas.openxmlformats.org/officeDocument/2006/relationships/image" Target="../media/image21.pn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1.png"/><Relationship Id="rId16" Type="http://schemas.openxmlformats.org/officeDocument/2006/relationships/image" Target="../media/image16.svg"/><Relationship Id="rId20" Type="http://schemas.openxmlformats.org/officeDocument/2006/relationships/image" Target="../media/image20.sv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4.sv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svg"/><Relationship Id="rId7" Type="http://schemas.openxmlformats.org/officeDocument/2006/relationships/image" Target="../media/image9.svg"/><Relationship Id="rId12"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29.png"/><Relationship Id="rId5" Type="http://schemas.openxmlformats.org/officeDocument/2006/relationships/image" Target="../media/image25.svg"/><Relationship Id="rId10" Type="http://schemas.openxmlformats.org/officeDocument/2006/relationships/image" Target="../media/image28.png"/><Relationship Id="rId4" Type="http://schemas.openxmlformats.org/officeDocument/2006/relationships/image" Target="../media/image24.png"/><Relationship Id="rId9" Type="http://schemas.openxmlformats.org/officeDocument/2006/relationships/image" Target="../media/image27.svg"/><Relationship Id="rId14"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sv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4.svg"/><Relationship Id="rId7"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22.svg"/><Relationship Id="rId10" Type="http://schemas.openxmlformats.org/officeDocument/2006/relationships/image" Target="../media/image46.png"/><Relationship Id="rId4" Type="http://schemas.openxmlformats.org/officeDocument/2006/relationships/image" Target="../media/image21.png"/><Relationship Id="rId9" Type="http://schemas.openxmlformats.org/officeDocument/2006/relationships/image" Target="../media/image45.png"/></Relationships>
</file>

<file path=ppt/slides/_rels/slide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22.svg"/><Relationship Id="rId7" Type="http://schemas.openxmlformats.org/officeDocument/2006/relationships/image" Target="../media/image36.svg"/><Relationship Id="rId12" Type="http://schemas.openxmlformats.org/officeDocument/2006/relationships/image" Target="../media/image59.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58.png"/><Relationship Id="rId5" Type="http://schemas.openxmlformats.org/officeDocument/2006/relationships/image" Target="../media/image54.sv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3.png"/><Relationship Id="rId9" Type="http://schemas.openxmlformats.org/officeDocument/2006/relationships/image" Target="../media/image56.svg"/><Relationship Id="rId14" Type="http://schemas.openxmlformats.org/officeDocument/2006/relationships/image" Target="../media/image61.png"/></Relationships>
</file>

<file path=ppt/slides/_rels/slide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svg"/><Relationship Id="rId7" Type="http://schemas.openxmlformats.org/officeDocument/2006/relationships/image" Target="../media/image3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59.png"/><Relationship Id="rId5" Type="http://schemas.openxmlformats.org/officeDocument/2006/relationships/image" Target="../media/image64.svg"/><Relationship Id="rId10" Type="http://schemas.openxmlformats.org/officeDocument/2006/relationships/image" Target="../media/image65.png"/><Relationship Id="rId4" Type="http://schemas.openxmlformats.org/officeDocument/2006/relationships/image" Target="../media/image63.png"/><Relationship Id="rId9"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8887126" y="-1383136"/>
            <a:ext cx="10994424" cy="1099442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85725" cap="sq">
              <a:solidFill>
                <a:srgbClr val="FD6220"/>
              </a:solidFill>
              <a:prstDash val="solid"/>
              <a:miter/>
            </a:ln>
          </p:spPr>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28700" y="91400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455030" y="5480809"/>
            <a:ext cx="6059445" cy="605944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6859387" y="7082665"/>
            <a:ext cx="2000810" cy="4114800"/>
          </a:xfrm>
          <a:custGeom>
            <a:avLst/>
            <a:gdLst/>
            <a:ahLst/>
            <a:cxnLst/>
            <a:rect l="l" t="t" r="r" b="b"/>
            <a:pathLst>
              <a:path w="2000810" h="4114800">
                <a:moveTo>
                  <a:pt x="0" y="0"/>
                </a:moveTo>
                <a:lnTo>
                  <a:pt x="2000810" y="0"/>
                </a:lnTo>
                <a:lnTo>
                  <a:pt x="2000810" y="4114800"/>
                </a:lnTo>
                <a:lnTo>
                  <a:pt x="0" y="4114800"/>
                </a:lnTo>
                <a:lnTo>
                  <a:pt x="0" y="0"/>
                </a:lnTo>
                <a:close/>
              </a:path>
            </a:pathLst>
          </a:custGeom>
          <a:blipFill>
            <a:blip r:embed="rId4">
              <a:alphaModFix amt="53000"/>
              <a:extLst>
                <a:ext uri="{96DAC541-7B7A-43D3-8B79-37D633B846F1}">
                  <asvg:svgBlip xmlns:asvg="http://schemas.microsoft.com/office/drawing/2016/SVG/main" r:embed="rId5"/>
                </a:ext>
              </a:extLst>
            </a:blip>
            <a:stretch>
              <a:fillRect r="-204881"/>
            </a:stretch>
          </a:blipFill>
        </p:spPr>
      </p:sp>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259148" y="-1383136"/>
            <a:ext cx="10994424" cy="1099442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15" name="TextBox 15"/>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7130841" y="737457"/>
            <a:ext cx="4026318" cy="4026318"/>
          </a:xfrm>
          <a:custGeom>
            <a:avLst/>
            <a:gdLst/>
            <a:ahLst/>
            <a:cxnLst/>
            <a:rect l="l" t="t" r="r" b="b"/>
            <a:pathLst>
              <a:path w="4026318" h="4026318">
                <a:moveTo>
                  <a:pt x="0" y="0"/>
                </a:moveTo>
                <a:lnTo>
                  <a:pt x="4026318" y="0"/>
                </a:lnTo>
                <a:lnTo>
                  <a:pt x="4026318" y="4026318"/>
                </a:lnTo>
                <a:lnTo>
                  <a:pt x="0" y="4026318"/>
                </a:lnTo>
                <a:lnTo>
                  <a:pt x="0" y="0"/>
                </a:lnTo>
                <a:close/>
              </a:path>
            </a:pathLst>
          </a:custGeom>
          <a:blipFill>
            <a:blip r:embed="rId6"/>
            <a:stretch>
              <a:fillRect/>
            </a:stretch>
          </a:blipFill>
        </p:spPr>
      </p:sp>
      <p:sp>
        <p:nvSpPr>
          <p:cNvPr id="17" name="TextBox 17"/>
          <p:cNvSpPr txBox="1"/>
          <p:nvPr/>
        </p:nvSpPr>
        <p:spPr>
          <a:xfrm>
            <a:off x="1228656" y="5101399"/>
            <a:ext cx="15830687" cy="661813"/>
          </a:xfrm>
          <a:prstGeom prst="rect">
            <a:avLst/>
          </a:prstGeom>
        </p:spPr>
        <p:txBody>
          <a:bodyPr lIns="0" tIns="0" rIns="0" bIns="0" rtlCol="0" anchor="t">
            <a:spAutoFit/>
          </a:bodyPr>
          <a:lstStyle/>
          <a:p>
            <a:pPr marL="0" lvl="0" indent="0" algn="ctr">
              <a:lnSpc>
                <a:spcPts val="3967"/>
              </a:lnSpc>
              <a:spcBef>
                <a:spcPct val="0"/>
              </a:spcBef>
            </a:pPr>
            <a:r>
              <a:rPr lang="en-US" sz="5086" b="1" spc="-401">
                <a:solidFill>
                  <a:srgbClr val="000000"/>
                </a:solidFill>
                <a:latin typeface="Avenir Bold"/>
                <a:ea typeface="Avenir Bold"/>
                <a:cs typeface="Avenir Bold"/>
                <a:sym typeface="Avenir Bold"/>
              </a:rPr>
              <a:t>ST</a:t>
            </a:r>
            <a:r>
              <a:rPr lang="en-US" sz="5086" b="1" u="none" spc="-401">
                <a:solidFill>
                  <a:srgbClr val="000000"/>
                </a:solidFill>
                <a:latin typeface="Avenir Bold"/>
                <a:ea typeface="Avenir Bold"/>
                <a:cs typeface="Avenir Bold"/>
                <a:sym typeface="Avenir Bold"/>
              </a:rPr>
              <a:t>RATEGIC CONTENT INSIGHTS FOR NETFLIX</a:t>
            </a:r>
          </a:p>
        </p:txBody>
      </p:sp>
      <p:sp>
        <p:nvSpPr>
          <p:cNvPr id="18" name="TextBox 18"/>
          <p:cNvSpPr txBox="1"/>
          <p:nvPr/>
        </p:nvSpPr>
        <p:spPr>
          <a:xfrm>
            <a:off x="1028700" y="6096587"/>
            <a:ext cx="15830687" cy="661813"/>
          </a:xfrm>
          <a:prstGeom prst="rect">
            <a:avLst/>
          </a:prstGeom>
        </p:spPr>
        <p:txBody>
          <a:bodyPr lIns="0" tIns="0" rIns="0" bIns="0" rtlCol="0" anchor="t">
            <a:spAutoFit/>
          </a:bodyPr>
          <a:lstStyle/>
          <a:p>
            <a:pPr marL="0" lvl="0" indent="0" algn="ctr">
              <a:lnSpc>
                <a:spcPts val="3967"/>
              </a:lnSpc>
              <a:spcBef>
                <a:spcPct val="0"/>
              </a:spcBef>
            </a:pPr>
            <a:r>
              <a:rPr lang="en-US" sz="5086" b="1" spc="-401">
                <a:solidFill>
                  <a:srgbClr val="000000"/>
                </a:solidFill>
                <a:latin typeface="Avenir Bold"/>
                <a:ea typeface="Avenir Bold"/>
                <a:cs typeface="Avenir Bold"/>
                <a:sym typeface="Avenir Bold"/>
              </a:rPr>
              <a:t>BDM CAPSTONE PROJECT</a:t>
            </a:r>
          </a:p>
        </p:txBody>
      </p:sp>
      <p:sp>
        <p:nvSpPr>
          <p:cNvPr id="19" name="TextBox 19"/>
          <p:cNvSpPr txBox="1"/>
          <p:nvPr/>
        </p:nvSpPr>
        <p:spPr>
          <a:xfrm>
            <a:off x="1228656" y="5585584"/>
            <a:ext cx="15830687" cy="661813"/>
          </a:xfrm>
          <a:prstGeom prst="rect">
            <a:avLst/>
          </a:prstGeom>
        </p:spPr>
        <p:txBody>
          <a:bodyPr lIns="0" tIns="0" rIns="0" bIns="0" rtlCol="0" anchor="t">
            <a:spAutoFit/>
          </a:bodyPr>
          <a:lstStyle/>
          <a:p>
            <a:pPr marL="0" lvl="0" indent="0" algn="ctr">
              <a:lnSpc>
                <a:spcPts val="3967"/>
              </a:lnSpc>
              <a:spcBef>
                <a:spcPct val="0"/>
              </a:spcBef>
            </a:pPr>
            <a:r>
              <a:rPr lang="en-US" sz="5086" b="1" spc="-401">
                <a:solidFill>
                  <a:srgbClr val="000000"/>
                </a:solidFill>
                <a:latin typeface="Avenir Bold"/>
                <a:ea typeface="Avenir Bold"/>
                <a:cs typeface="Avenir Bold"/>
                <a:sym typeface="Avenir Bold"/>
              </a:rPr>
              <a:t>-------------------------------------------------------------------------------------</a:t>
            </a:r>
          </a:p>
        </p:txBody>
      </p:sp>
      <p:sp>
        <p:nvSpPr>
          <p:cNvPr id="20" name="TextBox 20"/>
          <p:cNvSpPr txBox="1"/>
          <p:nvPr/>
        </p:nvSpPr>
        <p:spPr>
          <a:xfrm>
            <a:off x="9082051" y="9774918"/>
            <a:ext cx="7977293" cy="512082"/>
          </a:xfrm>
          <a:prstGeom prst="rect">
            <a:avLst/>
          </a:prstGeom>
        </p:spPr>
        <p:txBody>
          <a:bodyPr lIns="0" tIns="0" rIns="0" bIns="0" rtlCol="0" anchor="t">
            <a:spAutoFit/>
          </a:bodyPr>
          <a:lstStyle/>
          <a:p>
            <a:pPr marL="0" lvl="0" indent="0" algn="ctr">
              <a:lnSpc>
                <a:spcPts val="3031"/>
              </a:lnSpc>
              <a:spcBef>
                <a:spcPct val="0"/>
              </a:spcBef>
            </a:pPr>
            <a:r>
              <a:rPr lang="en-US" sz="3886" spc="-306">
                <a:solidFill>
                  <a:srgbClr val="000000"/>
                </a:solidFill>
                <a:latin typeface="Avenir"/>
                <a:ea typeface="Avenir"/>
                <a:cs typeface="Avenir"/>
                <a:sym typeface="Avenir"/>
              </a:rPr>
              <a:t>BY ARYAN THAKUR | 23F3001987 | IITM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1977227" y="-1212337"/>
            <a:ext cx="3499668" cy="13405540"/>
            <a:chOff x="0" y="0"/>
            <a:chExt cx="212191" cy="812800"/>
          </a:xfrm>
        </p:grpSpPr>
        <p:sp>
          <p:nvSpPr>
            <p:cNvPr id="3" name="Freeform 3"/>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F0000"/>
              </a:solidFill>
              <a:prstDash val="solid"/>
              <a:miter/>
            </a:ln>
          </p:spPr>
        </p:sp>
        <p:sp>
          <p:nvSpPr>
            <p:cNvPr id="4" name="TextBox 4"/>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3522363" y="-7470871"/>
            <a:ext cx="10994424" cy="1099442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01975" y="2055765"/>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344128" y="4550900"/>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344128" y="3210923"/>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344128" y="5219315"/>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344128" y="3880047"/>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344128" y="6559291"/>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344128" y="5888438"/>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0" name="Group 30"/>
          <p:cNvGrpSpPr/>
          <p:nvPr/>
        </p:nvGrpSpPr>
        <p:grpSpPr>
          <a:xfrm>
            <a:off x="344128" y="7226922"/>
            <a:ext cx="508158" cy="543805"/>
            <a:chOff x="0" y="0"/>
            <a:chExt cx="812800" cy="869819"/>
          </a:xfrm>
        </p:grpSpPr>
        <p:sp>
          <p:nvSpPr>
            <p:cNvPr id="31" name="Freeform 3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2" name="TextBox 3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3" name="Group 33"/>
          <p:cNvGrpSpPr/>
          <p:nvPr/>
        </p:nvGrpSpPr>
        <p:grpSpPr>
          <a:xfrm rot="3945801">
            <a:off x="14398159" y="8540598"/>
            <a:ext cx="4776403" cy="477640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35" name="TextBox 35"/>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36" name="Freeform 36"/>
          <p:cNvSpPr/>
          <p:nvPr/>
        </p:nvSpPr>
        <p:spPr>
          <a:xfrm rot="3945801">
            <a:off x="14001643" y="6346146"/>
            <a:ext cx="3228532" cy="6639694"/>
          </a:xfrm>
          <a:custGeom>
            <a:avLst/>
            <a:gdLst/>
            <a:ahLst/>
            <a:cxnLst/>
            <a:rect l="l" t="t" r="r" b="b"/>
            <a:pathLst>
              <a:path w="3228532" h="6639694">
                <a:moveTo>
                  <a:pt x="0" y="0"/>
                </a:moveTo>
                <a:lnTo>
                  <a:pt x="3228532" y="0"/>
                </a:lnTo>
                <a:lnTo>
                  <a:pt x="3228532" y="6639694"/>
                </a:lnTo>
                <a:lnTo>
                  <a:pt x="0" y="6639694"/>
                </a:lnTo>
                <a:lnTo>
                  <a:pt x="0" y="0"/>
                </a:lnTo>
                <a:close/>
              </a:path>
            </a:pathLst>
          </a:custGeom>
          <a:blipFill>
            <a:blip r:embed="rId4">
              <a:extLst>
                <a:ext uri="{96DAC541-7B7A-43D3-8B79-37D633B846F1}">
                  <asvg:svgBlip xmlns:asvg="http://schemas.microsoft.com/office/drawing/2016/SVG/main" r:embed="rId5"/>
                </a:ext>
              </a:extLst>
            </a:blip>
            <a:stretch>
              <a:fillRect r="-204881"/>
            </a:stretch>
          </a:blipFill>
        </p:spPr>
      </p:sp>
      <p:sp>
        <p:nvSpPr>
          <p:cNvPr id="37" name="Freeform 37"/>
          <p:cNvSpPr/>
          <p:nvPr/>
        </p:nvSpPr>
        <p:spPr>
          <a:xfrm rot="1799999">
            <a:off x="5471930" y="1787586"/>
            <a:ext cx="1607975" cy="1928605"/>
          </a:xfrm>
          <a:custGeom>
            <a:avLst/>
            <a:gdLst/>
            <a:ahLst/>
            <a:cxnLst/>
            <a:rect l="l" t="t" r="r" b="b"/>
            <a:pathLst>
              <a:path w="1607975" h="1928605">
                <a:moveTo>
                  <a:pt x="0" y="0"/>
                </a:moveTo>
                <a:lnTo>
                  <a:pt x="1607974" y="0"/>
                </a:lnTo>
                <a:lnTo>
                  <a:pt x="1607974" y="1928605"/>
                </a:lnTo>
                <a:lnTo>
                  <a:pt x="0" y="1928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8" name="Freeform 38"/>
          <p:cNvSpPr/>
          <p:nvPr/>
        </p:nvSpPr>
        <p:spPr>
          <a:xfrm rot="5399999">
            <a:off x="6517096" y="3631672"/>
            <a:ext cx="1607975" cy="1928605"/>
          </a:xfrm>
          <a:custGeom>
            <a:avLst/>
            <a:gdLst/>
            <a:ahLst/>
            <a:cxnLst/>
            <a:rect l="l" t="t" r="r" b="b"/>
            <a:pathLst>
              <a:path w="1607975" h="1928605">
                <a:moveTo>
                  <a:pt x="0" y="0"/>
                </a:moveTo>
                <a:lnTo>
                  <a:pt x="1607975" y="0"/>
                </a:lnTo>
                <a:lnTo>
                  <a:pt x="1607975" y="1928605"/>
                </a:lnTo>
                <a:lnTo>
                  <a:pt x="0" y="19286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9" name="Freeform 39"/>
          <p:cNvSpPr/>
          <p:nvPr/>
        </p:nvSpPr>
        <p:spPr>
          <a:xfrm rot="9000000">
            <a:off x="5471930" y="5464574"/>
            <a:ext cx="1607975" cy="1928605"/>
          </a:xfrm>
          <a:custGeom>
            <a:avLst/>
            <a:gdLst/>
            <a:ahLst/>
            <a:cxnLst/>
            <a:rect l="l" t="t" r="r" b="b"/>
            <a:pathLst>
              <a:path w="1607975" h="1928605">
                <a:moveTo>
                  <a:pt x="0" y="0"/>
                </a:moveTo>
                <a:lnTo>
                  <a:pt x="1607974" y="0"/>
                </a:lnTo>
                <a:lnTo>
                  <a:pt x="1607974" y="1928606"/>
                </a:lnTo>
                <a:lnTo>
                  <a:pt x="0" y="19286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0" name="Freeform 40"/>
          <p:cNvSpPr/>
          <p:nvPr/>
        </p:nvSpPr>
        <p:spPr>
          <a:xfrm rot="2700000">
            <a:off x="1548691" y="2906982"/>
            <a:ext cx="4029259" cy="4029259"/>
          </a:xfrm>
          <a:custGeom>
            <a:avLst/>
            <a:gdLst/>
            <a:ahLst/>
            <a:cxnLst/>
            <a:rect l="l" t="t" r="r" b="b"/>
            <a:pathLst>
              <a:path w="4029259" h="4029259">
                <a:moveTo>
                  <a:pt x="0" y="0"/>
                </a:moveTo>
                <a:lnTo>
                  <a:pt x="4029259" y="0"/>
                </a:lnTo>
                <a:lnTo>
                  <a:pt x="4029259" y="4029259"/>
                </a:lnTo>
                <a:lnTo>
                  <a:pt x="0" y="40292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41" name="AutoShape 41"/>
          <p:cNvSpPr/>
          <p:nvPr/>
        </p:nvSpPr>
        <p:spPr>
          <a:xfrm flipH="1">
            <a:off x="5342142" y="3586999"/>
            <a:ext cx="451623" cy="791295"/>
          </a:xfrm>
          <a:prstGeom prst="line">
            <a:avLst/>
          </a:prstGeom>
          <a:ln w="28575" cap="flat">
            <a:solidFill>
              <a:srgbClr val="FD6220"/>
            </a:solidFill>
            <a:prstDash val="solid"/>
            <a:headEnd type="oval" w="lg" len="lg"/>
            <a:tailEnd type="oval" w="lg" len="lg"/>
          </a:ln>
        </p:spPr>
      </p:sp>
      <p:sp>
        <p:nvSpPr>
          <p:cNvPr id="42" name="AutoShape 42"/>
          <p:cNvSpPr/>
          <p:nvPr/>
        </p:nvSpPr>
        <p:spPr>
          <a:xfrm flipH="1" flipV="1">
            <a:off x="5342142" y="4595974"/>
            <a:ext cx="1014638" cy="0"/>
          </a:xfrm>
          <a:prstGeom prst="line">
            <a:avLst/>
          </a:prstGeom>
          <a:ln w="28575" cap="flat">
            <a:solidFill>
              <a:srgbClr val="FD6220"/>
            </a:solidFill>
            <a:prstDash val="solid"/>
            <a:headEnd type="oval" w="lg" len="lg"/>
            <a:tailEnd type="oval" w="lg" len="lg"/>
          </a:ln>
        </p:spPr>
      </p:sp>
      <p:sp>
        <p:nvSpPr>
          <p:cNvPr id="43" name="AutoShape 43"/>
          <p:cNvSpPr/>
          <p:nvPr/>
        </p:nvSpPr>
        <p:spPr>
          <a:xfrm flipH="1" flipV="1">
            <a:off x="5342142" y="4813846"/>
            <a:ext cx="451623" cy="779921"/>
          </a:xfrm>
          <a:prstGeom prst="line">
            <a:avLst/>
          </a:prstGeom>
          <a:ln w="28575" cap="flat">
            <a:solidFill>
              <a:srgbClr val="FD6220"/>
            </a:solidFill>
            <a:prstDash val="solid"/>
            <a:headEnd type="oval" w="lg" len="lg"/>
            <a:tailEnd type="oval" w="lg" len="lg"/>
          </a:ln>
        </p:spPr>
      </p:sp>
      <p:sp>
        <p:nvSpPr>
          <p:cNvPr id="44" name="Freeform 44"/>
          <p:cNvSpPr/>
          <p:nvPr/>
        </p:nvSpPr>
        <p:spPr>
          <a:xfrm>
            <a:off x="6115428" y="2352193"/>
            <a:ext cx="532641" cy="488032"/>
          </a:xfrm>
          <a:custGeom>
            <a:avLst/>
            <a:gdLst/>
            <a:ahLst/>
            <a:cxnLst/>
            <a:rect l="l" t="t" r="r" b="b"/>
            <a:pathLst>
              <a:path w="532641" h="488032">
                <a:moveTo>
                  <a:pt x="0" y="0"/>
                </a:moveTo>
                <a:lnTo>
                  <a:pt x="532641" y="0"/>
                </a:lnTo>
                <a:lnTo>
                  <a:pt x="532641" y="488032"/>
                </a:lnTo>
                <a:lnTo>
                  <a:pt x="0" y="4880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45" name="Freeform 45"/>
          <p:cNvSpPr/>
          <p:nvPr/>
        </p:nvSpPr>
        <p:spPr>
          <a:xfrm>
            <a:off x="7253010" y="4329654"/>
            <a:ext cx="532641" cy="532641"/>
          </a:xfrm>
          <a:custGeom>
            <a:avLst/>
            <a:gdLst/>
            <a:ahLst/>
            <a:cxnLst/>
            <a:rect l="l" t="t" r="r" b="b"/>
            <a:pathLst>
              <a:path w="532641" h="532641">
                <a:moveTo>
                  <a:pt x="0" y="0"/>
                </a:moveTo>
                <a:lnTo>
                  <a:pt x="532641" y="0"/>
                </a:lnTo>
                <a:lnTo>
                  <a:pt x="532641" y="532641"/>
                </a:lnTo>
                <a:lnTo>
                  <a:pt x="0" y="53264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46" name="Freeform 46"/>
          <p:cNvSpPr/>
          <p:nvPr/>
        </p:nvSpPr>
        <p:spPr>
          <a:xfrm>
            <a:off x="6003124" y="6214479"/>
            <a:ext cx="707313" cy="707313"/>
          </a:xfrm>
          <a:custGeom>
            <a:avLst/>
            <a:gdLst/>
            <a:ahLst/>
            <a:cxnLst/>
            <a:rect l="l" t="t" r="r" b="b"/>
            <a:pathLst>
              <a:path w="707313" h="707313">
                <a:moveTo>
                  <a:pt x="0" y="0"/>
                </a:moveTo>
                <a:lnTo>
                  <a:pt x="707313" y="0"/>
                </a:lnTo>
                <a:lnTo>
                  <a:pt x="707313" y="707313"/>
                </a:lnTo>
                <a:lnTo>
                  <a:pt x="0" y="707313"/>
                </a:lnTo>
                <a:lnTo>
                  <a:pt x="0" y="0"/>
                </a:lnTo>
                <a:close/>
              </a:path>
            </a:pathLst>
          </a:custGeom>
          <a:blipFill>
            <a:blip r:embed="rId14"/>
            <a:stretch>
              <a:fillRect/>
            </a:stretch>
          </a:blipFill>
        </p:spPr>
      </p:sp>
      <p:sp>
        <p:nvSpPr>
          <p:cNvPr id="47" name="Freeform 47"/>
          <p:cNvSpPr/>
          <p:nvPr/>
        </p:nvSpPr>
        <p:spPr>
          <a:xfrm>
            <a:off x="12480251" y="4151950"/>
            <a:ext cx="5197293" cy="1585174"/>
          </a:xfrm>
          <a:custGeom>
            <a:avLst/>
            <a:gdLst/>
            <a:ahLst/>
            <a:cxnLst/>
            <a:rect l="l" t="t" r="r" b="b"/>
            <a:pathLst>
              <a:path w="5197293" h="1585174">
                <a:moveTo>
                  <a:pt x="0" y="0"/>
                </a:moveTo>
                <a:lnTo>
                  <a:pt x="5197292" y="0"/>
                </a:lnTo>
                <a:lnTo>
                  <a:pt x="5197292" y="1585174"/>
                </a:lnTo>
                <a:lnTo>
                  <a:pt x="0" y="1585174"/>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8" name="Freeform 48"/>
          <p:cNvSpPr/>
          <p:nvPr/>
        </p:nvSpPr>
        <p:spPr>
          <a:xfrm>
            <a:off x="13213727" y="6171395"/>
            <a:ext cx="4115707" cy="169773"/>
          </a:xfrm>
          <a:custGeom>
            <a:avLst/>
            <a:gdLst/>
            <a:ahLst/>
            <a:cxnLst/>
            <a:rect l="l" t="t" r="r" b="b"/>
            <a:pathLst>
              <a:path w="4115707" h="169773">
                <a:moveTo>
                  <a:pt x="0" y="0"/>
                </a:moveTo>
                <a:lnTo>
                  <a:pt x="4115707" y="0"/>
                </a:lnTo>
                <a:lnTo>
                  <a:pt x="4115707" y="169773"/>
                </a:lnTo>
                <a:lnTo>
                  <a:pt x="0" y="16977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49" name="Group 49"/>
          <p:cNvGrpSpPr/>
          <p:nvPr/>
        </p:nvGrpSpPr>
        <p:grpSpPr>
          <a:xfrm>
            <a:off x="11926014" y="5398100"/>
            <a:ext cx="1174479" cy="1174479"/>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FD6220"/>
              </a:solidFill>
              <a:prstDash val="solid"/>
              <a:miter/>
            </a:ln>
          </p:spPr>
        </p:sp>
        <p:sp>
          <p:nvSpPr>
            <p:cNvPr id="51" name="TextBox 51"/>
            <p:cNvSpPr txBox="1"/>
            <p:nvPr/>
          </p:nvSpPr>
          <p:spPr>
            <a:xfrm>
              <a:off x="76200" y="38100"/>
              <a:ext cx="660400" cy="698500"/>
            </a:xfrm>
            <a:prstGeom prst="rect">
              <a:avLst/>
            </a:prstGeom>
          </p:spPr>
          <p:txBody>
            <a:bodyPr lIns="50800" tIns="50800" rIns="50800" bIns="50800" rtlCol="0" anchor="ctr"/>
            <a:lstStyle/>
            <a:p>
              <a:pPr algn="ctr">
                <a:lnSpc>
                  <a:spcPts val="3359"/>
                </a:lnSpc>
              </a:pPr>
              <a:endParaRPr/>
            </a:p>
          </p:txBody>
        </p:sp>
      </p:grpSp>
      <p:sp>
        <p:nvSpPr>
          <p:cNvPr id="52" name="Freeform 52"/>
          <p:cNvSpPr/>
          <p:nvPr/>
        </p:nvSpPr>
        <p:spPr>
          <a:xfrm>
            <a:off x="16573624" y="4339640"/>
            <a:ext cx="908930" cy="669200"/>
          </a:xfrm>
          <a:custGeom>
            <a:avLst/>
            <a:gdLst/>
            <a:ahLst/>
            <a:cxnLst/>
            <a:rect l="l" t="t" r="r" b="b"/>
            <a:pathLst>
              <a:path w="908930" h="669200">
                <a:moveTo>
                  <a:pt x="0" y="0"/>
                </a:moveTo>
                <a:lnTo>
                  <a:pt x="908930" y="0"/>
                </a:lnTo>
                <a:lnTo>
                  <a:pt x="908930" y="669199"/>
                </a:lnTo>
                <a:lnTo>
                  <a:pt x="0" y="669199"/>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sp>
      <p:grpSp>
        <p:nvGrpSpPr>
          <p:cNvPr id="53" name="Group 53"/>
          <p:cNvGrpSpPr/>
          <p:nvPr/>
        </p:nvGrpSpPr>
        <p:grpSpPr>
          <a:xfrm>
            <a:off x="13100494" y="4291757"/>
            <a:ext cx="3153521" cy="1304566"/>
            <a:chOff x="0" y="0"/>
            <a:chExt cx="838355" cy="346815"/>
          </a:xfrm>
        </p:grpSpPr>
        <p:sp>
          <p:nvSpPr>
            <p:cNvPr id="54" name="Freeform 54"/>
            <p:cNvSpPr/>
            <p:nvPr/>
          </p:nvSpPr>
          <p:spPr>
            <a:xfrm>
              <a:off x="0" y="0"/>
              <a:ext cx="838355" cy="346815"/>
            </a:xfrm>
            <a:custGeom>
              <a:avLst/>
              <a:gdLst/>
              <a:ahLst/>
              <a:cxnLst/>
              <a:rect l="l" t="t" r="r" b="b"/>
              <a:pathLst>
                <a:path w="838355" h="346815">
                  <a:moveTo>
                    <a:pt x="47949" y="0"/>
                  </a:moveTo>
                  <a:lnTo>
                    <a:pt x="790406" y="0"/>
                  </a:lnTo>
                  <a:cubicBezTo>
                    <a:pt x="816887" y="0"/>
                    <a:pt x="838355" y="21468"/>
                    <a:pt x="838355" y="47949"/>
                  </a:cubicBezTo>
                  <a:lnTo>
                    <a:pt x="838355" y="298866"/>
                  </a:lnTo>
                  <a:cubicBezTo>
                    <a:pt x="838355" y="325348"/>
                    <a:pt x="816887" y="346815"/>
                    <a:pt x="790406" y="346815"/>
                  </a:cubicBezTo>
                  <a:lnTo>
                    <a:pt x="47949" y="346815"/>
                  </a:lnTo>
                  <a:cubicBezTo>
                    <a:pt x="35232" y="346815"/>
                    <a:pt x="23036" y="341764"/>
                    <a:pt x="14044" y="332771"/>
                  </a:cubicBezTo>
                  <a:cubicBezTo>
                    <a:pt x="5052" y="323779"/>
                    <a:pt x="0" y="311583"/>
                    <a:pt x="0" y="298866"/>
                  </a:cubicBezTo>
                  <a:lnTo>
                    <a:pt x="0" y="47949"/>
                  </a:lnTo>
                  <a:cubicBezTo>
                    <a:pt x="0" y="35232"/>
                    <a:pt x="5052" y="23036"/>
                    <a:pt x="14044" y="14044"/>
                  </a:cubicBezTo>
                  <a:cubicBezTo>
                    <a:pt x="23036" y="5052"/>
                    <a:pt x="35232" y="0"/>
                    <a:pt x="47949" y="0"/>
                  </a:cubicBezTo>
                  <a:close/>
                </a:path>
              </a:pathLst>
            </a:custGeom>
            <a:solidFill>
              <a:srgbClr val="FFFEFE"/>
            </a:solidFill>
          </p:spPr>
        </p:sp>
        <p:sp>
          <p:nvSpPr>
            <p:cNvPr id="55" name="TextBox 55"/>
            <p:cNvSpPr txBox="1"/>
            <p:nvPr/>
          </p:nvSpPr>
          <p:spPr>
            <a:xfrm>
              <a:off x="0" y="-28575"/>
              <a:ext cx="838355" cy="375390"/>
            </a:xfrm>
            <a:prstGeom prst="rect">
              <a:avLst/>
            </a:prstGeom>
          </p:spPr>
          <p:txBody>
            <a:bodyPr lIns="50800" tIns="50800" rIns="50800" bIns="50800" rtlCol="0" anchor="ctr"/>
            <a:lstStyle/>
            <a:p>
              <a:pPr algn="ctr">
                <a:lnSpc>
                  <a:spcPts val="2380"/>
                </a:lnSpc>
              </a:pPr>
              <a:endParaRPr/>
            </a:p>
          </p:txBody>
        </p:sp>
      </p:grpSp>
      <p:grpSp>
        <p:nvGrpSpPr>
          <p:cNvPr id="56" name="Group 56"/>
          <p:cNvGrpSpPr/>
          <p:nvPr/>
        </p:nvGrpSpPr>
        <p:grpSpPr>
          <a:xfrm rot="5400000">
            <a:off x="6559890" y="3335237"/>
            <a:ext cx="1325500" cy="11755708"/>
            <a:chOff x="0" y="0"/>
            <a:chExt cx="660400" cy="5857014"/>
          </a:xfrm>
        </p:grpSpPr>
        <p:sp>
          <p:nvSpPr>
            <p:cNvPr id="57" name="Freeform 57"/>
            <p:cNvSpPr/>
            <p:nvPr/>
          </p:nvSpPr>
          <p:spPr>
            <a:xfrm>
              <a:off x="0" y="0"/>
              <a:ext cx="660400" cy="5857013"/>
            </a:xfrm>
            <a:custGeom>
              <a:avLst/>
              <a:gdLst/>
              <a:ahLst/>
              <a:cxnLst/>
              <a:rect l="l" t="t" r="r" b="b"/>
              <a:pathLst>
                <a:path w="660400" h="585701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440548"/>
                  </a:cubicBezTo>
                  <a:lnTo>
                    <a:pt x="660400" y="5857013"/>
                  </a:lnTo>
                  <a:lnTo>
                    <a:pt x="0" y="5857013"/>
                  </a:lnTo>
                  <a:lnTo>
                    <a:pt x="0" y="444568"/>
                  </a:lnTo>
                  <a:cubicBezTo>
                    <a:pt x="1782" y="185660"/>
                    <a:pt x="93019" y="64045"/>
                    <a:pt x="220252" y="19070"/>
                  </a:cubicBezTo>
                  <a:close/>
                </a:path>
              </a:pathLst>
            </a:custGeom>
            <a:solidFill>
              <a:srgbClr val="FD6220"/>
            </a:solidFill>
          </p:spPr>
        </p:sp>
        <p:sp>
          <p:nvSpPr>
            <p:cNvPr id="58" name="TextBox 58"/>
            <p:cNvSpPr txBox="1"/>
            <p:nvPr/>
          </p:nvSpPr>
          <p:spPr>
            <a:xfrm>
              <a:off x="0" y="88900"/>
              <a:ext cx="660400" cy="5768114"/>
            </a:xfrm>
            <a:prstGeom prst="rect">
              <a:avLst/>
            </a:prstGeom>
          </p:spPr>
          <p:txBody>
            <a:bodyPr lIns="59282" tIns="59282" rIns="59282" bIns="59282" rtlCol="0" anchor="ctr"/>
            <a:lstStyle/>
            <a:p>
              <a:pPr algn="ctr">
                <a:lnSpc>
                  <a:spcPts val="3080"/>
                </a:lnSpc>
              </a:pPr>
              <a:endParaRPr/>
            </a:p>
          </p:txBody>
        </p:sp>
      </p:grpSp>
      <p:sp>
        <p:nvSpPr>
          <p:cNvPr id="59" name="Freeform 59"/>
          <p:cNvSpPr/>
          <p:nvPr/>
        </p:nvSpPr>
        <p:spPr>
          <a:xfrm>
            <a:off x="1494376" y="8550341"/>
            <a:ext cx="1415918" cy="1415918"/>
          </a:xfrm>
          <a:custGeom>
            <a:avLst/>
            <a:gdLst/>
            <a:ahLst/>
            <a:cxnLst/>
            <a:rect l="l" t="t" r="r" b="b"/>
            <a:pathLst>
              <a:path w="1415918" h="1415918">
                <a:moveTo>
                  <a:pt x="0" y="0"/>
                </a:moveTo>
                <a:lnTo>
                  <a:pt x="1415918" y="0"/>
                </a:lnTo>
                <a:lnTo>
                  <a:pt x="1415918" y="1415918"/>
                </a:lnTo>
                <a:lnTo>
                  <a:pt x="0" y="1415918"/>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60" name="Freeform 60"/>
          <p:cNvSpPr/>
          <p:nvPr/>
        </p:nvSpPr>
        <p:spPr>
          <a:xfrm>
            <a:off x="1741492" y="8720107"/>
            <a:ext cx="848217" cy="848217"/>
          </a:xfrm>
          <a:custGeom>
            <a:avLst/>
            <a:gdLst/>
            <a:ahLst/>
            <a:cxnLst/>
            <a:rect l="l" t="t" r="r" b="b"/>
            <a:pathLst>
              <a:path w="848217" h="848217">
                <a:moveTo>
                  <a:pt x="0" y="0"/>
                </a:moveTo>
                <a:lnTo>
                  <a:pt x="848216" y="0"/>
                </a:lnTo>
                <a:lnTo>
                  <a:pt x="848216" y="848216"/>
                </a:lnTo>
                <a:lnTo>
                  <a:pt x="0" y="848216"/>
                </a:lnTo>
                <a:lnTo>
                  <a:pt x="0" y="0"/>
                </a:lnTo>
                <a:close/>
              </a:path>
            </a:pathLst>
          </a:custGeom>
          <a:blipFill>
            <a:blip r:embed="rId23"/>
            <a:stretch>
              <a:fillRect/>
            </a:stretch>
          </a:blipFill>
        </p:spPr>
      </p:sp>
      <p:sp>
        <p:nvSpPr>
          <p:cNvPr id="61" name="TextBox 61"/>
          <p:cNvSpPr txBox="1"/>
          <p:nvPr/>
        </p:nvSpPr>
        <p:spPr>
          <a:xfrm>
            <a:off x="2036530" y="4368516"/>
            <a:ext cx="3060963" cy="383117"/>
          </a:xfrm>
          <a:prstGeom prst="rect">
            <a:avLst/>
          </a:prstGeom>
        </p:spPr>
        <p:txBody>
          <a:bodyPr lIns="0" tIns="0" rIns="0" bIns="0" rtlCol="0" anchor="t">
            <a:spAutoFit/>
          </a:bodyPr>
          <a:lstStyle/>
          <a:p>
            <a:pPr algn="ctr">
              <a:lnSpc>
                <a:spcPts val="3071"/>
              </a:lnSpc>
            </a:pPr>
            <a:r>
              <a:rPr lang="en-US" sz="2559" b="1">
                <a:solidFill>
                  <a:srgbClr val="000000"/>
                </a:solidFill>
                <a:latin typeface="Montserrat Semi-Bold"/>
                <a:ea typeface="Montserrat Semi-Bold"/>
                <a:cs typeface="Montserrat Semi-Bold"/>
                <a:sym typeface="Montserrat Semi-Bold"/>
              </a:rPr>
              <a:t>GOAL</a:t>
            </a:r>
          </a:p>
        </p:txBody>
      </p:sp>
      <p:sp>
        <p:nvSpPr>
          <p:cNvPr id="62" name="TextBox 62"/>
          <p:cNvSpPr txBox="1"/>
          <p:nvPr/>
        </p:nvSpPr>
        <p:spPr>
          <a:xfrm>
            <a:off x="8684866" y="3934613"/>
            <a:ext cx="2422950" cy="233030"/>
          </a:xfrm>
          <a:prstGeom prst="rect">
            <a:avLst/>
          </a:prstGeom>
        </p:spPr>
        <p:txBody>
          <a:bodyPr lIns="0" tIns="0" rIns="0" bIns="0" rtlCol="0" anchor="t">
            <a:spAutoFit/>
          </a:bodyPr>
          <a:lstStyle/>
          <a:p>
            <a:pPr algn="l">
              <a:lnSpc>
                <a:spcPts val="1887"/>
              </a:lnSpc>
            </a:pPr>
            <a:r>
              <a:rPr lang="en-US" sz="1572" b="1">
                <a:solidFill>
                  <a:srgbClr val="000000"/>
                </a:solidFill>
                <a:latin typeface="Open Sans Bold"/>
                <a:ea typeface="Open Sans Bold"/>
                <a:cs typeface="Open Sans Bold"/>
                <a:sym typeface="Open Sans Bold"/>
              </a:rPr>
              <a:t>Regional Insights</a:t>
            </a:r>
          </a:p>
        </p:txBody>
      </p:sp>
      <p:sp>
        <p:nvSpPr>
          <p:cNvPr id="63" name="TextBox 63"/>
          <p:cNvSpPr txBox="1"/>
          <p:nvPr/>
        </p:nvSpPr>
        <p:spPr>
          <a:xfrm>
            <a:off x="8684866" y="4270570"/>
            <a:ext cx="2422950" cy="717123"/>
          </a:xfrm>
          <a:prstGeom prst="rect">
            <a:avLst/>
          </a:prstGeom>
        </p:spPr>
        <p:txBody>
          <a:bodyPr lIns="0" tIns="0" rIns="0" bIns="0" rtlCol="0" anchor="t">
            <a:spAutoFit/>
          </a:bodyPr>
          <a:lstStyle/>
          <a:p>
            <a:pPr algn="l">
              <a:lnSpc>
                <a:spcPts val="1957"/>
              </a:lnSpc>
              <a:spcBef>
                <a:spcPct val="0"/>
              </a:spcBef>
            </a:pPr>
            <a:r>
              <a:rPr lang="en-US" sz="1398">
                <a:solidFill>
                  <a:srgbClr val="000000"/>
                </a:solidFill>
                <a:latin typeface="Open Sans"/>
                <a:ea typeface="Open Sans"/>
                <a:cs typeface="Open Sans"/>
                <a:sym typeface="Open Sans"/>
              </a:rPr>
              <a:t>To study regional content distribution and identify underrepresented markets.</a:t>
            </a:r>
          </a:p>
        </p:txBody>
      </p:sp>
      <p:sp>
        <p:nvSpPr>
          <p:cNvPr id="64" name="TextBox 64"/>
          <p:cNvSpPr txBox="1"/>
          <p:nvPr/>
        </p:nvSpPr>
        <p:spPr>
          <a:xfrm>
            <a:off x="7587502" y="1758313"/>
            <a:ext cx="2422950" cy="233030"/>
          </a:xfrm>
          <a:prstGeom prst="rect">
            <a:avLst/>
          </a:prstGeom>
        </p:spPr>
        <p:txBody>
          <a:bodyPr lIns="0" tIns="0" rIns="0" bIns="0" rtlCol="0" anchor="t">
            <a:spAutoFit/>
          </a:bodyPr>
          <a:lstStyle/>
          <a:p>
            <a:pPr algn="l">
              <a:lnSpc>
                <a:spcPts val="1887"/>
              </a:lnSpc>
            </a:pPr>
            <a:r>
              <a:rPr lang="en-US" sz="1572" b="1">
                <a:solidFill>
                  <a:srgbClr val="000000"/>
                </a:solidFill>
                <a:latin typeface="Open Sans Bold"/>
                <a:ea typeface="Open Sans Bold"/>
                <a:cs typeface="Open Sans Bold"/>
                <a:sym typeface="Open Sans Bold"/>
              </a:rPr>
              <a:t>Content Analysis</a:t>
            </a:r>
          </a:p>
        </p:txBody>
      </p:sp>
      <p:sp>
        <p:nvSpPr>
          <p:cNvPr id="65" name="TextBox 65"/>
          <p:cNvSpPr txBox="1"/>
          <p:nvPr/>
        </p:nvSpPr>
        <p:spPr>
          <a:xfrm>
            <a:off x="7587502" y="2130882"/>
            <a:ext cx="2422950" cy="958476"/>
          </a:xfrm>
          <a:prstGeom prst="rect">
            <a:avLst/>
          </a:prstGeom>
        </p:spPr>
        <p:txBody>
          <a:bodyPr lIns="0" tIns="0" rIns="0" bIns="0" rtlCol="0" anchor="t">
            <a:spAutoFit/>
          </a:bodyPr>
          <a:lstStyle/>
          <a:p>
            <a:pPr algn="l">
              <a:lnSpc>
                <a:spcPts val="1957"/>
              </a:lnSpc>
              <a:spcBef>
                <a:spcPct val="0"/>
              </a:spcBef>
            </a:pPr>
            <a:r>
              <a:rPr lang="en-US" sz="1398">
                <a:solidFill>
                  <a:srgbClr val="000000"/>
                </a:solidFill>
                <a:latin typeface="Open Sans"/>
                <a:ea typeface="Open Sans"/>
                <a:cs typeface="Open Sans"/>
                <a:sym typeface="Open Sans"/>
              </a:rPr>
              <a:t>To analyze Netflix’s content library (till 2021) and uncover key trends in type, genre, and maturity rating.</a:t>
            </a:r>
          </a:p>
        </p:txBody>
      </p:sp>
      <p:sp>
        <p:nvSpPr>
          <p:cNvPr id="66" name="TextBox 66"/>
          <p:cNvSpPr txBox="1"/>
          <p:nvPr/>
        </p:nvSpPr>
        <p:spPr>
          <a:xfrm>
            <a:off x="7587502" y="6197480"/>
            <a:ext cx="2422950" cy="233030"/>
          </a:xfrm>
          <a:prstGeom prst="rect">
            <a:avLst/>
          </a:prstGeom>
        </p:spPr>
        <p:txBody>
          <a:bodyPr lIns="0" tIns="0" rIns="0" bIns="0" rtlCol="0" anchor="t">
            <a:spAutoFit/>
          </a:bodyPr>
          <a:lstStyle/>
          <a:p>
            <a:pPr algn="l">
              <a:lnSpc>
                <a:spcPts val="1887"/>
              </a:lnSpc>
            </a:pPr>
            <a:r>
              <a:rPr lang="en-US" sz="1572" b="1">
                <a:solidFill>
                  <a:srgbClr val="000000"/>
                </a:solidFill>
                <a:latin typeface="Open Sans Bold"/>
                <a:ea typeface="Open Sans Bold"/>
                <a:cs typeface="Open Sans Bold"/>
                <a:sym typeface="Open Sans Bold"/>
              </a:rPr>
              <a:t>Strategic Direction</a:t>
            </a:r>
          </a:p>
        </p:txBody>
      </p:sp>
      <p:sp>
        <p:nvSpPr>
          <p:cNvPr id="67" name="TextBox 67"/>
          <p:cNvSpPr txBox="1"/>
          <p:nvPr/>
        </p:nvSpPr>
        <p:spPr>
          <a:xfrm>
            <a:off x="7587502" y="6570049"/>
            <a:ext cx="2422950" cy="1199829"/>
          </a:xfrm>
          <a:prstGeom prst="rect">
            <a:avLst/>
          </a:prstGeom>
        </p:spPr>
        <p:txBody>
          <a:bodyPr lIns="0" tIns="0" rIns="0" bIns="0" rtlCol="0" anchor="t">
            <a:spAutoFit/>
          </a:bodyPr>
          <a:lstStyle/>
          <a:p>
            <a:pPr algn="l">
              <a:lnSpc>
                <a:spcPts val="1957"/>
              </a:lnSpc>
              <a:spcBef>
                <a:spcPct val="0"/>
              </a:spcBef>
            </a:pPr>
            <a:r>
              <a:rPr lang="en-US" sz="1398">
                <a:solidFill>
                  <a:srgbClr val="000000"/>
                </a:solidFill>
                <a:latin typeface="Open Sans"/>
                <a:ea typeface="Open Sans"/>
                <a:cs typeface="Open Sans"/>
                <a:sym typeface="Open Sans"/>
              </a:rPr>
              <a:t>To derive insights that support Netflix’s strategic content and expansion decisions.</a:t>
            </a:r>
          </a:p>
          <a:p>
            <a:pPr algn="l">
              <a:lnSpc>
                <a:spcPts val="1957"/>
              </a:lnSpc>
              <a:spcBef>
                <a:spcPct val="0"/>
              </a:spcBef>
            </a:pPr>
            <a:endParaRPr lang="en-US" sz="1398">
              <a:solidFill>
                <a:srgbClr val="000000"/>
              </a:solidFill>
              <a:latin typeface="Open Sans"/>
              <a:ea typeface="Open Sans"/>
              <a:cs typeface="Open Sans"/>
              <a:sym typeface="Open Sans"/>
            </a:endParaRPr>
          </a:p>
        </p:txBody>
      </p:sp>
      <p:sp>
        <p:nvSpPr>
          <p:cNvPr id="68" name="TextBox 68"/>
          <p:cNvSpPr txBox="1"/>
          <p:nvPr/>
        </p:nvSpPr>
        <p:spPr>
          <a:xfrm>
            <a:off x="11998444" y="5732610"/>
            <a:ext cx="1040643" cy="438785"/>
          </a:xfrm>
          <a:prstGeom prst="rect">
            <a:avLst/>
          </a:prstGeom>
        </p:spPr>
        <p:txBody>
          <a:bodyPr wrap="square" lIns="0" tIns="0" rIns="0" bIns="0" rtlCol="0" anchor="t">
            <a:spAutoFit/>
          </a:bodyPr>
          <a:lstStyle/>
          <a:p>
            <a:pPr algn="ctr">
              <a:lnSpc>
                <a:spcPts val="3639"/>
              </a:lnSpc>
            </a:pPr>
            <a:r>
              <a:rPr lang="en-US" sz="2599" b="1" dirty="0">
                <a:solidFill>
                  <a:srgbClr val="191919"/>
                </a:solidFill>
                <a:latin typeface="Canva Sans Bold"/>
                <a:ea typeface="Canva Sans Bold"/>
                <a:cs typeface="Canva Sans Bold"/>
                <a:sym typeface="Canva Sans Bold"/>
              </a:rPr>
              <a:t>DATA</a:t>
            </a:r>
          </a:p>
        </p:txBody>
      </p:sp>
      <p:sp>
        <p:nvSpPr>
          <p:cNvPr id="69" name="TextBox 69"/>
          <p:cNvSpPr txBox="1"/>
          <p:nvPr/>
        </p:nvSpPr>
        <p:spPr>
          <a:xfrm>
            <a:off x="13161082" y="4392032"/>
            <a:ext cx="3032345" cy="1099185"/>
          </a:xfrm>
          <a:prstGeom prst="rect">
            <a:avLst/>
          </a:prstGeom>
        </p:spPr>
        <p:txBody>
          <a:bodyPr lIns="0" tIns="0" rIns="0" bIns="0" rtlCol="0" anchor="t">
            <a:spAutoFit/>
          </a:bodyPr>
          <a:lstStyle/>
          <a:p>
            <a:pPr algn="ctr">
              <a:lnSpc>
                <a:spcPts val="2940"/>
              </a:lnSpc>
            </a:pPr>
            <a:r>
              <a:rPr lang="en-US" sz="2100" b="1">
                <a:solidFill>
                  <a:srgbClr val="191919"/>
                </a:solidFill>
                <a:latin typeface="Canva Sans Bold"/>
                <a:ea typeface="Canva Sans Bold"/>
                <a:cs typeface="Canva Sans Bold"/>
                <a:sym typeface="Canva Sans Bold"/>
              </a:rPr>
              <a:t>8807 ROWS</a:t>
            </a:r>
          </a:p>
          <a:p>
            <a:pPr algn="ctr">
              <a:lnSpc>
                <a:spcPts val="2940"/>
              </a:lnSpc>
            </a:pPr>
            <a:r>
              <a:rPr lang="en-US" sz="2100" b="1">
                <a:solidFill>
                  <a:srgbClr val="191919"/>
                </a:solidFill>
                <a:latin typeface="Canva Sans Bold"/>
                <a:ea typeface="Canva Sans Bold"/>
                <a:cs typeface="Canva Sans Bold"/>
                <a:sym typeface="Canva Sans Bold"/>
              </a:rPr>
              <a:t>AND</a:t>
            </a:r>
          </a:p>
          <a:p>
            <a:pPr algn="ctr">
              <a:lnSpc>
                <a:spcPts val="2940"/>
              </a:lnSpc>
            </a:pPr>
            <a:r>
              <a:rPr lang="en-US" sz="2100" b="1">
                <a:solidFill>
                  <a:srgbClr val="191919"/>
                </a:solidFill>
                <a:latin typeface="Canva Sans Bold"/>
                <a:ea typeface="Canva Sans Bold"/>
                <a:cs typeface="Canva Sans Bold"/>
                <a:sym typeface="Canva Sans Bold"/>
              </a:rPr>
              <a:t>12 FEATURES</a:t>
            </a:r>
          </a:p>
        </p:txBody>
      </p:sp>
      <p:sp>
        <p:nvSpPr>
          <p:cNvPr id="70" name="TextBox 70"/>
          <p:cNvSpPr txBox="1"/>
          <p:nvPr/>
        </p:nvSpPr>
        <p:spPr>
          <a:xfrm>
            <a:off x="2808758" y="8714194"/>
            <a:ext cx="9857030" cy="854129"/>
          </a:xfrm>
          <a:prstGeom prst="rect">
            <a:avLst/>
          </a:prstGeom>
        </p:spPr>
        <p:txBody>
          <a:bodyPr lIns="0" tIns="0" rIns="0" bIns="0" rtlCol="0" anchor="t">
            <a:spAutoFit/>
          </a:bodyPr>
          <a:lstStyle/>
          <a:p>
            <a:pPr algn="l">
              <a:lnSpc>
                <a:spcPts val="2284"/>
              </a:lnSpc>
              <a:spcBef>
                <a:spcPct val="0"/>
              </a:spcBef>
            </a:pPr>
            <a:r>
              <a:rPr lang="en-US" sz="1631" b="1">
                <a:solidFill>
                  <a:srgbClr val="000000"/>
                </a:solidFill>
                <a:latin typeface="Open Sans Bold"/>
                <a:ea typeface="Open Sans Bold"/>
                <a:cs typeface="Open Sans Bold"/>
                <a:sym typeface="Open Sans Bold"/>
              </a:rPr>
              <a:t>The analysis revealed that Netflix’s content is dominated by movies and mature-rated titles, with strong contributions from the U.S. and India. The findings provided actionable insights for improving regional diversity and balancing content across different audience groups.</a:t>
            </a:r>
          </a:p>
        </p:txBody>
      </p:sp>
      <p:sp>
        <p:nvSpPr>
          <p:cNvPr id="71" name="TextBox 71"/>
          <p:cNvSpPr txBox="1"/>
          <p:nvPr/>
        </p:nvSpPr>
        <p:spPr>
          <a:xfrm>
            <a:off x="1256244" y="100640"/>
            <a:ext cx="9493760" cy="795020"/>
          </a:xfrm>
          <a:prstGeom prst="rect">
            <a:avLst/>
          </a:prstGeom>
        </p:spPr>
        <p:txBody>
          <a:bodyPr lIns="0" tIns="0" rIns="0" bIns="0" rtlCol="0" anchor="t">
            <a:spAutoFit/>
          </a:bodyPr>
          <a:lstStyle/>
          <a:p>
            <a:pPr algn="l">
              <a:lnSpc>
                <a:spcPts val="6580"/>
              </a:lnSpc>
            </a:pPr>
            <a:r>
              <a:rPr lang="en-US" sz="4700" b="1">
                <a:solidFill>
                  <a:srgbClr val="191919"/>
                </a:solidFill>
                <a:latin typeface="Gotham Bold"/>
                <a:ea typeface="Gotham Bold"/>
                <a:cs typeface="Gotham Bold"/>
                <a:sym typeface="Gotham Bold"/>
              </a:rPr>
              <a:t>PROJECT 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2058919" y="-1336809"/>
            <a:ext cx="3499668" cy="13405540"/>
            <a:chOff x="0" y="0"/>
            <a:chExt cx="212191" cy="812800"/>
          </a:xfrm>
        </p:grpSpPr>
        <p:sp>
          <p:nvSpPr>
            <p:cNvPr id="3" name="Freeform 3"/>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9232C"/>
              </a:solidFill>
              <a:prstDash val="solid"/>
              <a:miter/>
            </a:ln>
          </p:spPr>
        </p:sp>
        <p:sp>
          <p:nvSpPr>
            <p:cNvPr id="4" name="TextBox 4"/>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23557" y="2627201"/>
            <a:ext cx="992463" cy="992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9" name="Group 9"/>
          <p:cNvGrpSpPr/>
          <p:nvPr/>
        </p:nvGrpSpPr>
        <p:grpSpPr>
          <a:xfrm>
            <a:off x="265709" y="4407385"/>
            <a:ext cx="508158" cy="543805"/>
            <a:chOff x="0" y="0"/>
            <a:chExt cx="812800" cy="869819"/>
          </a:xfrm>
        </p:grpSpPr>
        <p:sp>
          <p:nvSpPr>
            <p:cNvPr id="10" name="Freeform 1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1" name="TextBox 1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2" name="Group 12"/>
          <p:cNvGrpSpPr/>
          <p:nvPr/>
        </p:nvGrpSpPr>
        <p:grpSpPr>
          <a:xfrm>
            <a:off x="265709" y="1961438"/>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5" name="Group 15"/>
          <p:cNvGrpSpPr/>
          <p:nvPr/>
        </p:nvGrpSpPr>
        <p:grpSpPr>
          <a:xfrm>
            <a:off x="265709" y="5073148"/>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8" name="Group 18"/>
          <p:cNvGrpSpPr/>
          <p:nvPr/>
        </p:nvGrpSpPr>
        <p:grpSpPr>
          <a:xfrm>
            <a:off x="265709" y="3741622"/>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1" name="Group 21"/>
          <p:cNvGrpSpPr/>
          <p:nvPr/>
        </p:nvGrpSpPr>
        <p:grpSpPr>
          <a:xfrm>
            <a:off x="265709" y="6404675"/>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4" name="Group 24"/>
          <p:cNvGrpSpPr/>
          <p:nvPr/>
        </p:nvGrpSpPr>
        <p:grpSpPr>
          <a:xfrm>
            <a:off x="265709" y="5738912"/>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7" name="Group 27"/>
          <p:cNvGrpSpPr/>
          <p:nvPr/>
        </p:nvGrpSpPr>
        <p:grpSpPr>
          <a:xfrm>
            <a:off x="265709" y="7072305"/>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0" name="Freeform 30"/>
          <p:cNvSpPr/>
          <p:nvPr/>
        </p:nvSpPr>
        <p:spPr>
          <a:xfrm>
            <a:off x="5975908" y="4470246"/>
            <a:ext cx="2292824" cy="2358670"/>
          </a:xfrm>
          <a:custGeom>
            <a:avLst/>
            <a:gdLst/>
            <a:ahLst/>
            <a:cxnLst/>
            <a:rect l="l" t="t" r="r" b="b"/>
            <a:pathLst>
              <a:path w="2292824" h="2358670">
                <a:moveTo>
                  <a:pt x="0" y="0"/>
                </a:moveTo>
                <a:lnTo>
                  <a:pt x="2292823" y="0"/>
                </a:lnTo>
                <a:lnTo>
                  <a:pt x="2292823" y="2358670"/>
                </a:lnTo>
                <a:lnTo>
                  <a:pt x="0" y="23586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1" name="Freeform 31"/>
          <p:cNvSpPr/>
          <p:nvPr/>
        </p:nvSpPr>
        <p:spPr>
          <a:xfrm rot="-10800000">
            <a:off x="12153708" y="4470246"/>
            <a:ext cx="2292824" cy="2358670"/>
          </a:xfrm>
          <a:custGeom>
            <a:avLst/>
            <a:gdLst/>
            <a:ahLst/>
            <a:cxnLst/>
            <a:rect l="l" t="t" r="r" b="b"/>
            <a:pathLst>
              <a:path w="2292824" h="2358670">
                <a:moveTo>
                  <a:pt x="0" y="0"/>
                </a:moveTo>
                <a:lnTo>
                  <a:pt x="2292824" y="0"/>
                </a:lnTo>
                <a:lnTo>
                  <a:pt x="2292824" y="2358670"/>
                </a:lnTo>
                <a:lnTo>
                  <a:pt x="0" y="23586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2" name="Freeform 32"/>
          <p:cNvSpPr/>
          <p:nvPr/>
        </p:nvSpPr>
        <p:spPr>
          <a:xfrm rot="2100000">
            <a:off x="6534529" y="2698526"/>
            <a:ext cx="2292824" cy="2358670"/>
          </a:xfrm>
          <a:custGeom>
            <a:avLst/>
            <a:gdLst/>
            <a:ahLst/>
            <a:cxnLst/>
            <a:rect l="l" t="t" r="r" b="b"/>
            <a:pathLst>
              <a:path w="2292824" h="2358670">
                <a:moveTo>
                  <a:pt x="0" y="0"/>
                </a:moveTo>
                <a:lnTo>
                  <a:pt x="2292824" y="0"/>
                </a:lnTo>
                <a:lnTo>
                  <a:pt x="2292824" y="2358670"/>
                </a:lnTo>
                <a:lnTo>
                  <a:pt x="0" y="23586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3" name="Freeform 33"/>
          <p:cNvSpPr/>
          <p:nvPr/>
        </p:nvSpPr>
        <p:spPr>
          <a:xfrm rot="-8700000">
            <a:off x="11595087" y="6241967"/>
            <a:ext cx="2292824" cy="2358670"/>
          </a:xfrm>
          <a:custGeom>
            <a:avLst/>
            <a:gdLst/>
            <a:ahLst/>
            <a:cxnLst/>
            <a:rect l="l" t="t" r="r" b="b"/>
            <a:pathLst>
              <a:path w="2292824" h="2358670">
                <a:moveTo>
                  <a:pt x="0" y="0"/>
                </a:moveTo>
                <a:lnTo>
                  <a:pt x="2292824" y="0"/>
                </a:lnTo>
                <a:lnTo>
                  <a:pt x="2292824" y="2358669"/>
                </a:lnTo>
                <a:lnTo>
                  <a:pt x="0" y="23586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4" name="Freeform 34"/>
          <p:cNvSpPr/>
          <p:nvPr/>
        </p:nvSpPr>
        <p:spPr>
          <a:xfrm rot="-2100000">
            <a:off x="6534529" y="6241967"/>
            <a:ext cx="2292824" cy="2358670"/>
          </a:xfrm>
          <a:custGeom>
            <a:avLst/>
            <a:gdLst/>
            <a:ahLst/>
            <a:cxnLst/>
            <a:rect l="l" t="t" r="r" b="b"/>
            <a:pathLst>
              <a:path w="2292824" h="2358670">
                <a:moveTo>
                  <a:pt x="0" y="0"/>
                </a:moveTo>
                <a:lnTo>
                  <a:pt x="2292824" y="0"/>
                </a:lnTo>
                <a:lnTo>
                  <a:pt x="2292824" y="2358669"/>
                </a:lnTo>
                <a:lnTo>
                  <a:pt x="0" y="23586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5" name="Freeform 35"/>
          <p:cNvSpPr/>
          <p:nvPr/>
        </p:nvSpPr>
        <p:spPr>
          <a:xfrm rot="8700000">
            <a:off x="11595087" y="2698526"/>
            <a:ext cx="2292824" cy="2358670"/>
          </a:xfrm>
          <a:custGeom>
            <a:avLst/>
            <a:gdLst/>
            <a:ahLst/>
            <a:cxnLst/>
            <a:rect l="l" t="t" r="r" b="b"/>
            <a:pathLst>
              <a:path w="2292824" h="2358670">
                <a:moveTo>
                  <a:pt x="0" y="0"/>
                </a:moveTo>
                <a:lnTo>
                  <a:pt x="2292824" y="0"/>
                </a:lnTo>
                <a:lnTo>
                  <a:pt x="2292824" y="2358670"/>
                </a:lnTo>
                <a:lnTo>
                  <a:pt x="0" y="23586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6" name="Freeform 36"/>
          <p:cNvSpPr/>
          <p:nvPr/>
        </p:nvSpPr>
        <p:spPr>
          <a:xfrm rot="2700000">
            <a:off x="7919820" y="3756433"/>
            <a:ext cx="4582799" cy="4582799"/>
          </a:xfrm>
          <a:custGeom>
            <a:avLst/>
            <a:gdLst/>
            <a:ahLst/>
            <a:cxnLst/>
            <a:rect l="l" t="t" r="r" b="b"/>
            <a:pathLst>
              <a:path w="4582799" h="4582799">
                <a:moveTo>
                  <a:pt x="0" y="0"/>
                </a:moveTo>
                <a:lnTo>
                  <a:pt x="4582799" y="0"/>
                </a:lnTo>
                <a:lnTo>
                  <a:pt x="4582799" y="4582798"/>
                </a:lnTo>
                <a:lnTo>
                  <a:pt x="0" y="45827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7" name="AutoShape 37"/>
          <p:cNvSpPr/>
          <p:nvPr/>
        </p:nvSpPr>
        <p:spPr>
          <a:xfrm>
            <a:off x="9937047" y="5822524"/>
            <a:ext cx="548345" cy="0"/>
          </a:xfrm>
          <a:prstGeom prst="line">
            <a:avLst/>
          </a:prstGeom>
          <a:ln w="47625" cap="flat">
            <a:solidFill>
              <a:srgbClr val="FD6220"/>
            </a:solidFill>
            <a:prstDash val="solid"/>
            <a:headEnd type="none" w="sm" len="sm"/>
            <a:tailEnd type="none" w="sm" len="sm"/>
          </a:ln>
        </p:spPr>
      </p:sp>
      <p:sp>
        <p:nvSpPr>
          <p:cNvPr id="38" name="AutoShape 38"/>
          <p:cNvSpPr/>
          <p:nvPr/>
        </p:nvSpPr>
        <p:spPr>
          <a:xfrm>
            <a:off x="9274591" y="5822524"/>
            <a:ext cx="548345" cy="0"/>
          </a:xfrm>
          <a:prstGeom prst="line">
            <a:avLst/>
          </a:prstGeom>
          <a:ln w="47625" cap="flat">
            <a:solidFill>
              <a:srgbClr val="FD6220"/>
            </a:solidFill>
            <a:prstDash val="solid"/>
            <a:headEnd type="none" w="sm" len="sm"/>
            <a:tailEnd type="none" w="sm" len="sm"/>
          </a:ln>
        </p:spPr>
      </p:sp>
      <p:sp>
        <p:nvSpPr>
          <p:cNvPr id="39" name="AutoShape 39"/>
          <p:cNvSpPr/>
          <p:nvPr/>
        </p:nvSpPr>
        <p:spPr>
          <a:xfrm>
            <a:off x="10586067" y="5822524"/>
            <a:ext cx="548345" cy="0"/>
          </a:xfrm>
          <a:prstGeom prst="line">
            <a:avLst/>
          </a:prstGeom>
          <a:ln w="47625" cap="flat">
            <a:solidFill>
              <a:srgbClr val="FD6220"/>
            </a:solidFill>
            <a:prstDash val="solid"/>
            <a:headEnd type="none" w="sm" len="sm"/>
            <a:tailEnd type="none" w="sm" len="sm"/>
          </a:ln>
        </p:spPr>
      </p:sp>
      <p:grpSp>
        <p:nvGrpSpPr>
          <p:cNvPr id="40" name="Group 40"/>
          <p:cNvGrpSpPr/>
          <p:nvPr/>
        </p:nvGrpSpPr>
        <p:grpSpPr>
          <a:xfrm>
            <a:off x="2505452" y="2627826"/>
            <a:ext cx="556626" cy="556626"/>
            <a:chOff x="0" y="0"/>
            <a:chExt cx="155888" cy="155888"/>
          </a:xfrm>
        </p:grpSpPr>
        <p:sp>
          <p:nvSpPr>
            <p:cNvPr id="41" name="Freeform 41"/>
            <p:cNvSpPr/>
            <p:nvPr/>
          </p:nvSpPr>
          <p:spPr>
            <a:xfrm>
              <a:off x="0" y="0"/>
              <a:ext cx="155888" cy="155888"/>
            </a:xfrm>
            <a:custGeom>
              <a:avLst/>
              <a:gdLst/>
              <a:ahLst/>
              <a:cxnLst/>
              <a:rect l="l" t="t" r="r" b="b"/>
              <a:pathLst>
                <a:path w="155888" h="155888">
                  <a:moveTo>
                    <a:pt x="0" y="0"/>
                  </a:moveTo>
                  <a:lnTo>
                    <a:pt x="155888" y="0"/>
                  </a:lnTo>
                  <a:lnTo>
                    <a:pt x="155888" y="155888"/>
                  </a:lnTo>
                  <a:lnTo>
                    <a:pt x="0" y="155888"/>
                  </a:lnTo>
                  <a:close/>
                </a:path>
              </a:pathLst>
            </a:custGeom>
            <a:solidFill>
              <a:srgbClr val="FD6220"/>
            </a:solidFill>
          </p:spPr>
        </p:sp>
        <p:sp>
          <p:nvSpPr>
            <p:cNvPr id="42" name="TextBox 42"/>
            <p:cNvSpPr txBox="1"/>
            <p:nvPr/>
          </p:nvSpPr>
          <p:spPr>
            <a:xfrm>
              <a:off x="0" y="9525"/>
              <a:ext cx="155888" cy="146363"/>
            </a:xfrm>
            <a:prstGeom prst="rect">
              <a:avLst/>
            </a:prstGeom>
          </p:spPr>
          <p:txBody>
            <a:bodyPr lIns="45813" tIns="45813" rIns="45813" bIns="45813" rtlCol="0" anchor="ctr"/>
            <a:lstStyle/>
            <a:p>
              <a:pPr algn="ctr">
                <a:lnSpc>
                  <a:spcPts val="2160"/>
                </a:lnSpc>
              </a:pPr>
              <a:r>
                <a:rPr lang="en-US" sz="1800" b="1">
                  <a:solidFill>
                    <a:srgbClr val="FFFFFF"/>
                  </a:solidFill>
                  <a:latin typeface="Open Sans Bold"/>
                  <a:ea typeface="Open Sans Bold"/>
                  <a:cs typeface="Open Sans Bold"/>
                  <a:sym typeface="Open Sans Bold"/>
                </a:rPr>
                <a:t>1</a:t>
              </a:r>
            </a:p>
          </p:txBody>
        </p:sp>
      </p:grpSp>
      <p:grpSp>
        <p:nvGrpSpPr>
          <p:cNvPr id="43" name="Group 43"/>
          <p:cNvGrpSpPr/>
          <p:nvPr/>
        </p:nvGrpSpPr>
        <p:grpSpPr>
          <a:xfrm>
            <a:off x="17361831" y="2648112"/>
            <a:ext cx="556626" cy="556626"/>
            <a:chOff x="0" y="0"/>
            <a:chExt cx="155888" cy="155888"/>
          </a:xfrm>
        </p:grpSpPr>
        <p:sp>
          <p:nvSpPr>
            <p:cNvPr id="44" name="Freeform 44"/>
            <p:cNvSpPr/>
            <p:nvPr/>
          </p:nvSpPr>
          <p:spPr>
            <a:xfrm>
              <a:off x="0" y="0"/>
              <a:ext cx="155888" cy="155888"/>
            </a:xfrm>
            <a:custGeom>
              <a:avLst/>
              <a:gdLst/>
              <a:ahLst/>
              <a:cxnLst/>
              <a:rect l="l" t="t" r="r" b="b"/>
              <a:pathLst>
                <a:path w="155888" h="155888">
                  <a:moveTo>
                    <a:pt x="0" y="0"/>
                  </a:moveTo>
                  <a:lnTo>
                    <a:pt x="155888" y="0"/>
                  </a:lnTo>
                  <a:lnTo>
                    <a:pt x="155888" y="155888"/>
                  </a:lnTo>
                  <a:lnTo>
                    <a:pt x="0" y="155888"/>
                  </a:lnTo>
                  <a:close/>
                </a:path>
              </a:pathLst>
            </a:custGeom>
            <a:solidFill>
              <a:srgbClr val="FD6220"/>
            </a:solidFill>
          </p:spPr>
        </p:sp>
        <p:sp>
          <p:nvSpPr>
            <p:cNvPr id="45" name="TextBox 45"/>
            <p:cNvSpPr txBox="1"/>
            <p:nvPr/>
          </p:nvSpPr>
          <p:spPr>
            <a:xfrm>
              <a:off x="0" y="9525"/>
              <a:ext cx="155888" cy="146363"/>
            </a:xfrm>
            <a:prstGeom prst="rect">
              <a:avLst/>
            </a:prstGeom>
          </p:spPr>
          <p:txBody>
            <a:bodyPr lIns="45813" tIns="45813" rIns="45813" bIns="45813" rtlCol="0" anchor="ctr"/>
            <a:lstStyle/>
            <a:p>
              <a:pPr algn="ctr">
                <a:lnSpc>
                  <a:spcPts val="2160"/>
                </a:lnSpc>
              </a:pPr>
              <a:r>
                <a:rPr lang="en-US" sz="1800" b="1">
                  <a:solidFill>
                    <a:srgbClr val="FFFFFF"/>
                  </a:solidFill>
                  <a:latin typeface="Open Sans Bold"/>
                  <a:ea typeface="Open Sans Bold"/>
                  <a:cs typeface="Open Sans Bold"/>
                  <a:sym typeface="Open Sans Bold"/>
                </a:rPr>
                <a:t>4</a:t>
              </a:r>
            </a:p>
          </p:txBody>
        </p:sp>
      </p:grpSp>
      <p:grpSp>
        <p:nvGrpSpPr>
          <p:cNvPr id="46" name="Group 46"/>
          <p:cNvGrpSpPr/>
          <p:nvPr/>
        </p:nvGrpSpPr>
        <p:grpSpPr>
          <a:xfrm>
            <a:off x="2505452" y="4865187"/>
            <a:ext cx="556626" cy="556626"/>
            <a:chOff x="0" y="0"/>
            <a:chExt cx="155888" cy="155888"/>
          </a:xfrm>
        </p:grpSpPr>
        <p:sp>
          <p:nvSpPr>
            <p:cNvPr id="47" name="Freeform 47"/>
            <p:cNvSpPr/>
            <p:nvPr/>
          </p:nvSpPr>
          <p:spPr>
            <a:xfrm>
              <a:off x="0" y="0"/>
              <a:ext cx="155888" cy="155888"/>
            </a:xfrm>
            <a:custGeom>
              <a:avLst/>
              <a:gdLst/>
              <a:ahLst/>
              <a:cxnLst/>
              <a:rect l="l" t="t" r="r" b="b"/>
              <a:pathLst>
                <a:path w="155888" h="155888">
                  <a:moveTo>
                    <a:pt x="0" y="0"/>
                  </a:moveTo>
                  <a:lnTo>
                    <a:pt x="155888" y="0"/>
                  </a:lnTo>
                  <a:lnTo>
                    <a:pt x="155888" y="155888"/>
                  </a:lnTo>
                  <a:lnTo>
                    <a:pt x="0" y="155888"/>
                  </a:lnTo>
                  <a:close/>
                </a:path>
              </a:pathLst>
            </a:custGeom>
            <a:solidFill>
              <a:srgbClr val="FD6220"/>
            </a:solidFill>
          </p:spPr>
        </p:sp>
        <p:sp>
          <p:nvSpPr>
            <p:cNvPr id="48" name="TextBox 48"/>
            <p:cNvSpPr txBox="1"/>
            <p:nvPr/>
          </p:nvSpPr>
          <p:spPr>
            <a:xfrm>
              <a:off x="0" y="9525"/>
              <a:ext cx="155888" cy="146363"/>
            </a:xfrm>
            <a:prstGeom prst="rect">
              <a:avLst/>
            </a:prstGeom>
          </p:spPr>
          <p:txBody>
            <a:bodyPr lIns="45813" tIns="45813" rIns="45813" bIns="45813" rtlCol="0" anchor="ctr"/>
            <a:lstStyle/>
            <a:p>
              <a:pPr algn="ctr">
                <a:lnSpc>
                  <a:spcPts val="2160"/>
                </a:lnSpc>
              </a:pPr>
              <a:r>
                <a:rPr lang="en-US" sz="1800" b="1">
                  <a:solidFill>
                    <a:srgbClr val="FFFFFF"/>
                  </a:solidFill>
                  <a:latin typeface="Open Sans Bold"/>
                  <a:ea typeface="Open Sans Bold"/>
                  <a:cs typeface="Open Sans Bold"/>
                  <a:sym typeface="Open Sans Bold"/>
                </a:rPr>
                <a:t>2</a:t>
              </a:r>
            </a:p>
          </p:txBody>
        </p:sp>
      </p:grpSp>
      <p:grpSp>
        <p:nvGrpSpPr>
          <p:cNvPr id="49" name="Group 49"/>
          <p:cNvGrpSpPr/>
          <p:nvPr/>
        </p:nvGrpSpPr>
        <p:grpSpPr>
          <a:xfrm>
            <a:off x="17361831" y="4809336"/>
            <a:ext cx="556626" cy="556626"/>
            <a:chOff x="0" y="0"/>
            <a:chExt cx="155888" cy="155888"/>
          </a:xfrm>
        </p:grpSpPr>
        <p:sp>
          <p:nvSpPr>
            <p:cNvPr id="50" name="Freeform 50"/>
            <p:cNvSpPr/>
            <p:nvPr/>
          </p:nvSpPr>
          <p:spPr>
            <a:xfrm>
              <a:off x="0" y="0"/>
              <a:ext cx="155888" cy="155888"/>
            </a:xfrm>
            <a:custGeom>
              <a:avLst/>
              <a:gdLst/>
              <a:ahLst/>
              <a:cxnLst/>
              <a:rect l="l" t="t" r="r" b="b"/>
              <a:pathLst>
                <a:path w="155888" h="155888">
                  <a:moveTo>
                    <a:pt x="0" y="0"/>
                  </a:moveTo>
                  <a:lnTo>
                    <a:pt x="155888" y="0"/>
                  </a:lnTo>
                  <a:lnTo>
                    <a:pt x="155888" y="155888"/>
                  </a:lnTo>
                  <a:lnTo>
                    <a:pt x="0" y="155888"/>
                  </a:lnTo>
                  <a:close/>
                </a:path>
              </a:pathLst>
            </a:custGeom>
            <a:solidFill>
              <a:srgbClr val="FD6220"/>
            </a:solidFill>
          </p:spPr>
        </p:sp>
        <p:sp>
          <p:nvSpPr>
            <p:cNvPr id="51" name="TextBox 51"/>
            <p:cNvSpPr txBox="1"/>
            <p:nvPr/>
          </p:nvSpPr>
          <p:spPr>
            <a:xfrm>
              <a:off x="0" y="9525"/>
              <a:ext cx="155888" cy="146363"/>
            </a:xfrm>
            <a:prstGeom prst="rect">
              <a:avLst/>
            </a:prstGeom>
          </p:spPr>
          <p:txBody>
            <a:bodyPr lIns="45813" tIns="45813" rIns="45813" bIns="45813" rtlCol="0" anchor="ctr"/>
            <a:lstStyle/>
            <a:p>
              <a:pPr algn="ctr">
                <a:lnSpc>
                  <a:spcPts val="2160"/>
                </a:lnSpc>
              </a:pPr>
              <a:r>
                <a:rPr lang="en-US" sz="1800" b="1">
                  <a:solidFill>
                    <a:srgbClr val="FFFFFF"/>
                  </a:solidFill>
                  <a:latin typeface="Open Sans Bold"/>
                  <a:ea typeface="Open Sans Bold"/>
                  <a:cs typeface="Open Sans Bold"/>
                  <a:sym typeface="Open Sans Bold"/>
                </a:rPr>
                <a:t>5</a:t>
              </a:r>
            </a:p>
          </p:txBody>
        </p:sp>
      </p:grpSp>
      <p:grpSp>
        <p:nvGrpSpPr>
          <p:cNvPr id="52" name="Group 52"/>
          <p:cNvGrpSpPr/>
          <p:nvPr/>
        </p:nvGrpSpPr>
        <p:grpSpPr>
          <a:xfrm>
            <a:off x="2505452" y="7006938"/>
            <a:ext cx="556626" cy="556626"/>
            <a:chOff x="0" y="0"/>
            <a:chExt cx="155888" cy="155888"/>
          </a:xfrm>
        </p:grpSpPr>
        <p:sp>
          <p:nvSpPr>
            <p:cNvPr id="53" name="Freeform 53"/>
            <p:cNvSpPr/>
            <p:nvPr/>
          </p:nvSpPr>
          <p:spPr>
            <a:xfrm>
              <a:off x="0" y="0"/>
              <a:ext cx="155888" cy="155888"/>
            </a:xfrm>
            <a:custGeom>
              <a:avLst/>
              <a:gdLst/>
              <a:ahLst/>
              <a:cxnLst/>
              <a:rect l="l" t="t" r="r" b="b"/>
              <a:pathLst>
                <a:path w="155888" h="155888">
                  <a:moveTo>
                    <a:pt x="0" y="0"/>
                  </a:moveTo>
                  <a:lnTo>
                    <a:pt x="155888" y="0"/>
                  </a:lnTo>
                  <a:lnTo>
                    <a:pt x="155888" y="155888"/>
                  </a:lnTo>
                  <a:lnTo>
                    <a:pt x="0" y="155888"/>
                  </a:lnTo>
                  <a:close/>
                </a:path>
              </a:pathLst>
            </a:custGeom>
            <a:solidFill>
              <a:srgbClr val="FD6220"/>
            </a:solidFill>
          </p:spPr>
        </p:sp>
        <p:sp>
          <p:nvSpPr>
            <p:cNvPr id="54" name="TextBox 54"/>
            <p:cNvSpPr txBox="1"/>
            <p:nvPr/>
          </p:nvSpPr>
          <p:spPr>
            <a:xfrm>
              <a:off x="0" y="9525"/>
              <a:ext cx="155888" cy="146363"/>
            </a:xfrm>
            <a:prstGeom prst="rect">
              <a:avLst/>
            </a:prstGeom>
          </p:spPr>
          <p:txBody>
            <a:bodyPr lIns="45813" tIns="45813" rIns="45813" bIns="45813" rtlCol="0" anchor="ctr"/>
            <a:lstStyle/>
            <a:p>
              <a:pPr algn="ctr">
                <a:lnSpc>
                  <a:spcPts val="2160"/>
                </a:lnSpc>
              </a:pPr>
              <a:r>
                <a:rPr lang="en-US" sz="1800" b="1">
                  <a:solidFill>
                    <a:srgbClr val="FFFFFF"/>
                  </a:solidFill>
                  <a:latin typeface="Open Sans Bold"/>
                  <a:ea typeface="Open Sans Bold"/>
                  <a:cs typeface="Open Sans Bold"/>
                  <a:sym typeface="Open Sans Bold"/>
                </a:rPr>
                <a:t>3</a:t>
              </a:r>
            </a:p>
          </p:txBody>
        </p:sp>
      </p:grpSp>
      <p:grpSp>
        <p:nvGrpSpPr>
          <p:cNvPr id="55" name="Group 55"/>
          <p:cNvGrpSpPr/>
          <p:nvPr/>
        </p:nvGrpSpPr>
        <p:grpSpPr>
          <a:xfrm>
            <a:off x="17361831" y="6988635"/>
            <a:ext cx="556626" cy="556626"/>
            <a:chOff x="0" y="0"/>
            <a:chExt cx="155888" cy="155888"/>
          </a:xfrm>
        </p:grpSpPr>
        <p:sp>
          <p:nvSpPr>
            <p:cNvPr id="56" name="Freeform 56"/>
            <p:cNvSpPr/>
            <p:nvPr/>
          </p:nvSpPr>
          <p:spPr>
            <a:xfrm>
              <a:off x="0" y="0"/>
              <a:ext cx="155888" cy="155888"/>
            </a:xfrm>
            <a:custGeom>
              <a:avLst/>
              <a:gdLst/>
              <a:ahLst/>
              <a:cxnLst/>
              <a:rect l="l" t="t" r="r" b="b"/>
              <a:pathLst>
                <a:path w="155888" h="155888">
                  <a:moveTo>
                    <a:pt x="0" y="0"/>
                  </a:moveTo>
                  <a:lnTo>
                    <a:pt x="155888" y="0"/>
                  </a:lnTo>
                  <a:lnTo>
                    <a:pt x="155888" y="155888"/>
                  </a:lnTo>
                  <a:lnTo>
                    <a:pt x="0" y="155888"/>
                  </a:lnTo>
                  <a:close/>
                </a:path>
              </a:pathLst>
            </a:custGeom>
            <a:solidFill>
              <a:srgbClr val="FD6220"/>
            </a:solidFill>
          </p:spPr>
        </p:sp>
        <p:sp>
          <p:nvSpPr>
            <p:cNvPr id="57" name="TextBox 57"/>
            <p:cNvSpPr txBox="1"/>
            <p:nvPr/>
          </p:nvSpPr>
          <p:spPr>
            <a:xfrm>
              <a:off x="0" y="9525"/>
              <a:ext cx="155888" cy="146363"/>
            </a:xfrm>
            <a:prstGeom prst="rect">
              <a:avLst/>
            </a:prstGeom>
          </p:spPr>
          <p:txBody>
            <a:bodyPr lIns="45813" tIns="45813" rIns="45813" bIns="45813" rtlCol="0" anchor="ctr"/>
            <a:lstStyle/>
            <a:p>
              <a:pPr algn="ctr">
                <a:lnSpc>
                  <a:spcPts val="2160"/>
                </a:lnSpc>
              </a:pPr>
              <a:r>
                <a:rPr lang="en-US" sz="1800" b="1">
                  <a:solidFill>
                    <a:srgbClr val="FFFFFF"/>
                  </a:solidFill>
                  <a:latin typeface="Open Sans Bold"/>
                  <a:ea typeface="Open Sans Bold"/>
                  <a:cs typeface="Open Sans Bold"/>
                  <a:sym typeface="Open Sans Bold"/>
                </a:rPr>
                <a:t>6</a:t>
              </a:r>
            </a:p>
          </p:txBody>
        </p:sp>
      </p:grpSp>
      <p:sp>
        <p:nvSpPr>
          <p:cNvPr id="58" name="Freeform 58"/>
          <p:cNvSpPr/>
          <p:nvPr/>
        </p:nvSpPr>
        <p:spPr>
          <a:xfrm>
            <a:off x="6880265" y="3204738"/>
            <a:ext cx="710249" cy="710249"/>
          </a:xfrm>
          <a:custGeom>
            <a:avLst/>
            <a:gdLst/>
            <a:ahLst/>
            <a:cxnLst/>
            <a:rect l="l" t="t" r="r" b="b"/>
            <a:pathLst>
              <a:path w="710249" h="710249">
                <a:moveTo>
                  <a:pt x="0" y="0"/>
                </a:moveTo>
                <a:lnTo>
                  <a:pt x="710249" y="0"/>
                </a:lnTo>
                <a:lnTo>
                  <a:pt x="710249" y="710249"/>
                </a:lnTo>
                <a:lnTo>
                  <a:pt x="0" y="71024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9" name="Freeform 59"/>
          <p:cNvSpPr/>
          <p:nvPr/>
        </p:nvSpPr>
        <p:spPr>
          <a:xfrm>
            <a:off x="6880265" y="7232073"/>
            <a:ext cx="800676" cy="800676"/>
          </a:xfrm>
          <a:custGeom>
            <a:avLst/>
            <a:gdLst/>
            <a:ahLst/>
            <a:cxnLst/>
            <a:rect l="l" t="t" r="r" b="b"/>
            <a:pathLst>
              <a:path w="800676" h="800676">
                <a:moveTo>
                  <a:pt x="0" y="0"/>
                </a:moveTo>
                <a:lnTo>
                  <a:pt x="800676" y="0"/>
                </a:lnTo>
                <a:lnTo>
                  <a:pt x="800676" y="800676"/>
                </a:lnTo>
                <a:lnTo>
                  <a:pt x="0" y="800676"/>
                </a:lnTo>
                <a:lnTo>
                  <a:pt x="0" y="0"/>
                </a:lnTo>
                <a:close/>
              </a:path>
            </a:pathLst>
          </a:custGeom>
          <a:blipFill>
            <a:blip r:embed="rId10"/>
            <a:stretch>
              <a:fillRect/>
            </a:stretch>
          </a:blipFill>
        </p:spPr>
      </p:sp>
      <p:sp>
        <p:nvSpPr>
          <p:cNvPr id="60" name="Freeform 60"/>
          <p:cNvSpPr/>
          <p:nvPr/>
        </p:nvSpPr>
        <p:spPr>
          <a:xfrm>
            <a:off x="12741499" y="3125891"/>
            <a:ext cx="867942" cy="867942"/>
          </a:xfrm>
          <a:custGeom>
            <a:avLst/>
            <a:gdLst/>
            <a:ahLst/>
            <a:cxnLst/>
            <a:rect l="l" t="t" r="r" b="b"/>
            <a:pathLst>
              <a:path w="867942" h="867942">
                <a:moveTo>
                  <a:pt x="0" y="0"/>
                </a:moveTo>
                <a:lnTo>
                  <a:pt x="867941" y="0"/>
                </a:lnTo>
                <a:lnTo>
                  <a:pt x="867941" y="867942"/>
                </a:lnTo>
                <a:lnTo>
                  <a:pt x="0" y="867942"/>
                </a:lnTo>
                <a:lnTo>
                  <a:pt x="0" y="0"/>
                </a:lnTo>
                <a:close/>
              </a:path>
            </a:pathLst>
          </a:custGeom>
          <a:blipFill>
            <a:blip r:embed="rId11"/>
            <a:stretch>
              <a:fillRect/>
            </a:stretch>
          </a:blipFill>
        </p:spPr>
      </p:sp>
      <p:sp>
        <p:nvSpPr>
          <p:cNvPr id="61" name="Freeform 61"/>
          <p:cNvSpPr/>
          <p:nvPr/>
        </p:nvSpPr>
        <p:spPr>
          <a:xfrm>
            <a:off x="12741499" y="7093216"/>
            <a:ext cx="980421" cy="980421"/>
          </a:xfrm>
          <a:custGeom>
            <a:avLst/>
            <a:gdLst/>
            <a:ahLst/>
            <a:cxnLst/>
            <a:rect l="l" t="t" r="r" b="b"/>
            <a:pathLst>
              <a:path w="980421" h="980421">
                <a:moveTo>
                  <a:pt x="0" y="0"/>
                </a:moveTo>
                <a:lnTo>
                  <a:pt x="980421" y="0"/>
                </a:lnTo>
                <a:lnTo>
                  <a:pt x="980421" y="980420"/>
                </a:lnTo>
                <a:lnTo>
                  <a:pt x="0" y="980420"/>
                </a:lnTo>
                <a:lnTo>
                  <a:pt x="0" y="0"/>
                </a:lnTo>
                <a:close/>
              </a:path>
            </a:pathLst>
          </a:custGeom>
          <a:blipFill>
            <a:blip r:embed="rId12"/>
            <a:stretch>
              <a:fillRect/>
            </a:stretch>
          </a:blipFill>
        </p:spPr>
      </p:sp>
      <p:sp>
        <p:nvSpPr>
          <p:cNvPr id="62" name="Freeform 62"/>
          <p:cNvSpPr/>
          <p:nvPr/>
        </p:nvSpPr>
        <p:spPr>
          <a:xfrm>
            <a:off x="13276873" y="5081387"/>
            <a:ext cx="1075140" cy="1075140"/>
          </a:xfrm>
          <a:custGeom>
            <a:avLst/>
            <a:gdLst/>
            <a:ahLst/>
            <a:cxnLst/>
            <a:rect l="l" t="t" r="r" b="b"/>
            <a:pathLst>
              <a:path w="1075140" h="1075140">
                <a:moveTo>
                  <a:pt x="0" y="0"/>
                </a:moveTo>
                <a:lnTo>
                  <a:pt x="1075140" y="0"/>
                </a:lnTo>
                <a:lnTo>
                  <a:pt x="1075140" y="1075140"/>
                </a:lnTo>
                <a:lnTo>
                  <a:pt x="0" y="1075140"/>
                </a:lnTo>
                <a:lnTo>
                  <a:pt x="0" y="0"/>
                </a:lnTo>
                <a:close/>
              </a:path>
            </a:pathLst>
          </a:custGeom>
          <a:blipFill>
            <a:blip r:embed="rId13"/>
            <a:stretch>
              <a:fillRect/>
            </a:stretch>
          </a:blipFill>
        </p:spPr>
      </p:sp>
      <p:sp>
        <p:nvSpPr>
          <p:cNvPr id="63" name="Freeform 63"/>
          <p:cNvSpPr/>
          <p:nvPr/>
        </p:nvSpPr>
        <p:spPr>
          <a:xfrm>
            <a:off x="6141899" y="5081387"/>
            <a:ext cx="980421" cy="980421"/>
          </a:xfrm>
          <a:custGeom>
            <a:avLst/>
            <a:gdLst/>
            <a:ahLst/>
            <a:cxnLst/>
            <a:rect l="l" t="t" r="r" b="b"/>
            <a:pathLst>
              <a:path w="980421" h="980421">
                <a:moveTo>
                  <a:pt x="0" y="0"/>
                </a:moveTo>
                <a:lnTo>
                  <a:pt x="980420" y="0"/>
                </a:lnTo>
                <a:lnTo>
                  <a:pt x="980420" y="980421"/>
                </a:lnTo>
                <a:lnTo>
                  <a:pt x="0" y="980421"/>
                </a:lnTo>
                <a:lnTo>
                  <a:pt x="0" y="0"/>
                </a:lnTo>
                <a:close/>
              </a:path>
            </a:pathLst>
          </a:custGeom>
          <a:blipFill>
            <a:blip r:embed="rId14"/>
            <a:stretch>
              <a:fillRect/>
            </a:stretch>
          </a:blipFill>
        </p:spPr>
      </p:sp>
      <p:sp>
        <p:nvSpPr>
          <p:cNvPr id="64" name="TextBox 64"/>
          <p:cNvSpPr txBox="1"/>
          <p:nvPr/>
        </p:nvSpPr>
        <p:spPr>
          <a:xfrm>
            <a:off x="1266945" y="154306"/>
            <a:ext cx="7388014" cy="795020"/>
          </a:xfrm>
          <a:prstGeom prst="rect">
            <a:avLst/>
          </a:prstGeom>
        </p:spPr>
        <p:txBody>
          <a:bodyPr lIns="0" tIns="0" rIns="0" bIns="0" rtlCol="0" anchor="t">
            <a:spAutoFit/>
          </a:bodyPr>
          <a:lstStyle/>
          <a:p>
            <a:pPr algn="l">
              <a:lnSpc>
                <a:spcPts val="6580"/>
              </a:lnSpc>
            </a:pPr>
            <a:r>
              <a:rPr lang="en-US" sz="4700" b="1">
                <a:solidFill>
                  <a:srgbClr val="191919"/>
                </a:solidFill>
                <a:latin typeface="Gotham Bold"/>
                <a:ea typeface="Gotham Bold"/>
                <a:cs typeface="Gotham Bold"/>
                <a:sym typeface="Gotham Bold"/>
              </a:rPr>
              <a:t>ABOUT NETFLIX</a:t>
            </a:r>
          </a:p>
        </p:txBody>
      </p:sp>
      <p:sp>
        <p:nvSpPr>
          <p:cNvPr id="65" name="TextBox 65"/>
          <p:cNvSpPr txBox="1"/>
          <p:nvPr/>
        </p:nvSpPr>
        <p:spPr>
          <a:xfrm>
            <a:off x="8268731" y="5174335"/>
            <a:ext cx="3827042" cy="477587"/>
          </a:xfrm>
          <a:prstGeom prst="rect">
            <a:avLst/>
          </a:prstGeom>
        </p:spPr>
        <p:txBody>
          <a:bodyPr lIns="0" tIns="0" rIns="0" bIns="0" rtlCol="0" anchor="t">
            <a:spAutoFit/>
          </a:bodyPr>
          <a:lstStyle/>
          <a:p>
            <a:pPr algn="ctr">
              <a:lnSpc>
                <a:spcPts val="3949"/>
              </a:lnSpc>
              <a:spcBef>
                <a:spcPct val="0"/>
              </a:spcBef>
            </a:pPr>
            <a:r>
              <a:rPr lang="en-US" sz="2821" b="1">
                <a:solidFill>
                  <a:srgbClr val="000000"/>
                </a:solidFill>
                <a:latin typeface="Montserrat Bold"/>
                <a:ea typeface="Montserrat Bold"/>
                <a:cs typeface="Montserrat Bold"/>
                <a:sym typeface="Montserrat Bold"/>
              </a:rPr>
              <a:t>NETFLIX</a:t>
            </a:r>
          </a:p>
        </p:txBody>
      </p:sp>
      <p:sp>
        <p:nvSpPr>
          <p:cNvPr id="66" name="TextBox 66"/>
          <p:cNvSpPr txBox="1"/>
          <p:nvPr/>
        </p:nvSpPr>
        <p:spPr>
          <a:xfrm>
            <a:off x="3279684" y="2770421"/>
            <a:ext cx="2418540" cy="250812"/>
          </a:xfrm>
          <a:prstGeom prst="rect">
            <a:avLst/>
          </a:prstGeom>
        </p:spPr>
        <p:txBody>
          <a:bodyPr lIns="0" tIns="0" rIns="0" bIns="0" rtlCol="0" anchor="t">
            <a:spAutoFit/>
          </a:bodyPr>
          <a:lstStyle/>
          <a:p>
            <a:pPr algn="l">
              <a:lnSpc>
                <a:spcPts val="2031"/>
              </a:lnSpc>
            </a:pPr>
            <a:r>
              <a:rPr lang="en-US" sz="1692" b="1">
                <a:solidFill>
                  <a:srgbClr val="000000"/>
                </a:solidFill>
                <a:latin typeface="Open Sans Bold"/>
                <a:ea typeface="Open Sans Bold"/>
                <a:cs typeface="Open Sans Bold"/>
                <a:sym typeface="Open Sans Bold"/>
              </a:rPr>
              <a:t>Global Expansion</a:t>
            </a:r>
          </a:p>
        </p:txBody>
      </p:sp>
      <p:sp>
        <p:nvSpPr>
          <p:cNvPr id="67" name="TextBox 67"/>
          <p:cNvSpPr txBox="1"/>
          <p:nvPr/>
        </p:nvSpPr>
        <p:spPr>
          <a:xfrm>
            <a:off x="3279684" y="3233529"/>
            <a:ext cx="2418540" cy="1029431"/>
          </a:xfrm>
          <a:prstGeom prst="rect">
            <a:avLst/>
          </a:prstGeom>
        </p:spPr>
        <p:txBody>
          <a:bodyPr lIns="0" tIns="0" rIns="0" bIns="0" rtlCol="0" anchor="t">
            <a:spAutoFit/>
          </a:bodyPr>
          <a:lstStyle/>
          <a:p>
            <a:pPr algn="l">
              <a:lnSpc>
                <a:spcPts val="2106"/>
              </a:lnSpc>
              <a:spcBef>
                <a:spcPct val="0"/>
              </a:spcBef>
            </a:pPr>
            <a:r>
              <a:rPr lang="en-US" sz="1504">
                <a:solidFill>
                  <a:srgbClr val="000000"/>
                </a:solidFill>
                <a:latin typeface="Open Sans"/>
                <a:ea typeface="Open Sans"/>
                <a:cs typeface="Open Sans"/>
                <a:sym typeface="Open Sans"/>
              </a:rPr>
              <a:t>Netflix operates in 190+ countries with a strong focus on international markets.</a:t>
            </a:r>
          </a:p>
        </p:txBody>
      </p:sp>
      <p:sp>
        <p:nvSpPr>
          <p:cNvPr id="68" name="TextBox 68"/>
          <p:cNvSpPr txBox="1"/>
          <p:nvPr/>
        </p:nvSpPr>
        <p:spPr>
          <a:xfrm>
            <a:off x="14738023" y="2770421"/>
            <a:ext cx="2418540" cy="250812"/>
          </a:xfrm>
          <a:prstGeom prst="rect">
            <a:avLst/>
          </a:prstGeom>
        </p:spPr>
        <p:txBody>
          <a:bodyPr lIns="0" tIns="0" rIns="0" bIns="0" rtlCol="0" anchor="t">
            <a:spAutoFit/>
          </a:bodyPr>
          <a:lstStyle/>
          <a:p>
            <a:pPr algn="r">
              <a:lnSpc>
                <a:spcPts val="2031"/>
              </a:lnSpc>
            </a:pPr>
            <a:r>
              <a:rPr lang="en-US" sz="1692" b="1">
                <a:solidFill>
                  <a:srgbClr val="000000"/>
                </a:solidFill>
                <a:latin typeface="Open Sans Bold"/>
                <a:ea typeface="Open Sans Bold"/>
                <a:cs typeface="Open Sans Bold"/>
                <a:sym typeface="Open Sans Bold"/>
              </a:rPr>
              <a:t>Localization Strategy</a:t>
            </a:r>
          </a:p>
        </p:txBody>
      </p:sp>
      <p:sp>
        <p:nvSpPr>
          <p:cNvPr id="69" name="TextBox 69"/>
          <p:cNvSpPr txBox="1"/>
          <p:nvPr/>
        </p:nvSpPr>
        <p:spPr>
          <a:xfrm>
            <a:off x="14938656" y="3176163"/>
            <a:ext cx="2418540" cy="1057155"/>
          </a:xfrm>
          <a:prstGeom prst="rect">
            <a:avLst/>
          </a:prstGeom>
        </p:spPr>
        <p:txBody>
          <a:bodyPr lIns="0" tIns="0" rIns="0" bIns="0" rtlCol="0" anchor="t">
            <a:spAutoFit/>
          </a:bodyPr>
          <a:lstStyle/>
          <a:p>
            <a:pPr algn="l">
              <a:lnSpc>
                <a:spcPts val="2106"/>
              </a:lnSpc>
              <a:spcBef>
                <a:spcPct val="0"/>
              </a:spcBef>
            </a:pPr>
            <a:r>
              <a:rPr lang="en-US" sz="1504">
                <a:solidFill>
                  <a:srgbClr val="000000"/>
                </a:solidFill>
                <a:latin typeface="Open Sans"/>
                <a:ea typeface="Open Sans"/>
                <a:cs typeface="Open Sans"/>
                <a:sym typeface="Open Sans"/>
              </a:rPr>
              <a:t>Produces regional content in local languages to appeal to diverse audiences.</a:t>
            </a:r>
          </a:p>
        </p:txBody>
      </p:sp>
      <p:sp>
        <p:nvSpPr>
          <p:cNvPr id="70" name="TextBox 70"/>
          <p:cNvSpPr txBox="1"/>
          <p:nvPr/>
        </p:nvSpPr>
        <p:spPr>
          <a:xfrm>
            <a:off x="3279684" y="4955982"/>
            <a:ext cx="2418540" cy="250812"/>
          </a:xfrm>
          <a:prstGeom prst="rect">
            <a:avLst/>
          </a:prstGeom>
        </p:spPr>
        <p:txBody>
          <a:bodyPr lIns="0" tIns="0" rIns="0" bIns="0" rtlCol="0" anchor="t">
            <a:spAutoFit/>
          </a:bodyPr>
          <a:lstStyle/>
          <a:p>
            <a:pPr algn="l">
              <a:lnSpc>
                <a:spcPts val="2031"/>
              </a:lnSpc>
            </a:pPr>
            <a:r>
              <a:rPr lang="en-US" sz="1692" b="1">
                <a:solidFill>
                  <a:srgbClr val="000000"/>
                </a:solidFill>
                <a:latin typeface="Open Sans Bold"/>
                <a:ea typeface="Open Sans Bold"/>
                <a:cs typeface="Open Sans Bold"/>
                <a:sym typeface="Open Sans Bold"/>
              </a:rPr>
              <a:t>Original Content</a:t>
            </a:r>
          </a:p>
        </p:txBody>
      </p:sp>
      <p:sp>
        <p:nvSpPr>
          <p:cNvPr id="71" name="TextBox 71"/>
          <p:cNvSpPr txBox="1"/>
          <p:nvPr/>
        </p:nvSpPr>
        <p:spPr>
          <a:xfrm>
            <a:off x="3309723" y="5358297"/>
            <a:ext cx="2418540" cy="1029431"/>
          </a:xfrm>
          <a:prstGeom prst="rect">
            <a:avLst/>
          </a:prstGeom>
        </p:spPr>
        <p:txBody>
          <a:bodyPr lIns="0" tIns="0" rIns="0" bIns="0" rtlCol="0" anchor="t">
            <a:spAutoFit/>
          </a:bodyPr>
          <a:lstStyle/>
          <a:p>
            <a:pPr algn="l">
              <a:lnSpc>
                <a:spcPts val="2106"/>
              </a:lnSpc>
              <a:spcBef>
                <a:spcPct val="0"/>
              </a:spcBef>
            </a:pPr>
            <a:r>
              <a:rPr lang="en-US" sz="1504">
                <a:solidFill>
                  <a:srgbClr val="000000"/>
                </a:solidFill>
                <a:latin typeface="Open Sans"/>
                <a:ea typeface="Open Sans"/>
                <a:cs typeface="Open Sans"/>
                <a:sym typeface="Open Sans"/>
              </a:rPr>
              <a:t>Heavy investment in Netflix Originals to differentiate from competitors</a:t>
            </a:r>
          </a:p>
        </p:txBody>
      </p:sp>
      <p:sp>
        <p:nvSpPr>
          <p:cNvPr id="72" name="TextBox 72"/>
          <p:cNvSpPr txBox="1"/>
          <p:nvPr/>
        </p:nvSpPr>
        <p:spPr>
          <a:xfrm>
            <a:off x="14818007" y="4955982"/>
            <a:ext cx="2418540" cy="250812"/>
          </a:xfrm>
          <a:prstGeom prst="rect">
            <a:avLst/>
          </a:prstGeom>
        </p:spPr>
        <p:txBody>
          <a:bodyPr lIns="0" tIns="0" rIns="0" bIns="0" rtlCol="0" anchor="t">
            <a:spAutoFit/>
          </a:bodyPr>
          <a:lstStyle/>
          <a:p>
            <a:pPr algn="r">
              <a:lnSpc>
                <a:spcPts val="2031"/>
              </a:lnSpc>
            </a:pPr>
            <a:r>
              <a:rPr lang="en-US" sz="1692" b="1">
                <a:solidFill>
                  <a:srgbClr val="000000"/>
                </a:solidFill>
                <a:latin typeface="Open Sans Bold"/>
                <a:ea typeface="Open Sans Bold"/>
                <a:cs typeface="Open Sans Bold"/>
                <a:sym typeface="Open Sans Bold"/>
              </a:rPr>
              <a:t>Subscription Model</a:t>
            </a:r>
          </a:p>
        </p:txBody>
      </p:sp>
      <p:sp>
        <p:nvSpPr>
          <p:cNvPr id="73" name="TextBox 73"/>
          <p:cNvSpPr txBox="1"/>
          <p:nvPr/>
        </p:nvSpPr>
        <p:spPr>
          <a:xfrm>
            <a:off x="15179957" y="5279659"/>
            <a:ext cx="2418540" cy="1057155"/>
          </a:xfrm>
          <a:prstGeom prst="rect">
            <a:avLst/>
          </a:prstGeom>
        </p:spPr>
        <p:txBody>
          <a:bodyPr lIns="0" tIns="0" rIns="0" bIns="0" rtlCol="0" anchor="t">
            <a:spAutoFit/>
          </a:bodyPr>
          <a:lstStyle/>
          <a:p>
            <a:pPr algn="l">
              <a:lnSpc>
                <a:spcPts val="2106"/>
              </a:lnSpc>
              <a:spcBef>
                <a:spcPct val="0"/>
              </a:spcBef>
            </a:pPr>
            <a:r>
              <a:rPr lang="en-US" sz="1504">
                <a:solidFill>
                  <a:srgbClr val="000000"/>
                </a:solidFill>
                <a:latin typeface="Open Sans"/>
                <a:ea typeface="Open Sans"/>
                <a:cs typeface="Open Sans"/>
                <a:sym typeface="Open Sans"/>
              </a:rPr>
              <a:t>Relies on a B2C subscription-based revenue model with tiered pricing.</a:t>
            </a:r>
          </a:p>
        </p:txBody>
      </p:sp>
      <p:sp>
        <p:nvSpPr>
          <p:cNvPr id="74" name="TextBox 74"/>
          <p:cNvSpPr txBox="1"/>
          <p:nvPr/>
        </p:nvSpPr>
        <p:spPr>
          <a:xfrm>
            <a:off x="3279684" y="7141542"/>
            <a:ext cx="2418540" cy="250812"/>
          </a:xfrm>
          <a:prstGeom prst="rect">
            <a:avLst/>
          </a:prstGeom>
        </p:spPr>
        <p:txBody>
          <a:bodyPr lIns="0" tIns="0" rIns="0" bIns="0" rtlCol="0" anchor="t">
            <a:spAutoFit/>
          </a:bodyPr>
          <a:lstStyle/>
          <a:p>
            <a:pPr algn="l">
              <a:lnSpc>
                <a:spcPts val="2031"/>
              </a:lnSpc>
            </a:pPr>
            <a:r>
              <a:rPr lang="en-US" sz="1692" b="1">
                <a:solidFill>
                  <a:srgbClr val="000000"/>
                </a:solidFill>
                <a:latin typeface="Open Sans Bold"/>
                <a:ea typeface="Open Sans Bold"/>
                <a:cs typeface="Open Sans Bold"/>
                <a:sym typeface="Open Sans Bold"/>
              </a:rPr>
              <a:t>Data-Driven Decisions</a:t>
            </a:r>
          </a:p>
        </p:txBody>
      </p:sp>
      <p:sp>
        <p:nvSpPr>
          <p:cNvPr id="75" name="TextBox 75"/>
          <p:cNvSpPr txBox="1"/>
          <p:nvPr/>
        </p:nvSpPr>
        <p:spPr>
          <a:xfrm>
            <a:off x="3309723" y="7534989"/>
            <a:ext cx="2418540" cy="769662"/>
          </a:xfrm>
          <a:prstGeom prst="rect">
            <a:avLst/>
          </a:prstGeom>
        </p:spPr>
        <p:txBody>
          <a:bodyPr lIns="0" tIns="0" rIns="0" bIns="0" rtlCol="0" anchor="t">
            <a:spAutoFit/>
          </a:bodyPr>
          <a:lstStyle/>
          <a:p>
            <a:pPr algn="l">
              <a:lnSpc>
                <a:spcPts val="2106"/>
              </a:lnSpc>
              <a:spcBef>
                <a:spcPct val="0"/>
              </a:spcBef>
            </a:pPr>
            <a:r>
              <a:rPr lang="en-US" sz="1504">
                <a:solidFill>
                  <a:srgbClr val="000000"/>
                </a:solidFill>
                <a:latin typeface="Open Sans"/>
                <a:ea typeface="Open Sans"/>
                <a:cs typeface="Open Sans"/>
                <a:sym typeface="Open Sans"/>
              </a:rPr>
              <a:t>Uses viewer data to guide content creation and recommendations</a:t>
            </a:r>
          </a:p>
        </p:txBody>
      </p:sp>
      <p:sp>
        <p:nvSpPr>
          <p:cNvPr id="76" name="TextBox 76"/>
          <p:cNvSpPr txBox="1"/>
          <p:nvPr/>
        </p:nvSpPr>
        <p:spPr>
          <a:xfrm>
            <a:off x="14818007" y="7159845"/>
            <a:ext cx="2418540" cy="250812"/>
          </a:xfrm>
          <a:prstGeom prst="rect">
            <a:avLst/>
          </a:prstGeom>
        </p:spPr>
        <p:txBody>
          <a:bodyPr lIns="0" tIns="0" rIns="0" bIns="0" rtlCol="0" anchor="t">
            <a:spAutoFit/>
          </a:bodyPr>
          <a:lstStyle/>
          <a:p>
            <a:pPr algn="r">
              <a:lnSpc>
                <a:spcPts val="2031"/>
              </a:lnSpc>
            </a:pPr>
            <a:r>
              <a:rPr lang="en-US" sz="1692" b="1">
                <a:solidFill>
                  <a:srgbClr val="000000"/>
                </a:solidFill>
                <a:latin typeface="Open Sans Bold"/>
                <a:ea typeface="Open Sans Bold"/>
                <a:cs typeface="Open Sans Bold"/>
                <a:sym typeface="Open Sans Bold"/>
              </a:rPr>
              <a:t>Mature Content Focus</a:t>
            </a:r>
          </a:p>
        </p:txBody>
      </p:sp>
      <p:sp>
        <p:nvSpPr>
          <p:cNvPr id="77" name="TextBox 77"/>
          <p:cNvSpPr txBox="1"/>
          <p:nvPr/>
        </p:nvSpPr>
        <p:spPr>
          <a:xfrm>
            <a:off x="14938656" y="7516685"/>
            <a:ext cx="2418540" cy="1057155"/>
          </a:xfrm>
          <a:prstGeom prst="rect">
            <a:avLst/>
          </a:prstGeom>
        </p:spPr>
        <p:txBody>
          <a:bodyPr lIns="0" tIns="0" rIns="0" bIns="0" rtlCol="0" anchor="t">
            <a:spAutoFit/>
          </a:bodyPr>
          <a:lstStyle/>
          <a:p>
            <a:pPr algn="l">
              <a:lnSpc>
                <a:spcPts val="2106"/>
              </a:lnSpc>
              <a:spcBef>
                <a:spcPct val="0"/>
              </a:spcBef>
            </a:pPr>
            <a:r>
              <a:rPr lang="en-US" sz="1504">
                <a:solidFill>
                  <a:srgbClr val="000000"/>
                </a:solidFill>
                <a:latin typeface="Open Sans"/>
                <a:ea typeface="Open Sans"/>
                <a:cs typeface="Open Sans"/>
                <a:sym typeface="Open Sans"/>
              </a:rPr>
              <a:t>Increasing emphasis on TV-MA and adult-oriented storytelling to attract global audiences.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1989493" y="-1314336"/>
            <a:ext cx="3499668" cy="13405540"/>
            <a:chOff x="0" y="0"/>
            <a:chExt cx="212191" cy="812800"/>
          </a:xfrm>
        </p:grpSpPr>
        <p:sp>
          <p:nvSpPr>
            <p:cNvPr id="3" name="Freeform 3"/>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9232C"/>
              </a:solidFill>
              <a:prstDash val="solid"/>
              <a:miter/>
            </a:ln>
          </p:spPr>
        </p:sp>
        <p:sp>
          <p:nvSpPr>
            <p:cNvPr id="4" name="TextBox 4"/>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2983" y="3317304"/>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8" name="Group 8"/>
          <p:cNvGrpSpPr/>
          <p:nvPr/>
        </p:nvGrpSpPr>
        <p:grpSpPr>
          <a:xfrm>
            <a:off x="335135" y="4429858"/>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1" name="Group 11"/>
          <p:cNvGrpSpPr/>
          <p:nvPr/>
        </p:nvGrpSpPr>
        <p:grpSpPr>
          <a:xfrm>
            <a:off x="335135" y="19839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335135" y="5095621"/>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7" name="Group 17"/>
          <p:cNvGrpSpPr/>
          <p:nvPr/>
        </p:nvGrpSpPr>
        <p:grpSpPr>
          <a:xfrm>
            <a:off x="335135" y="26496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335135" y="6427147"/>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335135" y="57613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335135" y="7094778"/>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16439471" y="8737362"/>
            <a:ext cx="3697059" cy="3697059"/>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id="31" name="TextBox 3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2423331" y="2192389"/>
            <a:ext cx="2264630" cy="2181369"/>
          </a:xfrm>
          <a:prstGeom prst="rect">
            <a:avLst/>
          </a:prstGeom>
        </p:spPr>
        <p:txBody>
          <a:bodyPr lIns="0" tIns="0" rIns="0" bIns="0" rtlCol="0" anchor="t">
            <a:spAutoFit/>
          </a:bodyPr>
          <a:lstStyle/>
          <a:p>
            <a:pPr algn="ctr">
              <a:lnSpc>
                <a:spcPts val="17823"/>
              </a:lnSpc>
              <a:spcBef>
                <a:spcPct val="0"/>
              </a:spcBef>
            </a:pPr>
            <a:r>
              <a:rPr lang="en-US" sz="12731" b="1">
                <a:solidFill>
                  <a:srgbClr val="FD6220"/>
                </a:solidFill>
                <a:latin typeface="Barlow Condensed Semi-Bold"/>
                <a:ea typeface="Barlow Condensed Semi-Bold"/>
                <a:cs typeface="Barlow Condensed Semi-Bold"/>
                <a:sym typeface="Barlow Condensed Semi-Bold"/>
              </a:rPr>
              <a:t>01</a:t>
            </a:r>
          </a:p>
        </p:txBody>
      </p:sp>
      <p:sp>
        <p:nvSpPr>
          <p:cNvPr id="33" name="Freeform 33"/>
          <p:cNvSpPr/>
          <p:nvPr/>
        </p:nvSpPr>
        <p:spPr>
          <a:xfrm rot="5400000">
            <a:off x="3076633" y="2487335"/>
            <a:ext cx="958025" cy="2797153"/>
          </a:xfrm>
          <a:custGeom>
            <a:avLst/>
            <a:gdLst/>
            <a:ahLst/>
            <a:cxnLst/>
            <a:rect l="l" t="t" r="r" b="b"/>
            <a:pathLst>
              <a:path w="958025" h="2797153">
                <a:moveTo>
                  <a:pt x="0" y="0"/>
                </a:moveTo>
                <a:lnTo>
                  <a:pt x="958025" y="0"/>
                </a:lnTo>
                <a:lnTo>
                  <a:pt x="958025" y="2797152"/>
                </a:lnTo>
                <a:lnTo>
                  <a:pt x="0" y="27971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4" name="Group 34"/>
          <p:cNvGrpSpPr/>
          <p:nvPr/>
        </p:nvGrpSpPr>
        <p:grpSpPr>
          <a:xfrm rot="-10800000">
            <a:off x="2991297" y="4658635"/>
            <a:ext cx="1128697" cy="2033929"/>
            <a:chOff x="0" y="0"/>
            <a:chExt cx="344984" cy="621667"/>
          </a:xfrm>
        </p:grpSpPr>
        <p:sp>
          <p:nvSpPr>
            <p:cNvPr id="35" name="Freeform 35"/>
            <p:cNvSpPr/>
            <p:nvPr/>
          </p:nvSpPr>
          <p:spPr>
            <a:xfrm>
              <a:off x="0" y="0"/>
              <a:ext cx="344984" cy="621667"/>
            </a:xfrm>
            <a:custGeom>
              <a:avLst/>
              <a:gdLst/>
              <a:ahLst/>
              <a:cxnLst/>
              <a:rect l="l" t="t" r="r" b="b"/>
              <a:pathLst>
                <a:path w="344984" h="621667">
                  <a:moveTo>
                    <a:pt x="172492" y="0"/>
                  </a:moveTo>
                  <a:lnTo>
                    <a:pt x="172492" y="0"/>
                  </a:lnTo>
                  <a:cubicBezTo>
                    <a:pt x="267757" y="0"/>
                    <a:pt x="344984" y="77227"/>
                    <a:pt x="344984" y="172492"/>
                  </a:cubicBezTo>
                  <a:lnTo>
                    <a:pt x="344984" y="449175"/>
                  </a:lnTo>
                  <a:cubicBezTo>
                    <a:pt x="344984" y="494923"/>
                    <a:pt x="326811" y="538797"/>
                    <a:pt x="294463" y="571145"/>
                  </a:cubicBezTo>
                  <a:cubicBezTo>
                    <a:pt x="262114" y="603494"/>
                    <a:pt x="218240" y="621667"/>
                    <a:pt x="172492" y="621667"/>
                  </a:cubicBezTo>
                  <a:lnTo>
                    <a:pt x="172492" y="621667"/>
                  </a:lnTo>
                  <a:cubicBezTo>
                    <a:pt x="126744" y="621667"/>
                    <a:pt x="82870" y="603494"/>
                    <a:pt x="50522" y="571145"/>
                  </a:cubicBezTo>
                  <a:cubicBezTo>
                    <a:pt x="18173" y="538797"/>
                    <a:pt x="0" y="494923"/>
                    <a:pt x="0" y="449175"/>
                  </a:cubicBezTo>
                  <a:lnTo>
                    <a:pt x="0" y="172492"/>
                  </a:lnTo>
                  <a:cubicBezTo>
                    <a:pt x="0" y="126744"/>
                    <a:pt x="18173" y="82870"/>
                    <a:pt x="50522" y="50522"/>
                  </a:cubicBezTo>
                  <a:cubicBezTo>
                    <a:pt x="82870" y="18173"/>
                    <a:pt x="126744" y="0"/>
                    <a:pt x="172492" y="0"/>
                  </a:cubicBezTo>
                  <a:close/>
                </a:path>
              </a:pathLst>
            </a:custGeom>
            <a:solidFill>
              <a:srgbClr val="FD6220"/>
            </a:solidFill>
          </p:spPr>
        </p:sp>
        <p:sp>
          <p:nvSpPr>
            <p:cNvPr id="36" name="TextBox 36"/>
            <p:cNvSpPr txBox="1"/>
            <p:nvPr/>
          </p:nvSpPr>
          <p:spPr>
            <a:xfrm>
              <a:off x="0" y="-38100"/>
              <a:ext cx="344984" cy="659767"/>
            </a:xfrm>
            <a:prstGeom prst="rect">
              <a:avLst/>
            </a:prstGeom>
          </p:spPr>
          <p:txBody>
            <a:bodyPr lIns="43774" tIns="43774" rIns="43774" bIns="43774" rtlCol="0" anchor="ctr"/>
            <a:lstStyle/>
            <a:p>
              <a:pPr algn="ctr">
                <a:lnSpc>
                  <a:spcPts val="2660"/>
                </a:lnSpc>
              </a:pPr>
              <a:endParaRPr/>
            </a:p>
          </p:txBody>
        </p:sp>
      </p:grpSp>
      <p:sp>
        <p:nvSpPr>
          <p:cNvPr id="37" name="Freeform 37"/>
          <p:cNvSpPr/>
          <p:nvPr/>
        </p:nvSpPr>
        <p:spPr>
          <a:xfrm rot="5400000">
            <a:off x="3168447" y="4557326"/>
            <a:ext cx="774397" cy="2261012"/>
          </a:xfrm>
          <a:custGeom>
            <a:avLst/>
            <a:gdLst/>
            <a:ahLst/>
            <a:cxnLst/>
            <a:rect l="l" t="t" r="r" b="b"/>
            <a:pathLst>
              <a:path w="774397" h="2261012">
                <a:moveTo>
                  <a:pt x="0" y="0"/>
                </a:moveTo>
                <a:lnTo>
                  <a:pt x="774397" y="0"/>
                </a:lnTo>
                <a:lnTo>
                  <a:pt x="774397" y="2261012"/>
                </a:lnTo>
                <a:lnTo>
                  <a:pt x="0" y="22610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8" name="Group 38"/>
          <p:cNvGrpSpPr/>
          <p:nvPr/>
        </p:nvGrpSpPr>
        <p:grpSpPr>
          <a:xfrm>
            <a:off x="2423331" y="5681739"/>
            <a:ext cx="2264630" cy="2522582"/>
            <a:chOff x="0" y="0"/>
            <a:chExt cx="692181" cy="771023"/>
          </a:xfrm>
        </p:grpSpPr>
        <p:sp>
          <p:nvSpPr>
            <p:cNvPr id="39" name="Freeform 39"/>
            <p:cNvSpPr/>
            <p:nvPr/>
          </p:nvSpPr>
          <p:spPr>
            <a:xfrm>
              <a:off x="0" y="0"/>
              <a:ext cx="692181" cy="771023"/>
            </a:xfrm>
            <a:custGeom>
              <a:avLst/>
              <a:gdLst/>
              <a:ahLst/>
              <a:cxnLst/>
              <a:rect l="l" t="t" r="r" b="b"/>
              <a:pathLst>
                <a:path w="692181" h="771023">
                  <a:moveTo>
                    <a:pt x="68372" y="0"/>
                  </a:moveTo>
                  <a:lnTo>
                    <a:pt x="623808" y="0"/>
                  </a:lnTo>
                  <a:cubicBezTo>
                    <a:pt x="661569" y="0"/>
                    <a:pt x="692181" y="30611"/>
                    <a:pt x="692181" y="68372"/>
                  </a:cubicBezTo>
                  <a:lnTo>
                    <a:pt x="692181" y="702651"/>
                  </a:lnTo>
                  <a:cubicBezTo>
                    <a:pt x="692181" y="740412"/>
                    <a:pt x="661569" y="771023"/>
                    <a:pt x="623808" y="771023"/>
                  </a:cubicBezTo>
                  <a:lnTo>
                    <a:pt x="68372" y="771023"/>
                  </a:lnTo>
                  <a:cubicBezTo>
                    <a:pt x="30611" y="771023"/>
                    <a:pt x="0" y="740412"/>
                    <a:pt x="0" y="702651"/>
                  </a:cubicBezTo>
                  <a:lnTo>
                    <a:pt x="0" y="68372"/>
                  </a:lnTo>
                  <a:cubicBezTo>
                    <a:pt x="0" y="30611"/>
                    <a:pt x="30611" y="0"/>
                    <a:pt x="68372" y="0"/>
                  </a:cubicBezTo>
                  <a:close/>
                </a:path>
              </a:pathLst>
            </a:custGeom>
            <a:solidFill>
              <a:srgbClr val="FFFFFF"/>
            </a:solidFill>
          </p:spPr>
        </p:sp>
        <p:sp>
          <p:nvSpPr>
            <p:cNvPr id="40" name="TextBox 40"/>
            <p:cNvSpPr txBox="1"/>
            <p:nvPr/>
          </p:nvSpPr>
          <p:spPr>
            <a:xfrm>
              <a:off x="0" y="-38100"/>
              <a:ext cx="692181" cy="809123"/>
            </a:xfrm>
            <a:prstGeom prst="rect">
              <a:avLst/>
            </a:prstGeom>
          </p:spPr>
          <p:txBody>
            <a:bodyPr lIns="43774" tIns="43774" rIns="43774" bIns="43774" rtlCol="0" anchor="ctr"/>
            <a:lstStyle/>
            <a:p>
              <a:pPr algn="ctr">
                <a:lnSpc>
                  <a:spcPts val="2660"/>
                </a:lnSpc>
              </a:pPr>
              <a:endParaRPr/>
            </a:p>
          </p:txBody>
        </p:sp>
      </p:grpSp>
      <p:grpSp>
        <p:nvGrpSpPr>
          <p:cNvPr id="41" name="Group 41"/>
          <p:cNvGrpSpPr/>
          <p:nvPr/>
        </p:nvGrpSpPr>
        <p:grpSpPr>
          <a:xfrm rot="-10800000">
            <a:off x="5986217" y="4658635"/>
            <a:ext cx="1128697" cy="2033929"/>
            <a:chOff x="0" y="0"/>
            <a:chExt cx="344984" cy="621667"/>
          </a:xfrm>
        </p:grpSpPr>
        <p:sp>
          <p:nvSpPr>
            <p:cNvPr id="42" name="Freeform 42"/>
            <p:cNvSpPr/>
            <p:nvPr/>
          </p:nvSpPr>
          <p:spPr>
            <a:xfrm>
              <a:off x="0" y="0"/>
              <a:ext cx="344984" cy="621667"/>
            </a:xfrm>
            <a:custGeom>
              <a:avLst/>
              <a:gdLst/>
              <a:ahLst/>
              <a:cxnLst/>
              <a:rect l="l" t="t" r="r" b="b"/>
              <a:pathLst>
                <a:path w="344984" h="621667">
                  <a:moveTo>
                    <a:pt x="172492" y="0"/>
                  </a:moveTo>
                  <a:lnTo>
                    <a:pt x="172492" y="0"/>
                  </a:lnTo>
                  <a:cubicBezTo>
                    <a:pt x="267757" y="0"/>
                    <a:pt x="344984" y="77227"/>
                    <a:pt x="344984" y="172492"/>
                  </a:cubicBezTo>
                  <a:lnTo>
                    <a:pt x="344984" y="449175"/>
                  </a:lnTo>
                  <a:cubicBezTo>
                    <a:pt x="344984" y="494923"/>
                    <a:pt x="326811" y="538797"/>
                    <a:pt x="294463" y="571145"/>
                  </a:cubicBezTo>
                  <a:cubicBezTo>
                    <a:pt x="262114" y="603494"/>
                    <a:pt x="218240" y="621667"/>
                    <a:pt x="172492" y="621667"/>
                  </a:cubicBezTo>
                  <a:lnTo>
                    <a:pt x="172492" y="621667"/>
                  </a:lnTo>
                  <a:cubicBezTo>
                    <a:pt x="126744" y="621667"/>
                    <a:pt x="82870" y="603494"/>
                    <a:pt x="50522" y="571145"/>
                  </a:cubicBezTo>
                  <a:cubicBezTo>
                    <a:pt x="18173" y="538797"/>
                    <a:pt x="0" y="494923"/>
                    <a:pt x="0" y="449175"/>
                  </a:cubicBezTo>
                  <a:lnTo>
                    <a:pt x="0" y="172492"/>
                  </a:lnTo>
                  <a:cubicBezTo>
                    <a:pt x="0" y="126744"/>
                    <a:pt x="18173" y="82870"/>
                    <a:pt x="50522" y="50522"/>
                  </a:cubicBezTo>
                  <a:cubicBezTo>
                    <a:pt x="82870" y="18173"/>
                    <a:pt x="126744" y="0"/>
                    <a:pt x="172492" y="0"/>
                  </a:cubicBezTo>
                  <a:close/>
                </a:path>
              </a:pathLst>
            </a:custGeom>
            <a:solidFill>
              <a:srgbClr val="FD6220"/>
            </a:solidFill>
          </p:spPr>
        </p:sp>
        <p:sp>
          <p:nvSpPr>
            <p:cNvPr id="43" name="TextBox 43"/>
            <p:cNvSpPr txBox="1"/>
            <p:nvPr/>
          </p:nvSpPr>
          <p:spPr>
            <a:xfrm>
              <a:off x="0" y="-38100"/>
              <a:ext cx="344984" cy="659767"/>
            </a:xfrm>
            <a:prstGeom prst="rect">
              <a:avLst/>
            </a:prstGeom>
          </p:spPr>
          <p:txBody>
            <a:bodyPr lIns="43774" tIns="43774" rIns="43774" bIns="43774" rtlCol="0" anchor="ctr"/>
            <a:lstStyle/>
            <a:p>
              <a:pPr algn="ctr">
                <a:lnSpc>
                  <a:spcPts val="2660"/>
                </a:lnSpc>
              </a:pPr>
              <a:endParaRPr/>
            </a:p>
          </p:txBody>
        </p:sp>
      </p:grpSp>
      <p:sp>
        <p:nvSpPr>
          <p:cNvPr id="44" name="Freeform 44"/>
          <p:cNvSpPr/>
          <p:nvPr/>
        </p:nvSpPr>
        <p:spPr>
          <a:xfrm rot="5400000">
            <a:off x="6163367" y="4557326"/>
            <a:ext cx="774397" cy="2261012"/>
          </a:xfrm>
          <a:custGeom>
            <a:avLst/>
            <a:gdLst/>
            <a:ahLst/>
            <a:cxnLst/>
            <a:rect l="l" t="t" r="r" b="b"/>
            <a:pathLst>
              <a:path w="774397" h="2261012">
                <a:moveTo>
                  <a:pt x="0" y="0"/>
                </a:moveTo>
                <a:lnTo>
                  <a:pt x="774397" y="0"/>
                </a:lnTo>
                <a:lnTo>
                  <a:pt x="774397" y="2261012"/>
                </a:lnTo>
                <a:lnTo>
                  <a:pt x="0" y="22610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5" name="Group 45"/>
          <p:cNvGrpSpPr/>
          <p:nvPr/>
        </p:nvGrpSpPr>
        <p:grpSpPr>
          <a:xfrm>
            <a:off x="5418250" y="5681739"/>
            <a:ext cx="2264630" cy="2522582"/>
            <a:chOff x="0" y="0"/>
            <a:chExt cx="692181" cy="771023"/>
          </a:xfrm>
        </p:grpSpPr>
        <p:sp>
          <p:nvSpPr>
            <p:cNvPr id="46" name="Freeform 46"/>
            <p:cNvSpPr/>
            <p:nvPr/>
          </p:nvSpPr>
          <p:spPr>
            <a:xfrm>
              <a:off x="0" y="0"/>
              <a:ext cx="692181" cy="771023"/>
            </a:xfrm>
            <a:custGeom>
              <a:avLst/>
              <a:gdLst/>
              <a:ahLst/>
              <a:cxnLst/>
              <a:rect l="l" t="t" r="r" b="b"/>
              <a:pathLst>
                <a:path w="692181" h="771023">
                  <a:moveTo>
                    <a:pt x="68372" y="0"/>
                  </a:moveTo>
                  <a:lnTo>
                    <a:pt x="623808" y="0"/>
                  </a:lnTo>
                  <a:cubicBezTo>
                    <a:pt x="661569" y="0"/>
                    <a:pt x="692181" y="30611"/>
                    <a:pt x="692181" y="68372"/>
                  </a:cubicBezTo>
                  <a:lnTo>
                    <a:pt x="692181" y="702651"/>
                  </a:lnTo>
                  <a:cubicBezTo>
                    <a:pt x="692181" y="740412"/>
                    <a:pt x="661569" y="771023"/>
                    <a:pt x="623808" y="771023"/>
                  </a:cubicBezTo>
                  <a:lnTo>
                    <a:pt x="68372" y="771023"/>
                  </a:lnTo>
                  <a:cubicBezTo>
                    <a:pt x="30611" y="771023"/>
                    <a:pt x="0" y="740412"/>
                    <a:pt x="0" y="702651"/>
                  </a:cubicBezTo>
                  <a:lnTo>
                    <a:pt x="0" y="68372"/>
                  </a:lnTo>
                  <a:cubicBezTo>
                    <a:pt x="0" y="30611"/>
                    <a:pt x="30611" y="0"/>
                    <a:pt x="68372" y="0"/>
                  </a:cubicBezTo>
                  <a:close/>
                </a:path>
              </a:pathLst>
            </a:custGeom>
            <a:solidFill>
              <a:srgbClr val="FFFFFF"/>
            </a:solidFill>
          </p:spPr>
        </p:sp>
        <p:sp>
          <p:nvSpPr>
            <p:cNvPr id="47" name="TextBox 47"/>
            <p:cNvSpPr txBox="1"/>
            <p:nvPr/>
          </p:nvSpPr>
          <p:spPr>
            <a:xfrm>
              <a:off x="0" y="-38100"/>
              <a:ext cx="692181" cy="809123"/>
            </a:xfrm>
            <a:prstGeom prst="rect">
              <a:avLst/>
            </a:prstGeom>
          </p:spPr>
          <p:txBody>
            <a:bodyPr lIns="43774" tIns="43774" rIns="43774" bIns="43774" rtlCol="0" anchor="ctr"/>
            <a:lstStyle/>
            <a:p>
              <a:pPr algn="ctr">
                <a:lnSpc>
                  <a:spcPts val="2660"/>
                </a:lnSpc>
              </a:pPr>
              <a:endParaRPr/>
            </a:p>
          </p:txBody>
        </p:sp>
      </p:grpSp>
      <p:sp>
        <p:nvSpPr>
          <p:cNvPr id="48" name="TextBox 48"/>
          <p:cNvSpPr txBox="1"/>
          <p:nvPr/>
        </p:nvSpPr>
        <p:spPr>
          <a:xfrm>
            <a:off x="5418250" y="2192389"/>
            <a:ext cx="2264630" cy="2181369"/>
          </a:xfrm>
          <a:prstGeom prst="rect">
            <a:avLst/>
          </a:prstGeom>
        </p:spPr>
        <p:txBody>
          <a:bodyPr lIns="0" tIns="0" rIns="0" bIns="0" rtlCol="0" anchor="t">
            <a:spAutoFit/>
          </a:bodyPr>
          <a:lstStyle/>
          <a:p>
            <a:pPr algn="ctr">
              <a:lnSpc>
                <a:spcPts val="17823"/>
              </a:lnSpc>
              <a:spcBef>
                <a:spcPct val="0"/>
              </a:spcBef>
            </a:pPr>
            <a:r>
              <a:rPr lang="en-US" sz="12731" b="1">
                <a:solidFill>
                  <a:srgbClr val="FD6220"/>
                </a:solidFill>
                <a:latin typeface="Barlow Condensed Semi-Bold"/>
                <a:ea typeface="Barlow Condensed Semi-Bold"/>
                <a:cs typeface="Barlow Condensed Semi-Bold"/>
                <a:sym typeface="Barlow Condensed Semi-Bold"/>
              </a:rPr>
              <a:t>02</a:t>
            </a:r>
          </a:p>
        </p:txBody>
      </p:sp>
      <p:sp>
        <p:nvSpPr>
          <p:cNvPr id="49" name="Freeform 49"/>
          <p:cNvSpPr/>
          <p:nvPr/>
        </p:nvSpPr>
        <p:spPr>
          <a:xfrm rot="5400000">
            <a:off x="6071553" y="2487335"/>
            <a:ext cx="958025" cy="2797153"/>
          </a:xfrm>
          <a:custGeom>
            <a:avLst/>
            <a:gdLst/>
            <a:ahLst/>
            <a:cxnLst/>
            <a:rect l="l" t="t" r="r" b="b"/>
            <a:pathLst>
              <a:path w="958025" h="2797153">
                <a:moveTo>
                  <a:pt x="0" y="0"/>
                </a:moveTo>
                <a:lnTo>
                  <a:pt x="958025" y="0"/>
                </a:lnTo>
                <a:lnTo>
                  <a:pt x="958025" y="2797152"/>
                </a:lnTo>
                <a:lnTo>
                  <a:pt x="0" y="27971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0" name="TextBox 50"/>
          <p:cNvSpPr txBox="1"/>
          <p:nvPr/>
        </p:nvSpPr>
        <p:spPr>
          <a:xfrm>
            <a:off x="8413170" y="2192389"/>
            <a:ext cx="2264630" cy="2181369"/>
          </a:xfrm>
          <a:prstGeom prst="rect">
            <a:avLst/>
          </a:prstGeom>
        </p:spPr>
        <p:txBody>
          <a:bodyPr lIns="0" tIns="0" rIns="0" bIns="0" rtlCol="0" anchor="t">
            <a:spAutoFit/>
          </a:bodyPr>
          <a:lstStyle/>
          <a:p>
            <a:pPr algn="ctr">
              <a:lnSpc>
                <a:spcPts val="17823"/>
              </a:lnSpc>
              <a:spcBef>
                <a:spcPct val="0"/>
              </a:spcBef>
            </a:pPr>
            <a:r>
              <a:rPr lang="en-US" sz="12731" b="1">
                <a:solidFill>
                  <a:srgbClr val="FD6220"/>
                </a:solidFill>
                <a:latin typeface="Barlow Condensed Semi-Bold"/>
                <a:ea typeface="Barlow Condensed Semi-Bold"/>
                <a:cs typeface="Barlow Condensed Semi-Bold"/>
                <a:sym typeface="Barlow Condensed Semi-Bold"/>
              </a:rPr>
              <a:t>03</a:t>
            </a:r>
          </a:p>
        </p:txBody>
      </p:sp>
      <p:sp>
        <p:nvSpPr>
          <p:cNvPr id="51" name="Freeform 51"/>
          <p:cNvSpPr/>
          <p:nvPr/>
        </p:nvSpPr>
        <p:spPr>
          <a:xfrm rot="5400000">
            <a:off x="9066472" y="2487335"/>
            <a:ext cx="958025" cy="2797153"/>
          </a:xfrm>
          <a:custGeom>
            <a:avLst/>
            <a:gdLst/>
            <a:ahLst/>
            <a:cxnLst/>
            <a:rect l="l" t="t" r="r" b="b"/>
            <a:pathLst>
              <a:path w="958025" h="2797153">
                <a:moveTo>
                  <a:pt x="0" y="0"/>
                </a:moveTo>
                <a:lnTo>
                  <a:pt x="958025" y="0"/>
                </a:lnTo>
                <a:lnTo>
                  <a:pt x="958025" y="2797152"/>
                </a:lnTo>
                <a:lnTo>
                  <a:pt x="0" y="27971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2" name="Group 52"/>
          <p:cNvGrpSpPr/>
          <p:nvPr/>
        </p:nvGrpSpPr>
        <p:grpSpPr>
          <a:xfrm rot="-10800000">
            <a:off x="8981136" y="4658635"/>
            <a:ext cx="1128697" cy="2033929"/>
            <a:chOff x="0" y="0"/>
            <a:chExt cx="344984" cy="621667"/>
          </a:xfrm>
        </p:grpSpPr>
        <p:sp>
          <p:nvSpPr>
            <p:cNvPr id="53" name="Freeform 53"/>
            <p:cNvSpPr/>
            <p:nvPr/>
          </p:nvSpPr>
          <p:spPr>
            <a:xfrm>
              <a:off x="0" y="0"/>
              <a:ext cx="344984" cy="621667"/>
            </a:xfrm>
            <a:custGeom>
              <a:avLst/>
              <a:gdLst/>
              <a:ahLst/>
              <a:cxnLst/>
              <a:rect l="l" t="t" r="r" b="b"/>
              <a:pathLst>
                <a:path w="344984" h="621667">
                  <a:moveTo>
                    <a:pt x="172492" y="0"/>
                  </a:moveTo>
                  <a:lnTo>
                    <a:pt x="172492" y="0"/>
                  </a:lnTo>
                  <a:cubicBezTo>
                    <a:pt x="267757" y="0"/>
                    <a:pt x="344984" y="77227"/>
                    <a:pt x="344984" y="172492"/>
                  </a:cubicBezTo>
                  <a:lnTo>
                    <a:pt x="344984" y="449175"/>
                  </a:lnTo>
                  <a:cubicBezTo>
                    <a:pt x="344984" y="494923"/>
                    <a:pt x="326811" y="538797"/>
                    <a:pt x="294463" y="571145"/>
                  </a:cubicBezTo>
                  <a:cubicBezTo>
                    <a:pt x="262114" y="603494"/>
                    <a:pt x="218240" y="621667"/>
                    <a:pt x="172492" y="621667"/>
                  </a:cubicBezTo>
                  <a:lnTo>
                    <a:pt x="172492" y="621667"/>
                  </a:lnTo>
                  <a:cubicBezTo>
                    <a:pt x="126744" y="621667"/>
                    <a:pt x="82870" y="603494"/>
                    <a:pt x="50522" y="571145"/>
                  </a:cubicBezTo>
                  <a:cubicBezTo>
                    <a:pt x="18173" y="538797"/>
                    <a:pt x="0" y="494923"/>
                    <a:pt x="0" y="449175"/>
                  </a:cubicBezTo>
                  <a:lnTo>
                    <a:pt x="0" y="172492"/>
                  </a:lnTo>
                  <a:cubicBezTo>
                    <a:pt x="0" y="126744"/>
                    <a:pt x="18173" y="82870"/>
                    <a:pt x="50522" y="50522"/>
                  </a:cubicBezTo>
                  <a:cubicBezTo>
                    <a:pt x="82870" y="18173"/>
                    <a:pt x="126744" y="0"/>
                    <a:pt x="172492" y="0"/>
                  </a:cubicBezTo>
                  <a:close/>
                </a:path>
              </a:pathLst>
            </a:custGeom>
            <a:solidFill>
              <a:srgbClr val="FD6220"/>
            </a:solidFill>
          </p:spPr>
        </p:sp>
        <p:sp>
          <p:nvSpPr>
            <p:cNvPr id="54" name="TextBox 54"/>
            <p:cNvSpPr txBox="1"/>
            <p:nvPr/>
          </p:nvSpPr>
          <p:spPr>
            <a:xfrm>
              <a:off x="0" y="-38100"/>
              <a:ext cx="344984" cy="659767"/>
            </a:xfrm>
            <a:prstGeom prst="rect">
              <a:avLst/>
            </a:prstGeom>
          </p:spPr>
          <p:txBody>
            <a:bodyPr lIns="43774" tIns="43774" rIns="43774" bIns="43774" rtlCol="0" anchor="ctr"/>
            <a:lstStyle/>
            <a:p>
              <a:pPr algn="ctr">
                <a:lnSpc>
                  <a:spcPts val="2660"/>
                </a:lnSpc>
              </a:pPr>
              <a:endParaRPr/>
            </a:p>
          </p:txBody>
        </p:sp>
      </p:grpSp>
      <p:sp>
        <p:nvSpPr>
          <p:cNvPr id="55" name="Freeform 55"/>
          <p:cNvSpPr/>
          <p:nvPr/>
        </p:nvSpPr>
        <p:spPr>
          <a:xfrm rot="5400000">
            <a:off x="9158287" y="4557326"/>
            <a:ext cx="774397" cy="2261012"/>
          </a:xfrm>
          <a:custGeom>
            <a:avLst/>
            <a:gdLst/>
            <a:ahLst/>
            <a:cxnLst/>
            <a:rect l="l" t="t" r="r" b="b"/>
            <a:pathLst>
              <a:path w="774397" h="2261012">
                <a:moveTo>
                  <a:pt x="0" y="0"/>
                </a:moveTo>
                <a:lnTo>
                  <a:pt x="774396" y="0"/>
                </a:lnTo>
                <a:lnTo>
                  <a:pt x="774396" y="2261012"/>
                </a:lnTo>
                <a:lnTo>
                  <a:pt x="0" y="22610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6" name="TextBox 56"/>
          <p:cNvSpPr txBox="1"/>
          <p:nvPr/>
        </p:nvSpPr>
        <p:spPr>
          <a:xfrm>
            <a:off x="11408089" y="2192389"/>
            <a:ext cx="2264630" cy="2181369"/>
          </a:xfrm>
          <a:prstGeom prst="rect">
            <a:avLst/>
          </a:prstGeom>
        </p:spPr>
        <p:txBody>
          <a:bodyPr lIns="0" tIns="0" rIns="0" bIns="0" rtlCol="0" anchor="t">
            <a:spAutoFit/>
          </a:bodyPr>
          <a:lstStyle/>
          <a:p>
            <a:pPr algn="ctr">
              <a:lnSpc>
                <a:spcPts val="17823"/>
              </a:lnSpc>
              <a:spcBef>
                <a:spcPct val="0"/>
              </a:spcBef>
            </a:pPr>
            <a:r>
              <a:rPr lang="en-US" sz="12731" b="1">
                <a:solidFill>
                  <a:srgbClr val="FD6220"/>
                </a:solidFill>
                <a:latin typeface="Barlow Condensed Semi-Bold"/>
                <a:ea typeface="Barlow Condensed Semi-Bold"/>
                <a:cs typeface="Barlow Condensed Semi-Bold"/>
                <a:sym typeface="Barlow Condensed Semi-Bold"/>
              </a:rPr>
              <a:t>04</a:t>
            </a:r>
          </a:p>
        </p:txBody>
      </p:sp>
      <p:sp>
        <p:nvSpPr>
          <p:cNvPr id="57" name="Freeform 57"/>
          <p:cNvSpPr/>
          <p:nvPr/>
        </p:nvSpPr>
        <p:spPr>
          <a:xfrm rot="5400000">
            <a:off x="12061392" y="2487335"/>
            <a:ext cx="958025" cy="2797153"/>
          </a:xfrm>
          <a:custGeom>
            <a:avLst/>
            <a:gdLst/>
            <a:ahLst/>
            <a:cxnLst/>
            <a:rect l="l" t="t" r="r" b="b"/>
            <a:pathLst>
              <a:path w="958025" h="2797153">
                <a:moveTo>
                  <a:pt x="0" y="0"/>
                </a:moveTo>
                <a:lnTo>
                  <a:pt x="958025" y="0"/>
                </a:lnTo>
                <a:lnTo>
                  <a:pt x="958025" y="2797152"/>
                </a:lnTo>
                <a:lnTo>
                  <a:pt x="0" y="27971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8" name="Group 58"/>
          <p:cNvGrpSpPr/>
          <p:nvPr/>
        </p:nvGrpSpPr>
        <p:grpSpPr>
          <a:xfrm rot="-10800000">
            <a:off x="11976056" y="4658635"/>
            <a:ext cx="1128697" cy="2033929"/>
            <a:chOff x="0" y="0"/>
            <a:chExt cx="344984" cy="621667"/>
          </a:xfrm>
        </p:grpSpPr>
        <p:sp>
          <p:nvSpPr>
            <p:cNvPr id="59" name="Freeform 59"/>
            <p:cNvSpPr/>
            <p:nvPr/>
          </p:nvSpPr>
          <p:spPr>
            <a:xfrm>
              <a:off x="0" y="0"/>
              <a:ext cx="344984" cy="621667"/>
            </a:xfrm>
            <a:custGeom>
              <a:avLst/>
              <a:gdLst/>
              <a:ahLst/>
              <a:cxnLst/>
              <a:rect l="l" t="t" r="r" b="b"/>
              <a:pathLst>
                <a:path w="344984" h="621667">
                  <a:moveTo>
                    <a:pt x="172492" y="0"/>
                  </a:moveTo>
                  <a:lnTo>
                    <a:pt x="172492" y="0"/>
                  </a:lnTo>
                  <a:cubicBezTo>
                    <a:pt x="267757" y="0"/>
                    <a:pt x="344984" y="77227"/>
                    <a:pt x="344984" y="172492"/>
                  </a:cubicBezTo>
                  <a:lnTo>
                    <a:pt x="344984" y="449175"/>
                  </a:lnTo>
                  <a:cubicBezTo>
                    <a:pt x="344984" y="494923"/>
                    <a:pt x="326811" y="538797"/>
                    <a:pt x="294463" y="571145"/>
                  </a:cubicBezTo>
                  <a:cubicBezTo>
                    <a:pt x="262114" y="603494"/>
                    <a:pt x="218240" y="621667"/>
                    <a:pt x="172492" y="621667"/>
                  </a:cubicBezTo>
                  <a:lnTo>
                    <a:pt x="172492" y="621667"/>
                  </a:lnTo>
                  <a:cubicBezTo>
                    <a:pt x="126744" y="621667"/>
                    <a:pt x="82870" y="603494"/>
                    <a:pt x="50522" y="571145"/>
                  </a:cubicBezTo>
                  <a:cubicBezTo>
                    <a:pt x="18173" y="538797"/>
                    <a:pt x="0" y="494923"/>
                    <a:pt x="0" y="449175"/>
                  </a:cubicBezTo>
                  <a:lnTo>
                    <a:pt x="0" y="172492"/>
                  </a:lnTo>
                  <a:cubicBezTo>
                    <a:pt x="0" y="126744"/>
                    <a:pt x="18173" y="82870"/>
                    <a:pt x="50522" y="50522"/>
                  </a:cubicBezTo>
                  <a:cubicBezTo>
                    <a:pt x="82870" y="18173"/>
                    <a:pt x="126744" y="0"/>
                    <a:pt x="172492" y="0"/>
                  </a:cubicBezTo>
                  <a:close/>
                </a:path>
              </a:pathLst>
            </a:custGeom>
            <a:solidFill>
              <a:srgbClr val="FD6220"/>
            </a:solidFill>
          </p:spPr>
        </p:sp>
        <p:sp>
          <p:nvSpPr>
            <p:cNvPr id="60" name="TextBox 60"/>
            <p:cNvSpPr txBox="1"/>
            <p:nvPr/>
          </p:nvSpPr>
          <p:spPr>
            <a:xfrm>
              <a:off x="0" y="-38100"/>
              <a:ext cx="344984" cy="659767"/>
            </a:xfrm>
            <a:prstGeom prst="rect">
              <a:avLst/>
            </a:prstGeom>
          </p:spPr>
          <p:txBody>
            <a:bodyPr lIns="43774" tIns="43774" rIns="43774" bIns="43774" rtlCol="0" anchor="ctr"/>
            <a:lstStyle/>
            <a:p>
              <a:pPr algn="ctr">
                <a:lnSpc>
                  <a:spcPts val="2660"/>
                </a:lnSpc>
              </a:pPr>
              <a:endParaRPr/>
            </a:p>
          </p:txBody>
        </p:sp>
      </p:grpSp>
      <p:sp>
        <p:nvSpPr>
          <p:cNvPr id="61" name="Freeform 61"/>
          <p:cNvSpPr/>
          <p:nvPr/>
        </p:nvSpPr>
        <p:spPr>
          <a:xfrm rot="5400000">
            <a:off x="12153206" y="4557326"/>
            <a:ext cx="774397" cy="2261012"/>
          </a:xfrm>
          <a:custGeom>
            <a:avLst/>
            <a:gdLst/>
            <a:ahLst/>
            <a:cxnLst/>
            <a:rect l="l" t="t" r="r" b="b"/>
            <a:pathLst>
              <a:path w="774397" h="2261012">
                <a:moveTo>
                  <a:pt x="0" y="0"/>
                </a:moveTo>
                <a:lnTo>
                  <a:pt x="774397" y="0"/>
                </a:lnTo>
                <a:lnTo>
                  <a:pt x="774397" y="2261012"/>
                </a:lnTo>
                <a:lnTo>
                  <a:pt x="0" y="22610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2" name="TextBox 62"/>
          <p:cNvSpPr txBox="1"/>
          <p:nvPr/>
        </p:nvSpPr>
        <p:spPr>
          <a:xfrm>
            <a:off x="14403009" y="2192389"/>
            <a:ext cx="2264630" cy="2181369"/>
          </a:xfrm>
          <a:prstGeom prst="rect">
            <a:avLst/>
          </a:prstGeom>
        </p:spPr>
        <p:txBody>
          <a:bodyPr lIns="0" tIns="0" rIns="0" bIns="0" rtlCol="0" anchor="t">
            <a:spAutoFit/>
          </a:bodyPr>
          <a:lstStyle/>
          <a:p>
            <a:pPr algn="ctr">
              <a:lnSpc>
                <a:spcPts val="17823"/>
              </a:lnSpc>
              <a:spcBef>
                <a:spcPct val="0"/>
              </a:spcBef>
            </a:pPr>
            <a:r>
              <a:rPr lang="en-US" sz="12731" b="1">
                <a:solidFill>
                  <a:srgbClr val="FD6220"/>
                </a:solidFill>
                <a:latin typeface="Barlow Condensed Semi-Bold"/>
                <a:ea typeface="Barlow Condensed Semi-Bold"/>
                <a:cs typeface="Barlow Condensed Semi-Bold"/>
                <a:sym typeface="Barlow Condensed Semi-Bold"/>
              </a:rPr>
              <a:t>05</a:t>
            </a:r>
          </a:p>
        </p:txBody>
      </p:sp>
      <p:sp>
        <p:nvSpPr>
          <p:cNvPr id="63" name="Freeform 63"/>
          <p:cNvSpPr/>
          <p:nvPr/>
        </p:nvSpPr>
        <p:spPr>
          <a:xfrm rot="5400000">
            <a:off x="15056312" y="2487335"/>
            <a:ext cx="958025" cy="2797153"/>
          </a:xfrm>
          <a:custGeom>
            <a:avLst/>
            <a:gdLst/>
            <a:ahLst/>
            <a:cxnLst/>
            <a:rect l="l" t="t" r="r" b="b"/>
            <a:pathLst>
              <a:path w="958025" h="2797153">
                <a:moveTo>
                  <a:pt x="0" y="0"/>
                </a:moveTo>
                <a:lnTo>
                  <a:pt x="958025" y="0"/>
                </a:lnTo>
                <a:lnTo>
                  <a:pt x="958025" y="2797152"/>
                </a:lnTo>
                <a:lnTo>
                  <a:pt x="0" y="27971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4" name="Group 64"/>
          <p:cNvGrpSpPr/>
          <p:nvPr/>
        </p:nvGrpSpPr>
        <p:grpSpPr>
          <a:xfrm rot="-10800000">
            <a:off x="14970975" y="4658635"/>
            <a:ext cx="1128697" cy="2033929"/>
            <a:chOff x="0" y="0"/>
            <a:chExt cx="344984" cy="621667"/>
          </a:xfrm>
        </p:grpSpPr>
        <p:sp>
          <p:nvSpPr>
            <p:cNvPr id="65" name="Freeform 65"/>
            <p:cNvSpPr/>
            <p:nvPr/>
          </p:nvSpPr>
          <p:spPr>
            <a:xfrm>
              <a:off x="0" y="0"/>
              <a:ext cx="344984" cy="621667"/>
            </a:xfrm>
            <a:custGeom>
              <a:avLst/>
              <a:gdLst/>
              <a:ahLst/>
              <a:cxnLst/>
              <a:rect l="l" t="t" r="r" b="b"/>
              <a:pathLst>
                <a:path w="344984" h="621667">
                  <a:moveTo>
                    <a:pt x="172492" y="0"/>
                  </a:moveTo>
                  <a:lnTo>
                    <a:pt x="172492" y="0"/>
                  </a:lnTo>
                  <a:cubicBezTo>
                    <a:pt x="267757" y="0"/>
                    <a:pt x="344984" y="77227"/>
                    <a:pt x="344984" y="172492"/>
                  </a:cubicBezTo>
                  <a:lnTo>
                    <a:pt x="344984" y="449175"/>
                  </a:lnTo>
                  <a:cubicBezTo>
                    <a:pt x="344984" y="494923"/>
                    <a:pt x="326811" y="538797"/>
                    <a:pt x="294463" y="571145"/>
                  </a:cubicBezTo>
                  <a:cubicBezTo>
                    <a:pt x="262114" y="603494"/>
                    <a:pt x="218240" y="621667"/>
                    <a:pt x="172492" y="621667"/>
                  </a:cubicBezTo>
                  <a:lnTo>
                    <a:pt x="172492" y="621667"/>
                  </a:lnTo>
                  <a:cubicBezTo>
                    <a:pt x="126744" y="621667"/>
                    <a:pt x="82870" y="603494"/>
                    <a:pt x="50522" y="571145"/>
                  </a:cubicBezTo>
                  <a:cubicBezTo>
                    <a:pt x="18173" y="538797"/>
                    <a:pt x="0" y="494923"/>
                    <a:pt x="0" y="449175"/>
                  </a:cubicBezTo>
                  <a:lnTo>
                    <a:pt x="0" y="172492"/>
                  </a:lnTo>
                  <a:cubicBezTo>
                    <a:pt x="0" y="126744"/>
                    <a:pt x="18173" y="82870"/>
                    <a:pt x="50522" y="50522"/>
                  </a:cubicBezTo>
                  <a:cubicBezTo>
                    <a:pt x="82870" y="18173"/>
                    <a:pt x="126744" y="0"/>
                    <a:pt x="172492" y="0"/>
                  </a:cubicBezTo>
                  <a:close/>
                </a:path>
              </a:pathLst>
            </a:custGeom>
            <a:solidFill>
              <a:srgbClr val="FD6220"/>
            </a:solidFill>
          </p:spPr>
        </p:sp>
        <p:sp>
          <p:nvSpPr>
            <p:cNvPr id="66" name="TextBox 66"/>
            <p:cNvSpPr txBox="1"/>
            <p:nvPr/>
          </p:nvSpPr>
          <p:spPr>
            <a:xfrm>
              <a:off x="0" y="-38100"/>
              <a:ext cx="344984" cy="659767"/>
            </a:xfrm>
            <a:prstGeom prst="rect">
              <a:avLst/>
            </a:prstGeom>
          </p:spPr>
          <p:txBody>
            <a:bodyPr lIns="43774" tIns="43774" rIns="43774" bIns="43774" rtlCol="0" anchor="ctr"/>
            <a:lstStyle/>
            <a:p>
              <a:pPr algn="ctr">
                <a:lnSpc>
                  <a:spcPts val="2660"/>
                </a:lnSpc>
              </a:pPr>
              <a:endParaRPr/>
            </a:p>
          </p:txBody>
        </p:sp>
      </p:grpSp>
      <p:sp>
        <p:nvSpPr>
          <p:cNvPr id="67" name="Freeform 67"/>
          <p:cNvSpPr/>
          <p:nvPr/>
        </p:nvSpPr>
        <p:spPr>
          <a:xfrm rot="5400000">
            <a:off x="15148126" y="4557326"/>
            <a:ext cx="774397" cy="2261012"/>
          </a:xfrm>
          <a:custGeom>
            <a:avLst/>
            <a:gdLst/>
            <a:ahLst/>
            <a:cxnLst/>
            <a:rect l="l" t="t" r="r" b="b"/>
            <a:pathLst>
              <a:path w="774397" h="2261012">
                <a:moveTo>
                  <a:pt x="0" y="0"/>
                </a:moveTo>
                <a:lnTo>
                  <a:pt x="774396" y="0"/>
                </a:lnTo>
                <a:lnTo>
                  <a:pt x="774396" y="2261012"/>
                </a:lnTo>
                <a:lnTo>
                  <a:pt x="0" y="22610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8" name="Group 68"/>
          <p:cNvGrpSpPr/>
          <p:nvPr/>
        </p:nvGrpSpPr>
        <p:grpSpPr>
          <a:xfrm>
            <a:off x="8413170" y="5681739"/>
            <a:ext cx="2264630" cy="2522582"/>
            <a:chOff x="0" y="0"/>
            <a:chExt cx="692181" cy="771023"/>
          </a:xfrm>
        </p:grpSpPr>
        <p:sp>
          <p:nvSpPr>
            <p:cNvPr id="69" name="Freeform 69"/>
            <p:cNvSpPr/>
            <p:nvPr/>
          </p:nvSpPr>
          <p:spPr>
            <a:xfrm>
              <a:off x="0" y="0"/>
              <a:ext cx="692181" cy="771023"/>
            </a:xfrm>
            <a:custGeom>
              <a:avLst/>
              <a:gdLst/>
              <a:ahLst/>
              <a:cxnLst/>
              <a:rect l="l" t="t" r="r" b="b"/>
              <a:pathLst>
                <a:path w="692181" h="771023">
                  <a:moveTo>
                    <a:pt x="68372" y="0"/>
                  </a:moveTo>
                  <a:lnTo>
                    <a:pt x="623808" y="0"/>
                  </a:lnTo>
                  <a:cubicBezTo>
                    <a:pt x="661569" y="0"/>
                    <a:pt x="692181" y="30611"/>
                    <a:pt x="692181" y="68372"/>
                  </a:cubicBezTo>
                  <a:lnTo>
                    <a:pt x="692181" y="702651"/>
                  </a:lnTo>
                  <a:cubicBezTo>
                    <a:pt x="692181" y="740412"/>
                    <a:pt x="661569" y="771023"/>
                    <a:pt x="623808" y="771023"/>
                  </a:cubicBezTo>
                  <a:lnTo>
                    <a:pt x="68372" y="771023"/>
                  </a:lnTo>
                  <a:cubicBezTo>
                    <a:pt x="30611" y="771023"/>
                    <a:pt x="0" y="740412"/>
                    <a:pt x="0" y="702651"/>
                  </a:cubicBezTo>
                  <a:lnTo>
                    <a:pt x="0" y="68372"/>
                  </a:lnTo>
                  <a:cubicBezTo>
                    <a:pt x="0" y="30611"/>
                    <a:pt x="30611" y="0"/>
                    <a:pt x="68372" y="0"/>
                  </a:cubicBezTo>
                  <a:close/>
                </a:path>
              </a:pathLst>
            </a:custGeom>
            <a:solidFill>
              <a:srgbClr val="FFFFFF"/>
            </a:solidFill>
          </p:spPr>
        </p:sp>
        <p:sp>
          <p:nvSpPr>
            <p:cNvPr id="70" name="TextBox 70"/>
            <p:cNvSpPr txBox="1"/>
            <p:nvPr/>
          </p:nvSpPr>
          <p:spPr>
            <a:xfrm>
              <a:off x="0" y="-38100"/>
              <a:ext cx="692181" cy="809123"/>
            </a:xfrm>
            <a:prstGeom prst="rect">
              <a:avLst/>
            </a:prstGeom>
          </p:spPr>
          <p:txBody>
            <a:bodyPr lIns="43774" tIns="43774" rIns="43774" bIns="43774" rtlCol="0" anchor="ctr"/>
            <a:lstStyle/>
            <a:p>
              <a:pPr algn="ctr">
                <a:lnSpc>
                  <a:spcPts val="2660"/>
                </a:lnSpc>
              </a:pPr>
              <a:endParaRPr/>
            </a:p>
          </p:txBody>
        </p:sp>
      </p:grpSp>
      <p:grpSp>
        <p:nvGrpSpPr>
          <p:cNvPr id="71" name="Group 71"/>
          <p:cNvGrpSpPr/>
          <p:nvPr/>
        </p:nvGrpSpPr>
        <p:grpSpPr>
          <a:xfrm>
            <a:off x="11408089" y="5681739"/>
            <a:ext cx="2264630" cy="2522582"/>
            <a:chOff x="0" y="0"/>
            <a:chExt cx="692181" cy="771023"/>
          </a:xfrm>
        </p:grpSpPr>
        <p:sp>
          <p:nvSpPr>
            <p:cNvPr id="72" name="Freeform 72"/>
            <p:cNvSpPr/>
            <p:nvPr/>
          </p:nvSpPr>
          <p:spPr>
            <a:xfrm>
              <a:off x="0" y="0"/>
              <a:ext cx="692181" cy="771023"/>
            </a:xfrm>
            <a:custGeom>
              <a:avLst/>
              <a:gdLst/>
              <a:ahLst/>
              <a:cxnLst/>
              <a:rect l="l" t="t" r="r" b="b"/>
              <a:pathLst>
                <a:path w="692181" h="771023">
                  <a:moveTo>
                    <a:pt x="68372" y="0"/>
                  </a:moveTo>
                  <a:lnTo>
                    <a:pt x="623808" y="0"/>
                  </a:lnTo>
                  <a:cubicBezTo>
                    <a:pt x="661569" y="0"/>
                    <a:pt x="692181" y="30611"/>
                    <a:pt x="692181" y="68372"/>
                  </a:cubicBezTo>
                  <a:lnTo>
                    <a:pt x="692181" y="702651"/>
                  </a:lnTo>
                  <a:cubicBezTo>
                    <a:pt x="692181" y="740412"/>
                    <a:pt x="661569" y="771023"/>
                    <a:pt x="623808" y="771023"/>
                  </a:cubicBezTo>
                  <a:lnTo>
                    <a:pt x="68372" y="771023"/>
                  </a:lnTo>
                  <a:cubicBezTo>
                    <a:pt x="30611" y="771023"/>
                    <a:pt x="0" y="740412"/>
                    <a:pt x="0" y="702651"/>
                  </a:cubicBezTo>
                  <a:lnTo>
                    <a:pt x="0" y="68372"/>
                  </a:lnTo>
                  <a:cubicBezTo>
                    <a:pt x="0" y="30611"/>
                    <a:pt x="30611" y="0"/>
                    <a:pt x="68372" y="0"/>
                  </a:cubicBezTo>
                  <a:close/>
                </a:path>
              </a:pathLst>
            </a:custGeom>
            <a:solidFill>
              <a:srgbClr val="FFFFFF"/>
            </a:solidFill>
          </p:spPr>
        </p:sp>
        <p:sp>
          <p:nvSpPr>
            <p:cNvPr id="73" name="TextBox 73"/>
            <p:cNvSpPr txBox="1"/>
            <p:nvPr/>
          </p:nvSpPr>
          <p:spPr>
            <a:xfrm>
              <a:off x="0" y="-38100"/>
              <a:ext cx="692181" cy="809123"/>
            </a:xfrm>
            <a:prstGeom prst="rect">
              <a:avLst/>
            </a:prstGeom>
          </p:spPr>
          <p:txBody>
            <a:bodyPr lIns="43774" tIns="43774" rIns="43774" bIns="43774" rtlCol="0" anchor="ctr"/>
            <a:lstStyle/>
            <a:p>
              <a:pPr algn="ctr">
                <a:lnSpc>
                  <a:spcPts val="2660"/>
                </a:lnSpc>
              </a:pPr>
              <a:endParaRPr/>
            </a:p>
          </p:txBody>
        </p:sp>
      </p:grpSp>
      <p:grpSp>
        <p:nvGrpSpPr>
          <p:cNvPr id="74" name="Group 74"/>
          <p:cNvGrpSpPr/>
          <p:nvPr/>
        </p:nvGrpSpPr>
        <p:grpSpPr>
          <a:xfrm>
            <a:off x="14403009" y="5681739"/>
            <a:ext cx="2264630" cy="2522582"/>
            <a:chOff x="0" y="0"/>
            <a:chExt cx="692181" cy="771023"/>
          </a:xfrm>
        </p:grpSpPr>
        <p:sp>
          <p:nvSpPr>
            <p:cNvPr id="75" name="Freeform 75"/>
            <p:cNvSpPr/>
            <p:nvPr/>
          </p:nvSpPr>
          <p:spPr>
            <a:xfrm>
              <a:off x="0" y="0"/>
              <a:ext cx="692181" cy="771023"/>
            </a:xfrm>
            <a:custGeom>
              <a:avLst/>
              <a:gdLst/>
              <a:ahLst/>
              <a:cxnLst/>
              <a:rect l="l" t="t" r="r" b="b"/>
              <a:pathLst>
                <a:path w="692181" h="771023">
                  <a:moveTo>
                    <a:pt x="68372" y="0"/>
                  </a:moveTo>
                  <a:lnTo>
                    <a:pt x="623808" y="0"/>
                  </a:lnTo>
                  <a:cubicBezTo>
                    <a:pt x="661569" y="0"/>
                    <a:pt x="692181" y="30611"/>
                    <a:pt x="692181" y="68372"/>
                  </a:cubicBezTo>
                  <a:lnTo>
                    <a:pt x="692181" y="702651"/>
                  </a:lnTo>
                  <a:cubicBezTo>
                    <a:pt x="692181" y="740412"/>
                    <a:pt x="661569" y="771023"/>
                    <a:pt x="623808" y="771023"/>
                  </a:cubicBezTo>
                  <a:lnTo>
                    <a:pt x="68372" y="771023"/>
                  </a:lnTo>
                  <a:cubicBezTo>
                    <a:pt x="30611" y="771023"/>
                    <a:pt x="0" y="740412"/>
                    <a:pt x="0" y="702651"/>
                  </a:cubicBezTo>
                  <a:lnTo>
                    <a:pt x="0" y="68372"/>
                  </a:lnTo>
                  <a:cubicBezTo>
                    <a:pt x="0" y="30611"/>
                    <a:pt x="30611" y="0"/>
                    <a:pt x="68372" y="0"/>
                  </a:cubicBezTo>
                  <a:close/>
                </a:path>
              </a:pathLst>
            </a:custGeom>
            <a:solidFill>
              <a:srgbClr val="FFFFFF"/>
            </a:solidFill>
          </p:spPr>
        </p:sp>
        <p:sp>
          <p:nvSpPr>
            <p:cNvPr id="76" name="TextBox 76"/>
            <p:cNvSpPr txBox="1"/>
            <p:nvPr/>
          </p:nvSpPr>
          <p:spPr>
            <a:xfrm>
              <a:off x="0" y="-38100"/>
              <a:ext cx="692181" cy="809123"/>
            </a:xfrm>
            <a:prstGeom prst="rect">
              <a:avLst/>
            </a:prstGeom>
          </p:spPr>
          <p:txBody>
            <a:bodyPr lIns="43774" tIns="43774" rIns="43774" bIns="43774" rtlCol="0" anchor="ctr"/>
            <a:lstStyle/>
            <a:p>
              <a:pPr algn="ctr">
                <a:lnSpc>
                  <a:spcPts val="2660"/>
                </a:lnSpc>
              </a:pPr>
              <a:endParaRPr/>
            </a:p>
          </p:txBody>
        </p:sp>
      </p:grpSp>
      <p:sp>
        <p:nvSpPr>
          <p:cNvPr id="77" name="Freeform 77"/>
          <p:cNvSpPr/>
          <p:nvPr/>
        </p:nvSpPr>
        <p:spPr>
          <a:xfrm>
            <a:off x="3185481" y="4876226"/>
            <a:ext cx="740329" cy="740329"/>
          </a:xfrm>
          <a:custGeom>
            <a:avLst/>
            <a:gdLst/>
            <a:ahLst/>
            <a:cxnLst/>
            <a:rect l="l" t="t" r="r" b="b"/>
            <a:pathLst>
              <a:path w="740329" h="740329">
                <a:moveTo>
                  <a:pt x="0" y="0"/>
                </a:moveTo>
                <a:lnTo>
                  <a:pt x="740329" y="0"/>
                </a:lnTo>
                <a:lnTo>
                  <a:pt x="740329" y="740329"/>
                </a:lnTo>
                <a:lnTo>
                  <a:pt x="0" y="740329"/>
                </a:lnTo>
                <a:lnTo>
                  <a:pt x="0" y="0"/>
                </a:lnTo>
                <a:close/>
              </a:path>
            </a:pathLst>
          </a:custGeom>
          <a:blipFill>
            <a:blip r:embed="rId6"/>
            <a:stretch>
              <a:fillRect/>
            </a:stretch>
          </a:blipFill>
        </p:spPr>
      </p:sp>
      <p:sp>
        <p:nvSpPr>
          <p:cNvPr id="78" name="Freeform 78"/>
          <p:cNvSpPr/>
          <p:nvPr/>
        </p:nvSpPr>
        <p:spPr>
          <a:xfrm>
            <a:off x="6192749" y="4842406"/>
            <a:ext cx="715632" cy="715632"/>
          </a:xfrm>
          <a:custGeom>
            <a:avLst/>
            <a:gdLst/>
            <a:ahLst/>
            <a:cxnLst/>
            <a:rect l="l" t="t" r="r" b="b"/>
            <a:pathLst>
              <a:path w="715632" h="715632">
                <a:moveTo>
                  <a:pt x="0" y="0"/>
                </a:moveTo>
                <a:lnTo>
                  <a:pt x="715632" y="0"/>
                </a:lnTo>
                <a:lnTo>
                  <a:pt x="715632" y="715632"/>
                </a:lnTo>
                <a:lnTo>
                  <a:pt x="0" y="715632"/>
                </a:lnTo>
                <a:lnTo>
                  <a:pt x="0" y="0"/>
                </a:lnTo>
                <a:close/>
              </a:path>
            </a:pathLst>
          </a:custGeom>
          <a:blipFill>
            <a:blip r:embed="rId7"/>
            <a:stretch>
              <a:fillRect/>
            </a:stretch>
          </a:blipFill>
        </p:spPr>
      </p:sp>
      <p:sp>
        <p:nvSpPr>
          <p:cNvPr id="79" name="Freeform 79"/>
          <p:cNvSpPr/>
          <p:nvPr/>
        </p:nvSpPr>
        <p:spPr>
          <a:xfrm>
            <a:off x="9116942" y="4771679"/>
            <a:ext cx="857086" cy="857086"/>
          </a:xfrm>
          <a:custGeom>
            <a:avLst/>
            <a:gdLst/>
            <a:ahLst/>
            <a:cxnLst/>
            <a:rect l="l" t="t" r="r" b="b"/>
            <a:pathLst>
              <a:path w="857086" h="857086">
                <a:moveTo>
                  <a:pt x="0" y="0"/>
                </a:moveTo>
                <a:lnTo>
                  <a:pt x="857086" y="0"/>
                </a:lnTo>
                <a:lnTo>
                  <a:pt x="857086" y="857087"/>
                </a:lnTo>
                <a:lnTo>
                  <a:pt x="0" y="857087"/>
                </a:lnTo>
                <a:lnTo>
                  <a:pt x="0" y="0"/>
                </a:lnTo>
                <a:close/>
              </a:path>
            </a:pathLst>
          </a:custGeom>
          <a:blipFill>
            <a:blip r:embed="rId8"/>
            <a:stretch>
              <a:fillRect/>
            </a:stretch>
          </a:blipFill>
        </p:spPr>
      </p:sp>
      <p:sp>
        <p:nvSpPr>
          <p:cNvPr id="80" name="Freeform 80"/>
          <p:cNvSpPr/>
          <p:nvPr/>
        </p:nvSpPr>
        <p:spPr>
          <a:xfrm>
            <a:off x="12075281" y="4735099"/>
            <a:ext cx="930247" cy="930247"/>
          </a:xfrm>
          <a:custGeom>
            <a:avLst/>
            <a:gdLst/>
            <a:ahLst/>
            <a:cxnLst/>
            <a:rect l="l" t="t" r="r" b="b"/>
            <a:pathLst>
              <a:path w="930247" h="930247">
                <a:moveTo>
                  <a:pt x="0" y="0"/>
                </a:moveTo>
                <a:lnTo>
                  <a:pt x="930247" y="0"/>
                </a:lnTo>
                <a:lnTo>
                  <a:pt x="930247" y="930247"/>
                </a:lnTo>
                <a:lnTo>
                  <a:pt x="0" y="930247"/>
                </a:lnTo>
                <a:lnTo>
                  <a:pt x="0" y="0"/>
                </a:lnTo>
                <a:close/>
              </a:path>
            </a:pathLst>
          </a:custGeom>
          <a:blipFill>
            <a:blip r:embed="rId9"/>
            <a:stretch>
              <a:fillRect/>
            </a:stretch>
          </a:blipFill>
        </p:spPr>
      </p:sp>
      <p:sp>
        <p:nvSpPr>
          <p:cNvPr id="81" name="Freeform 81"/>
          <p:cNvSpPr/>
          <p:nvPr/>
        </p:nvSpPr>
        <p:spPr>
          <a:xfrm>
            <a:off x="15058263" y="4747333"/>
            <a:ext cx="954123" cy="954123"/>
          </a:xfrm>
          <a:custGeom>
            <a:avLst/>
            <a:gdLst/>
            <a:ahLst/>
            <a:cxnLst/>
            <a:rect l="l" t="t" r="r" b="b"/>
            <a:pathLst>
              <a:path w="954123" h="954123">
                <a:moveTo>
                  <a:pt x="0" y="0"/>
                </a:moveTo>
                <a:lnTo>
                  <a:pt x="954123" y="0"/>
                </a:lnTo>
                <a:lnTo>
                  <a:pt x="954123" y="954123"/>
                </a:lnTo>
                <a:lnTo>
                  <a:pt x="0" y="954123"/>
                </a:lnTo>
                <a:lnTo>
                  <a:pt x="0" y="0"/>
                </a:lnTo>
                <a:close/>
              </a:path>
            </a:pathLst>
          </a:custGeom>
          <a:blipFill>
            <a:blip r:embed="rId10"/>
            <a:stretch>
              <a:fillRect/>
            </a:stretch>
          </a:blipFill>
        </p:spPr>
      </p:sp>
      <p:sp>
        <p:nvSpPr>
          <p:cNvPr id="82" name="TextBox 82"/>
          <p:cNvSpPr txBox="1"/>
          <p:nvPr/>
        </p:nvSpPr>
        <p:spPr>
          <a:xfrm>
            <a:off x="1424068" y="233680"/>
            <a:ext cx="6989101" cy="795020"/>
          </a:xfrm>
          <a:prstGeom prst="rect">
            <a:avLst/>
          </a:prstGeom>
        </p:spPr>
        <p:txBody>
          <a:bodyPr lIns="0" tIns="0" rIns="0" bIns="0" rtlCol="0" anchor="t">
            <a:spAutoFit/>
          </a:bodyPr>
          <a:lstStyle/>
          <a:p>
            <a:pPr algn="l">
              <a:lnSpc>
                <a:spcPts val="6580"/>
              </a:lnSpc>
            </a:pPr>
            <a:r>
              <a:rPr lang="en-US" sz="4700" b="1">
                <a:solidFill>
                  <a:srgbClr val="191919"/>
                </a:solidFill>
                <a:latin typeface="Gotham Bold"/>
                <a:ea typeface="Gotham Bold"/>
                <a:cs typeface="Gotham Bold"/>
                <a:sym typeface="Gotham Bold"/>
              </a:rPr>
              <a:t>OBJECTIVES</a:t>
            </a:r>
          </a:p>
        </p:txBody>
      </p:sp>
      <p:sp>
        <p:nvSpPr>
          <p:cNvPr id="83" name="TextBox 83"/>
          <p:cNvSpPr txBox="1"/>
          <p:nvPr/>
        </p:nvSpPr>
        <p:spPr>
          <a:xfrm>
            <a:off x="2652809" y="6055980"/>
            <a:ext cx="1805674" cy="508224"/>
          </a:xfrm>
          <a:prstGeom prst="rect">
            <a:avLst/>
          </a:prstGeom>
        </p:spPr>
        <p:txBody>
          <a:bodyPr lIns="0" tIns="0" rIns="0" bIns="0" rtlCol="0" anchor="t">
            <a:spAutoFit/>
          </a:bodyPr>
          <a:lstStyle/>
          <a:p>
            <a:pPr algn="ctr">
              <a:lnSpc>
                <a:spcPts val="2016"/>
              </a:lnSpc>
            </a:pPr>
            <a:r>
              <a:rPr lang="en-US" sz="1551" b="1">
                <a:solidFill>
                  <a:srgbClr val="000000"/>
                </a:solidFill>
                <a:latin typeface="Open Sans Bold"/>
                <a:ea typeface="Open Sans Bold"/>
                <a:cs typeface="Open Sans Bold"/>
                <a:sym typeface="Open Sans Bold"/>
              </a:rPr>
              <a:t>Content Exploration</a:t>
            </a:r>
          </a:p>
        </p:txBody>
      </p:sp>
      <p:sp>
        <p:nvSpPr>
          <p:cNvPr id="84" name="TextBox 84"/>
          <p:cNvSpPr txBox="1"/>
          <p:nvPr/>
        </p:nvSpPr>
        <p:spPr>
          <a:xfrm>
            <a:off x="2652809" y="6751755"/>
            <a:ext cx="1805674" cy="1321648"/>
          </a:xfrm>
          <a:prstGeom prst="rect">
            <a:avLst/>
          </a:prstGeom>
        </p:spPr>
        <p:txBody>
          <a:bodyPr lIns="0" tIns="0" rIns="0" bIns="0" rtlCol="0" anchor="t">
            <a:spAutoFit/>
          </a:bodyPr>
          <a:lstStyle/>
          <a:p>
            <a:pPr algn="ctr">
              <a:lnSpc>
                <a:spcPts val="1792"/>
              </a:lnSpc>
            </a:pPr>
            <a:r>
              <a:rPr lang="en-US" sz="1378">
                <a:solidFill>
                  <a:srgbClr val="000000"/>
                </a:solidFill>
                <a:latin typeface="Open Sans"/>
                <a:ea typeface="Open Sans"/>
                <a:cs typeface="Open Sans"/>
                <a:sym typeface="Open Sans"/>
              </a:rPr>
              <a:t>To analyze Netflix’s catalog based on type, genre, release year, and maturity rating to understand its overall structure.</a:t>
            </a:r>
          </a:p>
        </p:txBody>
      </p:sp>
      <p:sp>
        <p:nvSpPr>
          <p:cNvPr id="85" name="TextBox 85"/>
          <p:cNvSpPr txBox="1"/>
          <p:nvPr/>
        </p:nvSpPr>
        <p:spPr>
          <a:xfrm>
            <a:off x="5745236" y="6055980"/>
            <a:ext cx="1574816" cy="508224"/>
          </a:xfrm>
          <a:prstGeom prst="rect">
            <a:avLst/>
          </a:prstGeom>
        </p:spPr>
        <p:txBody>
          <a:bodyPr lIns="0" tIns="0" rIns="0" bIns="0" rtlCol="0" anchor="t">
            <a:spAutoFit/>
          </a:bodyPr>
          <a:lstStyle/>
          <a:p>
            <a:pPr algn="ctr">
              <a:lnSpc>
                <a:spcPts val="2016"/>
              </a:lnSpc>
            </a:pPr>
            <a:r>
              <a:rPr lang="en-US" sz="1551" b="1">
                <a:solidFill>
                  <a:srgbClr val="000000"/>
                </a:solidFill>
                <a:latin typeface="Open Sans Bold"/>
                <a:ea typeface="Open Sans Bold"/>
                <a:cs typeface="Open Sans Bold"/>
                <a:sym typeface="Open Sans Bold"/>
              </a:rPr>
              <a:t>Regional Analysis</a:t>
            </a:r>
          </a:p>
        </p:txBody>
      </p:sp>
      <p:sp>
        <p:nvSpPr>
          <p:cNvPr id="86" name="TextBox 86"/>
          <p:cNvSpPr txBox="1"/>
          <p:nvPr/>
        </p:nvSpPr>
        <p:spPr>
          <a:xfrm>
            <a:off x="5745236" y="6751755"/>
            <a:ext cx="1805674" cy="1321648"/>
          </a:xfrm>
          <a:prstGeom prst="rect">
            <a:avLst/>
          </a:prstGeom>
        </p:spPr>
        <p:txBody>
          <a:bodyPr lIns="0" tIns="0" rIns="0" bIns="0" rtlCol="0" anchor="t">
            <a:spAutoFit/>
          </a:bodyPr>
          <a:lstStyle/>
          <a:p>
            <a:pPr algn="ctr">
              <a:lnSpc>
                <a:spcPts val="1792"/>
              </a:lnSpc>
            </a:pPr>
            <a:r>
              <a:rPr lang="en-US" sz="1378">
                <a:solidFill>
                  <a:srgbClr val="000000"/>
                </a:solidFill>
                <a:latin typeface="Open Sans"/>
                <a:ea typeface="Open Sans"/>
                <a:cs typeface="Open Sans"/>
                <a:sym typeface="Open Sans"/>
              </a:rPr>
              <a:t>To study country-wise content distribution and highlight regions that are underrepresented or oversaturated</a:t>
            </a:r>
          </a:p>
        </p:txBody>
      </p:sp>
      <p:sp>
        <p:nvSpPr>
          <p:cNvPr id="87" name="TextBox 87"/>
          <p:cNvSpPr txBox="1"/>
          <p:nvPr/>
        </p:nvSpPr>
        <p:spPr>
          <a:xfrm>
            <a:off x="8642648" y="6055980"/>
            <a:ext cx="1805674" cy="508224"/>
          </a:xfrm>
          <a:prstGeom prst="rect">
            <a:avLst/>
          </a:prstGeom>
        </p:spPr>
        <p:txBody>
          <a:bodyPr lIns="0" tIns="0" rIns="0" bIns="0" rtlCol="0" anchor="t">
            <a:spAutoFit/>
          </a:bodyPr>
          <a:lstStyle/>
          <a:p>
            <a:pPr algn="ctr">
              <a:lnSpc>
                <a:spcPts val="2016"/>
              </a:lnSpc>
            </a:pPr>
            <a:r>
              <a:rPr lang="en-US" sz="1551" b="1">
                <a:solidFill>
                  <a:srgbClr val="000000"/>
                </a:solidFill>
                <a:latin typeface="Open Sans Bold"/>
                <a:ea typeface="Open Sans Bold"/>
                <a:cs typeface="Open Sans Bold"/>
                <a:sym typeface="Open Sans Bold"/>
              </a:rPr>
              <a:t>Trend Identification</a:t>
            </a:r>
          </a:p>
        </p:txBody>
      </p:sp>
      <p:sp>
        <p:nvSpPr>
          <p:cNvPr id="88" name="TextBox 88"/>
          <p:cNvSpPr txBox="1"/>
          <p:nvPr/>
        </p:nvSpPr>
        <p:spPr>
          <a:xfrm>
            <a:off x="8642648" y="6751755"/>
            <a:ext cx="1805674" cy="1543253"/>
          </a:xfrm>
          <a:prstGeom prst="rect">
            <a:avLst/>
          </a:prstGeom>
        </p:spPr>
        <p:txBody>
          <a:bodyPr lIns="0" tIns="0" rIns="0" bIns="0" rtlCol="0" anchor="t">
            <a:spAutoFit/>
          </a:bodyPr>
          <a:lstStyle/>
          <a:p>
            <a:pPr algn="ctr">
              <a:lnSpc>
                <a:spcPts val="1792"/>
              </a:lnSpc>
            </a:pPr>
            <a:r>
              <a:rPr lang="en-US" sz="1378">
                <a:solidFill>
                  <a:srgbClr val="000000"/>
                </a:solidFill>
                <a:latin typeface="Open Sans"/>
                <a:ea typeface="Open Sans"/>
                <a:cs typeface="Open Sans"/>
                <a:sym typeface="Open Sans"/>
              </a:rPr>
              <a:t>To examine how content releases have evolved over time and identify shifts in Netflix’s production and acquisition strategy</a:t>
            </a:r>
          </a:p>
        </p:txBody>
      </p:sp>
      <p:sp>
        <p:nvSpPr>
          <p:cNvPr id="89" name="TextBox 89"/>
          <p:cNvSpPr txBox="1"/>
          <p:nvPr/>
        </p:nvSpPr>
        <p:spPr>
          <a:xfrm>
            <a:off x="11806812" y="6023525"/>
            <a:ext cx="1467186" cy="508224"/>
          </a:xfrm>
          <a:prstGeom prst="rect">
            <a:avLst/>
          </a:prstGeom>
        </p:spPr>
        <p:txBody>
          <a:bodyPr lIns="0" tIns="0" rIns="0" bIns="0" rtlCol="0" anchor="t">
            <a:spAutoFit/>
          </a:bodyPr>
          <a:lstStyle/>
          <a:p>
            <a:pPr algn="ctr">
              <a:lnSpc>
                <a:spcPts val="2016"/>
              </a:lnSpc>
            </a:pPr>
            <a:r>
              <a:rPr lang="en-US" sz="1551" b="1">
                <a:solidFill>
                  <a:srgbClr val="000000"/>
                </a:solidFill>
                <a:latin typeface="Open Sans Bold"/>
                <a:ea typeface="Open Sans Bold"/>
                <a:cs typeface="Open Sans Bold"/>
                <a:sym typeface="Open Sans Bold"/>
              </a:rPr>
              <a:t>Audience Insights</a:t>
            </a:r>
          </a:p>
        </p:txBody>
      </p:sp>
      <p:sp>
        <p:nvSpPr>
          <p:cNvPr id="90" name="TextBox 90"/>
          <p:cNvSpPr txBox="1"/>
          <p:nvPr/>
        </p:nvSpPr>
        <p:spPr>
          <a:xfrm>
            <a:off x="11637568" y="6751755"/>
            <a:ext cx="1805674" cy="1321648"/>
          </a:xfrm>
          <a:prstGeom prst="rect">
            <a:avLst/>
          </a:prstGeom>
        </p:spPr>
        <p:txBody>
          <a:bodyPr lIns="0" tIns="0" rIns="0" bIns="0" rtlCol="0" anchor="t">
            <a:spAutoFit/>
          </a:bodyPr>
          <a:lstStyle/>
          <a:p>
            <a:pPr algn="ctr">
              <a:lnSpc>
                <a:spcPts val="1792"/>
              </a:lnSpc>
            </a:pPr>
            <a:r>
              <a:rPr lang="en-US" sz="1378">
                <a:solidFill>
                  <a:srgbClr val="000000"/>
                </a:solidFill>
                <a:latin typeface="Open Sans"/>
                <a:ea typeface="Open Sans"/>
                <a:cs typeface="Open Sans"/>
                <a:sym typeface="Open Sans"/>
              </a:rPr>
              <a:t>To understand maturity rating patterns and how Netflix targets different audience groups across regions</a:t>
            </a:r>
          </a:p>
        </p:txBody>
      </p:sp>
      <p:sp>
        <p:nvSpPr>
          <p:cNvPr id="91" name="TextBox 91"/>
          <p:cNvSpPr txBox="1"/>
          <p:nvPr/>
        </p:nvSpPr>
        <p:spPr>
          <a:xfrm>
            <a:off x="14694171" y="6055980"/>
            <a:ext cx="1805674" cy="508224"/>
          </a:xfrm>
          <a:prstGeom prst="rect">
            <a:avLst/>
          </a:prstGeom>
        </p:spPr>
        <p:txBody>
          <a:bodyPr lIns="0" tIns="0" rIns="0" bIns="0" rtlCol="0" anchor="t">
            <a:spAutoFit/>
          </a:bodyPr>
          <a:lstStyle/>
          <a:p>
            <a:pPr algn="ctr">
              <a:lnSpc>
                <a:spcPts val="2016"/>
              </a:lnSpc>
            </a:pPr>
            <a:r>
              <a:rPr lang="en-US" sz="1551" b="1">
                <a:solidFill>
                  <a:srgbClr val="000000"/>
                </a:solidFill>
                <a:latin typeface="Open Sans Bold"/>
                <a:ea typeface="Open Sans Bold"/>
                <a:cs typeface="Open Sans Bold"/>
                <a:sym typeface="Open Sans Bold"/>
              </a:rPr>
              <a:t>Strategic Insight Generation</a:t>
            </a:r>
          </a:p>
        </p:txBody>
      </p:sp>
      <p:sp>
        <p:nvSpPr>
          <p:cNvPr id="92" name="TextBox 92"/>
          <p:cNvSpPr txBox="1"/>
          <p:nvPr/>
        </p:nvSpPr>
        <p:spPr>
          <a:xfrm>
            <a:off x="14694171" y="6751755"/>
            <a:ext cx="1805674" cy="1321648"/>
          </a:xfrm>
          <a:prstGeom prst="rect">
            <a:avLst/>
          </a:prstGeom>
        </p:spPr>
        <p:txBody>
          <a:bodyPr lIns="0" tIns="0" rIns="0" bIns="0" rtlCol="0" anchor="t">
            <a:spAutoFit/>
          </a:bodyPr>
          <a:lstStyle/>
          <a:p>
            <a:pPr algn="ctr">
              <a:lnSpc>
                <a:spcPts val="1792"/>
              </a:lnSpc>
            </a:pPr>
            <a:r>
              <a:rPr lang="en-US" sz="1378">
                <a:solidFill>
                  <a:srgbClr val="000000"/>
                </a:solidFill>
                <a:latin typeface="Open Sans"/>
                <a:ea typeface="Open Sans"/>
                <a:cs typeface="Open Sans"/>
                <a:sym typeface="Open Sans"/>
              </a:rPr>
              <a:t>To derive data-driven conclusions that can guide Netflix’s future content planning and global expansion efforts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98030" y="233680"/>
            <a:ext cx="7824944" cy="795020"/>
          </a:xfrm>
          <a:prstGeom prst="rect">
            <a:avLst/>
          </a:prstGeom>
        </p:spPr>
        <p:txBody>
          <a:bodyPr lIns="0" tIns="0" rIns="0" bIns="0" rtlCol="0" anchor="t">
            <a:spAutoFit/>
          </a:bodyPr>
          <a:lstStyle/>
          <a:p>
            <a:pPr algn="just">
              <a:lnSpc>
                <a:spcPts val="6580"/>
              </a:lnSpc>
              <a:spcBef>
                <a:spcPct val="0"/>
              </a:spcBef>
            </a:pPr>
            <a:r>
              <a:rPr lang="en-US" sz="4700" b="1">
                <a:solidFill>
                  <a:srgbClr val="191919"/>
                </a:solidFill>
                <a:latin typeface="Gotham Bold"/>
                <a:ea typeface="Gotham Bold"/>
                <a:cs typeface="Gotham Bold"/>
                <a:sym typeface="Gotham Bold"/>
              </a:rPr>
              <a:t>METHODOLOGY</a:t>
            </a:r>
          </a:p>
        </p:txBody>
      </p:sp>
      <p:grpSp>
        <p:nvGrpSpPr>
          <p:cNvPr id="3" name="Group 3"/>
          <p:cNvGrpSpPr/>
          <p:nvPr/>
        </p:nvGrpSpPr>
        <p:grpSpPr>
          <a:xfrm>
            <a:off x="-1954144" y="-1315898"/>
            <a:ext cx="3499668" cy="13405540"/>
            <a:chOff x="0" y="0"/>
            <a:chExt cx="4666225" cy="17874053"/>
          </a:xfrm>
        </p:grpSpPr>
        <p:grpSp>
          <p:nvGrpSpPr>
            <p:cNvPr id="4" name="Group 4"/>
            <p:cNvGrpSpPr/>
            <p:nvPr/>
          </p:nvGrpSpPr>
          <p:grpSpPr>
            <a:xfrm>
              <a:off x="0" y="0"/>
              <a:ext cx="4666225" cy="17874053"/>
              <a:chOff x="0" y="0"/>
              <a:chExt cx="212191" cy="812800"/>
            </a:xfrm>
          </p:grpSpPr>
          <p:sp>
            <p:nvSpPr>
              <p:cNvPr id="5" name="Freeform 5"/>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id="6" name="TextBox 6"/>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776635" y="7065694"/>
              <a:ext cx="1323284" cy="132328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0" name="Group 10"/>
            <p:cNvGrpSpPr/>
            <p:nvPr/>
          </p:nvGrpSpPr>
          <p:grpSpPr>
            <a:xfrm>
              <a:off x="3099505" y="6175521"/>
              <a:ext cx="677544" cy="725074"/>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3099505" y="4397662"/>
              <a:ext cx="677544" cy="725074"/>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3099505" y="8546609"/>
              <a:ext cx="677544" cy="725074"/>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3099505" y="5285347"/>
              <a:ext cx="677544" cy="725074"/>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3099505" y="10321978"/>
              <a:ext cx="677544" cy="725074"/>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3099505" y="9434294"/>
              <a:ext cx="677544" cy="725074"/>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8" name="Group 28"/>
            <p:cNvGrpSpPr/>
            <p:nvPr/>
          </p:nvGrpSpPr>
          <p:grpSpPr>
            <a:xfrm>
              <a:off x="3099505" y="11212152"/>
              <a:ext cx="677544" cy="725074"/>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grpSp>
        <p:nvGrpSpPr>
          <p:cNvPr id="31" name="Group 31"/>
          <p:cNvGrpSpPr/>
          <p:nvPr/>
        </p:nvGrpSpPr>
        <p:grpSpPr>
          <a:xfrm>
            <a:off x="11752563" y="-9632634"/>
            <a:ext cx="10994424" cy="10994424"/>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33" name="TextBox 33"/>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2928061" y="2386761"/>
            <a:ext cx="1755293" cy="1755293"/>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36" name="TextBox 36"/>
            <p:cNvSpPr txBox="1"/>
            <p:nvPr/>
          </p:nvSpPr>
          <p:spPr>
            <a:xfrm>
              <a:off x="76200" y="66675"/>
              <a:ext cx="660400" cy="669925"/>
            </a:xfrm>
            <a:prstGeom prst="rect">
              <a:avLst/>
            </a:prstGeom>
          </p:spPr>
          <p:txBody>
            <a:bodyPr lIns="54669" tIns="54669" rIns="54669" bIns="54669" rtlCol="0" anchor="ctr"/>
            <a:lstStyle/>
            <a:p>
              <a:pPr algn="ctr">
                <a:lnSpc>
                  <a:spcPts val="2339"/>
                </a:lnSpc>
              </a:pPr>
              <a:endParaRPr/>
            </a:p>
          </p:txBody>
        </p:sp>
      </p:grpSp>
      <p:sp>
        <p:nvSpPr>
          <p:cNvPr id="37" name="Freeform 37"/>
          <p:cNvSpPr/>
          <p:nvPr/>
        </p:nvSpPr>
        <p:spPr>
          <a:xfrm rot="5400000">
            <a:off x="3354783" y="2501631"/>
            <a:ext cx="901848" cy="2633132"/>
          </a:xfrm>
          <a:custGeom>
            <a:avLst/>
            <a:gdLst/>
            <a:ahLst/>
            <a:cxnLst/>
            <a:rect l="l" t="t" r="r" b="b"/>
            <a:pathLst>
              <a:path w="901848" h="2633132">
                <a:moveTo>
                  <a:pt x="0" y="0"/>
                </a:moveTo>
                <a:lnTo>
                  <a:pt x="901848" y="0"/>
                </a:lnTo>
                <a:lnTo>
                  <a:pt x="901848" y="2633131"/>
                </a:lnTo>
                <a:lnTo>
                  <a:pt x="0" y="2633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8" name="Freeform 38"/>
          <p:cNvSpPr/>
          <p:nvPr/>
        </p:nvSpPr>
        <p:spPr>
          <a:xfrm>
            <a:off x="3468049" y="3480538"/>
            <a:ext cx="675317" cy="675317"/>
          </a:xfrm>
          <a:custGeom>
            <a:avLst/>
            <a:gdLst/>
            <a:ahLst/>
            <a:cxnLst/>
            <a:rect l="l" t="t" r="r" b="b"/>
            <a:pathLst>
              <a:path w="675317" h="675317">
                <a:moveTo>
                  <a:pt x="0" y="0"/>
                </a:moveTo>
                <a:lnTo>
                  <a:pt x="675317" y="0"/>
                </a:lnTo>
                <a:lnTo>
                  <a:pt x="675317" y="675317"/>
                </a:lnTo>
                <a:lnTo>
                  <a:pt x="0" y="6753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9" name="Group 39"/>
          <p:cNvGrpSpPr/>
          <p:nvPr/>
        </p:nvGrpSpPr>
        <p:grpSpPr>
          <a:xfrm>
            <a:off x="6075517" y="2386761"/>
            <a:ext cx="1755293" cy="1755293"/>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41" name="TextBox 41"/>
            <p:cNvSpPr txBox="1"/>
            <p:nvPr/>
          </p:nvSpPr>
          <p:spPr>
            <a:xfrm>
              <a:off x="76200" y="66675"/>
              <a:ext cx="660400" cy="669925"/>
            </a:xfrm>
            <a:prstGeom prst="rect">
              <a:avLst/>
            </a:prstGeom>
          </p:spPr>
          <p:txBody>
            <a:bodyPr lIns="54669" tIns="54669" rIns="54669" bIns="54669" rtlCol="0" anchor="ctr"/>
            <a:lstStyle/>
            <a:p>
              <a:pPr algn="ctr">
                <a:lnSpc>
                  <a:spcPts val="2339"/>
                </a:lnSpc>
              </a:pPr>
              <a:endParaRPr/>
            </a:p>
          </p:txBody>
        </p:sp>
      </p:grpSp>
      <p:sp>
        <p:nvSpPr>
          <p:cNvPr id="42" name="Freeform 42"/>
          <p:cNvSpPr/>
          <p:nvPr/>
        </p:nvSpPr>
        <p:spPr>
          <a:xfrm rot="5400000">
            <a:off x="6502240" y="2501631"/>
            <a:ext cx="901848" cy="2633132"/>
          </a:xfrm>
          <a:custGeom>
            <a:avLst/>
            <a:gdLst/>
            <a:ahLst/>
            <a:cxnLst/>
            <a:rect l="l" t="t" r="r" b="b"/>
            <a:pathLst>
              <a:path w="901848" h="2633132">
                <a:moveTo>
                  <a:pt x="0" y="0"/>
                </a:moveTo>
                <a:lnTo>
                  <a:pt x="901848" y="0"/>
                </a:lnTo>
                <a:lnTo>
                  <a:pt x="901848" y="2633131"/>
                </a:lnTo>
                <a:lnTo>
                  <a:pt x="0" y="2633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Freeform 43"/>
          <p:cNvSpPr/>
          <p:nvPr/>
        </p:nvSpPr>
        <p:spPr>
          <a:xfrm>
            <a:off x="6615505" y="3480538"/>
            <a:ext cx="675317" cy="675317"/>
          </a:xfrm>
          <a:custGeom>
            <a:avLst/>
            <a:gdLst/>
            <a:ahLst/>
            <a:cxnLst/>
            <a:rect l="l" t="t" r="r" b="b"/>
            <a:pathLst>
              <a:path w="675317" h="675317">
                <a:moveTo>
                  <a:pt x="0" y="0"/>
                </a:moveTo>
                <a:lnTo>
                  <a:pt x="675317" y="0"/>
                </a:lnTo>
                <a:lnTo>
                  <a:pt x="675317" y="675317"/>
                </a:lnTo>
                <a:lnTo>
                  <a:pt x="0" y="6753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4" name="Group 44"/>
          <p:cNvGrpSpPr/>
          <p:nvPr/>
        </p:nvGrpSpPr>
        <p:grpSpPr>
          <a:xfrm>
            <a:off x="9222974" y="2386761"/>
            <a:ext cx="1755293" cy="1755293"/>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46" name="TextBox 46"/>
            <p:cNvSpPr txBox="1"/>
            <p:nvPr/>
          </p:nvSpPr>
          <p:spPr>
            <a:xfrm>
              <a:off x="76200" y="66675"/>
              <a:ext cx="660400" cy="669925"/>
            </a:xfrm>
            <a:prstGeom prst="rect">
              <a:avLst/>
            </a:prstGeom>
          </p:spPr>
          <p:txBody>
            <a:bodyPr lIns="54669" tIns="54669" rIns="54669" bIns="54669" rtlCol="0" anchor="ctr"/>
            <a:lstStyle/>
            <a:p>
              <a:pPr algn="ctr">
                <a:lnSpc>
                  <a:spcPts val="2339"/>
                </a:lnSpc>
              </a:pPr>
              <a:endParaRPr/>
            </a:p>
          </p:txBody>
        </p:sp>
      </p:grpSp>
      <p:sp>
        <p:nvSpPr>
          <p:cNvPr id="47" name="Freeform 47"/>
          <p:cNvSpPr/>
          <p:nvPr/>
        </p:nvSpPr>
        <p:spPr>
          <a:xfrm rot="5400000">
            <a:off x="9649697" y="2501631"/>
            <a:ext cx="901848" cy="2633132"/>
          </a:xfrm>
          <a:custGeom>
            <a:avLst/>
            <a:gdLst/>
            <a:ahLst/>
            <a:cxnLst/>
            <a:rect l="l" t="t" r="r" b="b"/>
            <a:pathLst>
              <a:path w="901848" h="2633132">
                <a:moveTo>
                  <a:pt x="0" y="0"/>
                </a:moveTo>
                <a:lnTo>
                  <a:pt x="901847" y="0"/>
                </a:lnTo>
                <a:lnTo>
                  <a:pt x="901847" y="2633131"/>
                </a:lnTo>
                <a:lnTo>
                  <a:pt x="0" y="2633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8" name="Freeform 48"/>
          <p:cNvSpPr/>
          <p:nvPr/>
        </p:nvSpPr>
        <p:spPr>
          <a:xfrm>
            <a:off x="9762962" y="3480538"/>
            <a:ext cx="675317" cy="675317"/>
          </a:xfrm>
          <a:custGeom>
            <a:avLst/>
            <a:gdLst/>
            <a:ahLst/>
            <a:cxnLst/>
            <a:rect l="l" t="t" r="r" b="b"/>
            <a:pathLst>
              <a:path w="675317" h="675317">
                <a:moveTo>
                  <a:pt x="0" y="0"/>
                </a:moveTo>
                <a:lnTo>
                  <a:pt x="675317" y="0"/>
                </a:lnTo>
                <a:lnTo>
                  <a:pt x="675317" y="675317"/>
                </a:lnTo>
                <a:lnTo>
                  <a:pt x="0" y="6753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9" name="Group 49"/>
          <p:cNvGrpSpPr/>
          <p:nvPr/>
        </p:nvGrpSpPr>
        <p:grpSpPr>
          <a:xfrm>
            <a:off x="12370431" y="2386761"/>
            <a:ext cx="1755293" cy="1755293"/>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51" name="TextBox 51"/>
            <p:cNvSpPr txBox="1"/>
            <p:nvPr/>
          </p:nvSpPr>
          <p:spPr>
            <a:xfrm>
              <a:off x="76200" y="66675"/>
              <a:ext cx="660400" cy="669925"/>
            </a:xfrm>
            <a:prstGeom prst="rect">
              <a:avLst/>
            </a:prstGeom>
          </p:spPr>
          <p:txBody>
            <a:bodyPr lIns="54669" tIns="54669" rIns="54669" bIns="54669" rtlCol="0" anchor="ctr"/>
            <a:lstStyle/>
            <a:p>
              <a:pPr algn="ctr">
                <a:lnSpc>
                  <a:spcPts val="2339"/>
                </a:lnSpc>
              </a:pPr>
              <a:endParaRPr/>
            </a:p>
          </p:txBody>
        </p:sp>
      </p:grpSp>
      <p:sp>
        <p:nvSpPr>
          <p:cNvPr id="52" name="Freeform 52"/>
          <p:cNvSpPr/>
          <p:nvPr/>
        </p:nvSpPr>
        <p:spPr>
          <a:xfrm rot="5400000">
            <a:off x="12797153" y="2501631"/>
            <a:ext cx="901848" cy="2633132"/>
          </a:xfrm>
          <a:custGeom>
            <a:avLst/>
            <a:gdLst/>
            <a:ahLst/>
            <a:cxnLst/>
            <a:rect l="l" t="t" r="r" b="b"/>
            <a:pathLst>
              <a:path w="901848" h="2633132">
                <a:moveTo>
                  <a:pt x="0" y="0"/>
                </a:moveTo>
                <a:lnTo>
                  <a:pt x="901848" y="0"/>
                </a:lnTo>
                <a:lnTo>
                  <a:pt x="901848" y="2633131"/>
                </a:lnTo>
                <a:lnTo>
                  <a:pt x="0" y="2633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3" name="Freeform 53"/>
          <p:cNvSpPr/>
          <p:nvPr/>
        </p:nvSpPr>
        <p:spPr>
          <a:xfrm>
            <a:off x="12910419" y="3480538"/>
            <a:ext cx="675317" cy="675317"/>
          </a:xfrm>
          <a:custGeom>
            <a:avLst/>
            <a:gdLst/>
            <a:ahLst/>
            <a:cxnLst/>
            <a:rect l="l" t="t" r="r" b="b"/>
            <a:pathLst>
              <a:path w="675317" h="675317">
                <a:moveTo>
                  <a:pt x="0" y="0"/>
                </a:moveTo>
                <a:lnTo>
                  <a:pt x="675316" y="0"/>
                </a:lnTo>
                <a:lnTo>
                  <a:pt x="675316" y="675317"/>
                </a:lnTo>
                <a:lnTo>
                  <a:pt x="0" y="6753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4" name="Group 54"/>
          <p:cNvGrpSpPr/>
          <p:nvPr/>
        </p:nvGrpSpPr>
        <p:grpSpPr>
          <a:xfrm>
            <a:off x="15517887" y="2386761"/>
            <a:ext cx="1755293" cy="1755293"/>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56" name="TextBox 56"/>
            <p:cNvSpPr txBox="1"/>
            <p:nvPr/>
          </p:nvSpPr>
          <p:spPr>
            <a:xfrm>
              <a:off x="76200" y="66675"/>
              <a:ext cx="660400" cy="669925"/>
            </a:xfrm>
            <a:prstGeom prst="rect">
              <a:avLst/>
            </a:prstGeom>
          </p:spPr>
          <p:txBody>
            <a:bodyPr lIns="54669" tIns="54669" rIns="54669" bIns="54669" rtlCol="0" anchor="ctr"/>
            <a:lstStyle/>
            <a:p>
              <a:pPr algn="ctr">
                <a:lnSpc>
                  <a:spcPts val="2339"/>
                </a:lnSpc>
              </a:pPr>
              <a:endParaRPr/>
            </a:p>
          </p:txBody>
        </p:sp>
      </p:grpSp>
      <p:sp>
        <p:nvSpPr>
          <p:cNvPr id="57" name="Freeform 57"/>
          <p:cNvSpPr/>
          <p:nvPr/>
        </p:nvSpPr>
        <p:spPr>
          <a:xfrm rot="5400000">
            <a:off x="15944610" y="2501631"/>
            <a:ext cx="901848" cy="2633132"/>
          </a:xfrm>
          <a:custGeom>
            <a:avLst/>
            <a:gdLst/>
            <a:ahLst/>
            <a:cxnLst/>
            <a:rect l="l" t="t" r="r" b="b"/>
            <a:pathLst>
              <a:path w="901848" h="2633132">
                <a:moveTo>
                  <a:pt x="0" y="0"/>
                </a:moveTo>
                <a:lnTo>
                  <a:pt x="901847" y="0"/>
                </a:lnTo>
                <a:lnTo>
                  <a:pt x="901847" y="2633131"/>
                </a:lnTo>
                <a:lnTo>
                  <a:pt x="0" y="26331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8" name="Freeform 58"/>
          <p:cNvSpPr/>
          <p:nvPr/>
        </p:nvSpPr>
        <p:spPr>
          <a:xfrm>
            <a:off x="16057875" y="3480538"/>
            <a:ext cx="675317" cy="675317"/>
          </a:xfrm>
          <a:custGeom>
            <a:avLst/>
            <a:gdLst/>
            <a:ahLst/>
            <a:cxnLst/>
            <a:rect l="l" t="t" r="r" b="b"/>
            <a:pathLst>
              <a:path w="675317" h="675317">
                <a:moveTo>
                  <a:pt x="0" y="0"/>
                </a:moveTo>
                <a:lnTo>
                  <a:pt x="675317" y="0"/>
                </a:lnTo>
                <a:lnTo>
                  <a:pt x="675317" y="675317"/>
                </a:lnTo>
                <a:lnTo>
                  <a:pt x="0" y="6753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9" name="AutoShape 59"/>
          <p:cNvSpPr/>
          <p:nvPr/>
        </p:nvSpPr>
        <p:spPr>
          <a:xfrm>
            <a:off x="5428221" y="4402470"/>
            <a:ext cx="0" cy="3375105"/>
          </a:xfrm>
          <a:prstGeom prst="line">
            <a:avLst/>
          </a:prstGeom>
          <a:ln w="19050" cap="flat">
            <a:solidFill>
              <a:srgbClr val="FF5940"/>
            </a:solidFill>
            <a:prstDash val="solid"/>
            <a:headEnd type="none" w="sm" len="sm"/>
            <a:tailEnd type="oval" w="lg" len="lg"/>
          </a:ln>
        </p:spPr>
      </p:sp>
      <p:sp>
        <p:nvSpPr>
          <p:cNvPr id="60" name="AutoShape 60"/>
          <p:cNvSpPr/>
          <p:nvPr/>
        </p:nvSpPr>
        <p:spPr>
          <a:xfrm flipH="1">
            <a:off x="8582347" y="4402470"/>
            <a:ext cx="0" cy="3375105"/>
          </a:xfrm>
          <a:prstGeom prst="line">
            <a:avLst/>
          </a:prstGeom>
          <a:ln w="19050" cap="flat">
            <a:solidFill>
              <a:srgbClr val="FF5940"/>
            </a:solidFill>
            <a:prstDash val="solid"/>
            <a:headEnd type="none" w="sm" len="sm"/>
            <a:tailEnd type="oval" w="lg" len="lg"/>
          </a:ln>
        </p:spPr>
      </p:sp>
      <p:sp>
        <p:nvSpPr>
          <p:cNvPr id="61" name="AutoShape 61"/>
          <p:cNvSpPr/>
          <p:nvPr/>
        </p:nvSpPr>
        <p:spPr>
          <a:xfrm flipV="1">
            <a:off x="3195792" y="9305849"/>
            <a:ext cx="1193152" cy="0"/>
          </a:xfrm>
          <a:prstGeom prst="line">
            <a:avLst/>
          </a:prstGeom>
          <a:ln w="85725" cap="flat">
            <a:solidFill>
              <a:srgbClr val="FF5940"/>
            </a:solidFill>
            <a:prstDash val="solid"/>
            <a:headEnd type="none" w="sm" len="sm"/>
            <a:tailEnd type="none" w="sm" len="sm"/>
          </a:ln>
        </p:spPr>
      </p:sp>
      <p:sp>
        <p:nvSpPr>
          <p:cNvPr id="62" name="AutoShape 62"/>
          <p:cNvSpPr/>
          <p:nvPr/>
        </p:nvSpPr>
        <p:spPr>
          <a:xfrm flipV="1">
            <a:off x="6349918" y="9305849"/>
            <a:ext cx="1193152" cy="0"/>
          </a:xfrm>
          <a:prstGeom prst="line">
            <a:avLst/>
          </a:prstGeom>
          <a:ln w="85725" cap="flat">
            <a:solidFill>
              <a:srgbClr val="FF5940"/>
            </a:solidFill>
            <a:prstDash val="solid"/>
            <a:headEnd type="none" w="sm" len="sm"/>
            <a:tailEnd type="none" w="sm" len="sm"/>
          </a:ln>
        </p:spPr>
      </p:sp>
      <p:sp>
        <p:nvSpPr>
          <p:cNvPr id="63" name="AutoShape 63"/>
          <p:cNvSpPr/>
          <p:nvPr/>
        </p:nvSpPr>
        <p:spPr>
          <a:xfrm>
            <a:off x="11736473" y="4402470"/>
            <a:ext cx="0" cy="3375105"/>
          </a:xfrm>
          <a:prstGeom prst="line">
            <a:avLst/>
          </a:prstGeom>
          <a:ln w="19050" cap="flat">
            <a:solidFill>
              <a:srgbClr val="FF5940"/>
            </a:solidFill>
            <a:prstDash val="solid"/>
            <a:headEnd type="none" w="sm" len="sm"/>
            <a:tailEnd type="oval" w="lg" len="lg"/>
          </a:ln>
        </p:spPr>
      </p:sp>
      <p:sp>
        <p:nvSpPr>
          <p:cNvPr id="64" name="AutoShape 64"/>
          <p:cNvSpPr/>
          <p:nvPr/>
        </p:nvSpPr>
        <p:spPr>
          <a:xfrm flipV="1">
            <a:off x="9504044" y="9305849"/>
            <a:ext cx="1193152" cy="0"/>
          </a:xfrm>
          <a:prstGeom prst="line">
            <a:avLst/>
          </a:prstGeom>
          <a:ln w="85725" cap="flat">
            <a:solidFill>
              <a:srgbClr val="FF5940"/>
            </a:solidFill>
            <a:prstDash val="solid"/>
            <a:headEnd type="none" w="sm" len="sm"/>
            <a:tailEnd type="none" w="sm" len="sm"/>
          </a:ln>
        </p:spPr>
      </p:sp>
      <p:sp>
        <p:nvSpPr>
          <p:cNvPr id="65" name="AutoShape 65"/>
          <p:cNvSpPr/>
          <p:nvPr/>
        </p:nvSpPr>
        <p:spPr>
          <a:xfrm flipH="1">
            <a:off x="14890599" y="4402470"/>
            <a:ext cx="0" cy="3375105"/>
          </a:xfrm>
          <a:prstGeom prst="line">
            <a:avLst/>
          </a:prstGeom>
          <a:ln w="19050" cap="flat">
            <a:solidFill>
              <a:srgbClr val="FF5940"/>
            </a:solidFill>
            <a:prstDash val="solid"/>
            <a:headEnd type="none" w="sm" len="sm"/>
            <a:tailEnd type="oval" w="lg" len="lg"/>
          </a:ln>
        </p:spPr>
      </p:sp>
      <p:sp>
        <p:nvSpPr>
          <p:cNvPr id="66" name="AutoShape 66"/>
          <p:cNvSpPr/>
          <p:nvPr/>
        </p:nvSpPr>
        <p:spPr>
          <a:xfrm flipV="1">
            <a:off x="12658170" y="9305849"/>
            <a:ext cx="1193152" cy="0"/>
          </a:xfrm>
          <a:prstGeom prst="line">
            <a:avLst/>
          </a:prstGeom>
          <a:ln w="85725" cap="flat">
            <a:solidFill>
              <a:srgbClr val="FF5940"/>
            </a:solidFill>
            <a:prstDash val="solid"/>
            <a:headEnd type="none" w="sm" len="sm"/>
            <a:tailEnd type="none" w="sm" len="sm"/>
          </a:ln>
        </p:spPr>
      </p:sp>
      <p:sp>
        <p:nvSpPr>
          <p:cNvPr id="67" name="AutoShape 67"/>
          <p:cNvSpPr/>
          <p:nvPr/>
        </p:nvSpPr>
        <p:spPr>
          <a:xfrm flipH="1">
            <a:off x="18044725" y="4402470"/>
            <a:ext cx="0" cy="3375105"/>
          </a:xfrm>
          <a:prstGeom prst="line">
            <a:avLst/>
          </a:prstGeom>
          <a:ln w="19050" cap="flat">
            <a:solidFill>
              <a:srgbClr val="FF5940"/>
            </a:solidFill>
            <a:prstDash val="solid"/>
            <a:headEnd type="none" w="sm" len="sm"/>
            <a:tailEnd type="oval" w="lg" len="lg"/>
          </a:ln>
        </p:spPr>
      </p:sp>
      <p:sp>
        <p:nvSpPr>
          <p:cNvPr id="68" name="AutoShape 68"/>
          <p:cNvSpPr/>
          <p:nvPr/>
        </p:nvSpPr>
        <p:spPr>
          <a:xfrm flipV="1">
            <a:off x="15812296" y="9305849"/>
            <a:ext cx="1193152" cy="0"/>
          </a:xfrm>
          <a:prstGeom prst="line">
            <a:avLst/>
          </a:prstGeom>
          <a:ln w="85725" cap="flat">
            <a:solidFill>
              <a:srgbClr val="FF5940"/>
            </a:solidFill>
            <a:prstDash val="solid"/>
            <a:headEnd type="none" w="sm" len="sm"/>
            <a:tailEnd type="none" w="sm" len="sm"/>
          </a:ln>
        </p:spPr>
      </p:sp>
      <p:sp>
        <p:nvSpPr>
          <p:cNvPr id="69" name="Freeform 69"/>
          <p:cNvSpPr/>
          <p:nvPr/>
        </p:nvSpPr>
        <p:spPr>
          <a:xfrm>
            <a:off x="3326336" y="2541005"/>
            <a:ext cx="939533" cy="939533"/>
          </a:xfrm>
          <a:custGeom>
            <a:avLst/>
            <a:gdLst/>
            <a:ahLst/>
            <a:cxnLst/>
            <a:rect l="l" t="t" r="r" b="b"/>
            <a:pathLst>
              <a:path w="939533" h="939533">
                <a:moveTo>
                  <a:pt x="0" y="0"/>
                </a:moveTo>
                <a:lnTo>
                  <a:pt x="939533" y="0"/>
                </a:lnTo>
                <a:lnTo>
                  <a:pt x="939533" y="939533"/>
                </a:lnTo>
                <a:lnTo>
                  <a:pt x="0" y="939533"/>
                </a:lnTo>
                <a:lnTo>
                  <a:pt x="0" y="0"/>
                </a:lnTo>
                <a:close/>
              </a:path>
            </a:pathLst>
          </a:custGeom>
          <a:blipFill>
            <a:blip r:embed="rId6"/>
            <a:stretch>
              <a:fillRect/>
            </a:stretch>
          </a:blipFill>
        </p:spPr>
      </p:sp>
      <p:sp>
        <p:nvSpPr>
          <p:cNvPr id="70" name="Freeform 70"/>
          <p:cNvSpPr/>
          <p:nvPr/>
        </p:nvSpPr>
        <p:spPr>
          <a:xfrm>
            <a:off x="6465298" y="2514617"/>
            <a:ext cx="1035853" cy="1035853"/>
          </a:xfrm>
          <a:custGeom>
            <a:avLst/>
            <a:gdLst/>
            <a:ahLst/>
            <a:cxnLst/>
            <a:rect l="l" t="t" r="r" b="b"/>
            <a:pathLst>
              <a:path w="1035853" h="1035853">
                <a:moveTo>
                  <a:pt x="0" y="0"/>
                </a:moveTo>
                <a:lnTo>
                  <a:pt x="1035854" y="0"/>
                </a:lnTo>
                <a:lnTo>
                  <a:pt x="1035854" y="1035854"/>
                </a:lnTo>
                <a:lnTo>
                  <a:pt x="0" y="1035854"/>
                </a:lnTo>
                <a:lnTo>
                  <a:pt x="0" y="0"/>
                </a:lnTo>
                <a:close/>
              </a:path>
            </a:pathLst>
          </a:custGeom>
          <a:blipFill>
            <a:blip r:embed="rId7"/>
            <a:stretch>
              <a:fillRect/>
            </a:stretch>
          </a:blipFill>
        </p:spPr>
      </p:sp>
      <p:sp>
        <p:nvSpPr>
          <p:cNvPr id="71" name="Freeform 71"/>
          <p:cNvSpPr/>
          <p:nvPr/>
        </p:nvSpPr>
        <p:spPr>
          <a:xfrm>
            <a:off x="9581211" y="2520888"/>
            <a:ext cx="959650" cy="959650"/>
          </a:xfrm>
          <a:custGeom>
            <a:avLst/>
            <a:gdLst/>
            <a:ahLst/>
            <a:cxnLst/>
            <a:rect l="l" t="t" r="r" b="b"/>
            <a:pathLst>
              <a:path w="959650" h="959650">
                <a:moveTo>
                  <a:pt x="0" y="0"/>
                </a:moveTo>
                <a:lnTo>
                  <a:pt x="959650" y="0"/>
                </a:lnTo>
                <a:lnTo>
                  <a:pt x="959650" y="959650"/>
                </a:lnTo>
                <a:lnTo>
                  <a:pt x="0" y="959650"/>
                </a:lnTo>
                <a:lnTo>
                  <a:pt x="0" y="0"/>
                </a:lnTo>
                <a:close/>
              </a:path>
            </a:pathLst>
          </a:custGeom>
          <a:blipFill>
            <a:blip r:embed="rId8"/>
            <a:stretch>
              <a:fillRect/>
            </a:stretch>
          </a:blipFill>
        </p:spPr>
      </p:sp>
      <p:sp>
        <p:nvSpPr>
          <p:cNvPr id="72" name="Freeform 72"/>
          <p:cNvSpPr/>
          <p:nvPr/>
        </p:nvSpPr>
        <p:spPr>
          <a:xfrm>
            <a:off x="12760211" y="2488230"/>
            <a:ext cx="992308" cy="992308"/>
          </a:xfrm>
          <a:custGeom>
            <a:avLst/>
            <a:gdLst/>
            <a:ahLst/>
            <a:cxnLst/>
            <a:rect l="l" t="t" r="r" b="b"/>
            <a:pathLst>
              <a:path w="992308" h="992308">
                <a:moveTo>
                  <a:pt x="0" y="0"/>
                </a:moveTo>
                <a:lnTo>
                  <a:pt x="992308" y="0"/>
                </a:lnTo>
                <a:lnTo>
                  <a:pt x="992308" y="992308"/>
                </a:lnTo>
                <a:lnTo>
                  <a:pt x="0" y="992308"/>
                </a:lnTo>
                <a:lnTo>
                  <a:pt x="0" y="0"/>
                </a:lnTo>
                <a:close/>
              </a:path>
            </a:pathLst>
          </a:custGeom>
          <a:blipFill>
            <a:blip r:embed="rId9"/>
            <a:stretch>
              <a:fillRect/>
            </a:stretch>
          </a:blipFill>
        </p:spPr>
      </p:sp>
      <p:sp>
        <p:nvSpPr>
          <p:cNvPr id="73" name="Freeform 73"/>
          <p:cNvSpPr/>
          <p:nvPr/>
        </p:nvSpPr>
        <p:spPr>
          <a:xfrm>
            <a:off x="15879093" y="2461480"/>
            <a:ext cx="1019058" cy="1019058"/>
          </a:xfrm>
          <a:custGeom>
            <a:avLst/>
            <a:gdLst/>
            <a:ahLst/>
            <a:cxnLst/>
            <a:rect l="l" t="t" r="r" b="b"/>
            <a:pathLst>
              <a:path w="1019058" h="1019058">
                <a:moveTo>
                  <a:pt x="0" y="0"/>
                </a:moveTo>
                <a:lnTo>
                  <a:pt x="1019058" y="0"/>
                </a:lnTo>
                <a:lnTo>
                  <a:pt x="1019058" y="1019058"/>
                </a:lnTo>
                <a:lnTo>
                  <a:pt x="0" y="1019058"/>
                </a:lnTo>
                <a:lnTo>
                  <a:pt x="0" y="0"/>
                </a:lnTo>
                <a:close/>
              </a:path>
            </a:pathLst>
          </a:custGeom>
          <a:blipFill>
            <a:blip r:embed="rId10"/>
            <a:stretch>
              <a:fillRect/>
            </a:stretch>
          </a:blipFill>
        </p:spPr>
      </p:sp>
      <p:sp>
        <p:nvSpPr>
          <p:cNvPr id="74" name="TextBox 74"/>
          <p:cNvSpPr txBox="1"/>
          <p:nvPr/>
        </p:nvSpPr>
        <p:spPr>
          <a:xfrm>
            <a:off x="2878872" y="4411995"/>
            <a:ext cx="1947589" cy="277488"/>
          </a:xfrm>
          <a:prstGeom prst="rect">
            <a:avLst/>
          </a:prstGeom>
        </p:spPr>
        <p:txBody>
          <a:bodyPr lIns="0" tIns="0" rIns="0" bIns="0" rtlCol="0" anchor="t">
            <a:spAutoFit/>
          </a:bodyPr>
          <a:lstStyle/>
          <a:p>
            <a:pPr algn="ctr">
              <a:lnSpc>
                <a:spcPts val="2324"/>
              </a:lnSpc>
            </a:pPr>
            <a:r>
              <a:rPr lang="en-US" sz="1937" b="1">
                <a:solidFill>
                  <a:srgbClr val="000000"/>
                </a:solidFill>
                <a:latin typeface="DM Sans Bold"/>
                <a:ea typeface="DM Sans Bold"/>
                <a:cs typeface="DM Sans Bold"/>
                <a:sym typeface="DM Sans Bold"/>
              </a:rPr>
              <a:t>Data Collection</a:t>
            </a:r>
          </a:p>
        </p:txBody>
      </p:sp>
      <p:sp>
        <p:nvSpPr>
          <p:cNvPr id="75" name="TextBox 75"/>
          <p:cNvSpPr txBox="1"/>
          <p:nvPr/>
        </p:nvSpPr>
        <p:spPr>
          <a:xfrm>
            <a:off x="2822308" y="5022291"/>
            <a:ext cx="1947589" cy="2201759"/>
          </a:xfrm>
          <a:prstGeom prst="rect">
            <a:avLst/>
          </a:prstGeom>
        </p:spPr>
        <p:txBody>
          <a:bodyPr lIns="0" tIns="0" rIns="0" bIns="0" rtlCol="0" anchor="t">
            <a:spAutoFit/>
          </a:bodyPr>
          <a:lstStyle/>
          <a:p>
            <a:pPr algn="ctr">
              <a:lnSpc>
                <a:spcPts val="2238"/>
              </a:lnSpc>
            </a:pPr>
            <a:r>
              <a:rPr lang="en-US" sz="1721">
                <a:solidFill>
                  <a:srgbClr val="000000"/>
                </a:solidFill>
                <a:latin typeface="DM Sans"/>
                <a:ea typeface="DM Sans"/>
                <a:cs typeface="DM Sans"/>
                <a:sym typeface="DM Sans"/>
              </a:rPr>
              <a:t>The Netflix dataset (up to 2021) was sourced from a publicly available platform, ensuring reliability and consistency for analysis</a:t>
            </a:r>
          </a:p>
        </p:txBody>
      </p:sp>
      <p:sp>
        <p:nvSpPr>
          <p:cNvPr id="76" name="TextBox 76"/>
          <p:cNvSpPr txBox="1"/>
          <p:nvPr/>
        </p:nvSpPr>
        <p:spPr>
          <a:xfrm>
            <a:off x="6032998" y="4411995"/>
            <a:ext cx="1947589" cy="277488"/>
          </a:xfrm>
          <a:prstGeom prst="rect">
            <a:avLst/>
          </a:prstGeom>
        </p:spPr>
        <p:txBody>
          <a:bodyPr lIns="0" tIns="0" rIns="0" bIns="0" rtlCol="0" anchor="t">
            <a:spAutoFit/>
          </a:bodyPr>
          <a:lstStyle/>
          <a:p>
            <a:pPr algn="ctr">
              <a:lnSpc>
                <a:spcPts val="2324"/>
              </a:lnSpc>
            </a:pPr>
            <a:r>
              <a:rPr lang="en-US" sz="1937" b="1">
                <a:solidFill>
                  <a:srgbClr val="000000"/>
                </a:solidFill>
                <a:latin typeface="DM Sans Bold"/>
                <a:ea typeface="DM Sans Bold"/>
                <a:cs typeface="DM Sans Bold"/>
                <a:sym typeface="DM Sans Bold"/>
              </a:rPr>
              <a:t>Data Cleaning</a:t>
            </a:r>
          </a:p>
        </p:txBody>
      </p:sp>
      <p:sp>
        <p:nvSpPr>
          <p:cNvPr id="77" name="TextBox 77"/>
          <p:cNvSpPr txBox="1"/>
          <p:nvPr/>
        </p:nvSpPr>
        <p:spPr>
          <a:xfrm>
            <a:off x="6019660" y="5022291"/>
            <a:ext cx="1947589" cy="2755284"/>
          </a:xfrm>
          <a:prstGeom prst="rect">
            <a:avLst/>
          </a:prstGeom>
        </p:spPr>
        <p:txBody>
          <a:bodyPr lIns="0" tIns="0" rIns="0" bIns="0" rtlCol="0" anchor="t">
            <a:spAutoFit/>
          </a:bodyPr>
          <a:lstStyle/>
          <a:p>
            <a:pPr algn="ctr">
              <a:lnSpc>
                <a:spcPts val="2238"/>
              </a:lnSpc>
            </a:pPr>
            <a:r>
              <a:rPr lang="en-US" sz="1721">
                <a:solidFill>
                  <a:srgbClr val="000000"/>
                </a:solidFill>
                <a:latin typeface="DM Sans"/>
                <a:ea typeface="DM Sans"/>
                <a:cs typeface="DM Sans"/>
                <a:sym typeface="DM Sans"/>
              </a:rPr>
              <a:t>Missing values in key fields like director, cast, and country were handled appropriately, and formats for dates and text fields were standardized for accuracy</a:t>
            </a:r>
          </a:p>
        </p:txBody>
      </p:sp>
      <p:sp>
        <p:nvSpPr>
          <p:cNvPr id="78" name="TextBox 78"/>
          <p:cNvSpPr txBox="1"/>
          <p:nvPr/>
        </p:nvSpPr>
        <p:spPr>
          <a:xfrm>
            <a:off x="3075594" y="8253825"/>
            <a:ext cx="1433549" cy="842336"/>
          </a:xfrm>
          <a:prstGeom prst="rect">
            <a:avLst/>
          </a:prstGeom>
        </p:spPr>
        <p:txBody>
          <a:bodyPr lIns="0" tIns="0" rIns="0" bIns="0" rtlCol="0" anchor="t">
            <a:spAutoFit/>
          </a:bodyPr>
          <a:lstStyle/>
          <a:p>
            <a:pPr algn="ctr">
              <a:lnSpc>
                <a:spcPts val="6715"/>
              </a:lnSpc>
              <a:spcBef>
                <a:spcPct val="0"/>
              </a:spcBef>
            </a:pPr>
            <a:r>
              <a:rPr lang="en-US" sz="5165" b="1">
                <a:solidFill>
                  <a:srgbClr val="000000"/>
                </a:solidFill>
                <a:latin typeface="Public Sans Bold"/>
                <a:ea typeface="Public Sans Bold"/>
                <a:cs typeface="Public Sans Bold"/>
                <a:sym typeface="Public Sans Bold"/>
              </a:rPr>
              <a:t>01</a:t>
            </a:r>
          </a:p>
        </p:txBody>
      </p:sp>
      <p:sp>
        <p:nvSpPr>
          <p:cNvPr id="79" name="TextBox 79"/>
          <p:cNvSpPr txBox="1"/>
          <p:nvPr/>
        </p:nvSpPr>
        <p:spPr>
          <a:xfrm>
            <a:off x="6229720" y="8253825"/>
            <a:ext cx="1433549" cy="842336"/>
          </a:xfrm>
          <a:prstGeom prst="rect">
            <a:avLst/>
          </a:prstGeom>
        </p:spPr>
        <p:txBody>
          <a:bodyPr lIns="0" tIns="0" rIns="0" bIns="0" rtlCol="0" anchor="t">
            <a:spAutoFit/>
          </a:bodyPr>
          <a:lstStyle/>
          <a:p>
            <a:pPr algn="ctr">
              <a:lnSpc>
                <a:spcPts val="6715"/>
              </a:lnSpc>
              <a:spcBef>
                <a:spcPct val="0"/>
              </a:spcBef>
            </a:pPr>
            <a:r>
              <a:rPr lang="en-US" sz="5165" b="1">
                <a:solidFill>
                  <a:srgbClr val="000000"/>
                </a:solidFill>
                <a:latin typeface="Public Sans Bold"/>
                <a:ea typeface="Public Sans Bold"/>
                <a:cs typeface="Public Sans Bold"/>
                <a:sym typeface="Public Sans Bold"/>
              </a:rPr>
              <a:t>02</a:t>
            </a:r>
          </a:p>
        </p:txBody>
      </p:sp>
      <p:sp>
        <p:nvSpPr>
          <p:cNvPr id="80" name="TextBox 80"/>
          <p:cNvSpPr txBox="1"/>
          <p:nvPr/>
        </p:nvSpPr>
        <p:spPr>
          <a:xfrm>
            <a:off x="9187124" y="4411995"/>
            <a:ext cx="1947589" cy="564501"/>
          </a:xfrm>
          <a:prstGeom prst="rect">
            <a:avLst/>
          </a:prstGeom>
        </p:spPr>
        <p:txBody>
          <a:bodyPr lIns="0" tIns="0" rIns="0" bIns="0" rtlCol="0" anchor="t">
            <a:spAutoFit/>
          </a:bodyPr>
          <a:lstStyle/>
          <a:p>
            <a:pPr algn="ctr">
              <a:lnSpc>
                <a:spcPts val="2324"/>
              </a:lnSpc>
            </a:pPr>
            <a:r>
              <a:rPr lang="en-US" sz="1937" b="1">
                <a:solidFill>
                  <a:srgbClr val="000000"/>
                </a:solidFill>
                <a:latin typeface="DM Sans Bold"/>
                <a:ea typeface="DM Sans Bold"/>
                <a:cs typeface="DM Sans Bold"/>
                <a:sym typeface="DM Sans Bold"/>
              </a:rPr>
              <a:t>Feature Processing</a:t>
            </a:r>
          </a:p>
        </p:txBody>
      </p:sp>
      <p:sp>
        <p:nvSpPr>
          <p:cNvPr id="81" name="TextBox 81"/>
          <p:cNvSpPr txBox="1"/>
          <p:nvPr/>
        </p:nvSpPr>
        <p:spPr>
          <a:xfrm>
            <a:off x="9187124" y="5208999"/>
            <a:ext cx="1947589" cy="2478521"/>
          </a:xfrm>
          <a:prstGeom prst="rect">
            <a:avLst/>
          </a:prstGeom>
        </p:spPr>
        <p:txBody>
          <a:bodyPr lIns="0" tIns="0" rIns="0" bIns="0" rtlCol="0" anchor="t">
            <a:spAutoFit/>
          </a:bodyPr>
          <a:lstStyle/>
          <a:p>
            <a:pPr algn="ctr">
              <a:lnSpc>
                <a:spcPts val="2238"/>
              </a:lnSpc>
            </a:pPr>
            <a:r>
              <a:rPr lang="en-US" sz="1721">
                <a:solidFill>
                  <a:srgbClr val="000000"/>
                </a:solidFill>
                <a:latin typeface="DM Sans"/>
                <a:ea typeface="DM Sans"/>
                <a:cs typeface="DM Sans"/>
                <a:sym typeface="DM Sans"/>
              </a:rPr>
              <a:t>Relevant columns such as type, listed_in, rating, and release_year were prepared, transformed, and organized to enable meaningful analysis</a:t>
            </a:r>
          </a:p>
        </p:txBody>
      </p:sp>
      <p:sp>
        <p:nvSpPr>
          <p:cNvPr id="82" name="TextBox 82"/>
          <p:cNvSpPr txBox="1"/>
          <p:nvPr/>
        </p:nvSpPr>
        <p:spPr>
          <a:xfrm>
            <a:off x="9383846" y="8253825"/>
            <a:ext cx="1433549" cy="842336"/>
          </a:xfrm>
          <a:prstGeom prst="rect">
            <a:avLst/>
          </a:prstGeom>
        </p:spPr>
        <p:txBody>
          <a:bodyPr lIns="0" tIns="0" rIns="0" bIns="0" rtlCol="0" anchor="t">
            <a:spAutoFit/>
          </a:bodyPr>
          <a:lstStyle/>
          <a:p>
            <a:pPr algn="ctr">
              <a:lnSpc>
                <a:spcPts val="6715"/>
              </a:lnSpc>
              <a:spcBef>
                <a:spcPct val="0"/>
              </a:spcBef>
            </a:pPr>
            <a:r>
              <a:rPr lang="en-US" sz="5165" b="1">
                <a:solidFill>
                  <a:srgbClr val="000000"/>
                </a:solidFill>
                <a:latin typeface="Public Sans Bold"/>
                <a:ea typeface="Public Sans Bold"/>
                <a:cs typeface="Public Sans Bold"/>
                <a:sym typeface="Public Sans Bold"/>
              </a:rPr>
              <a:t>03</a:t>
            </a:r>
          </a:p>
        </p:txBody>
      </p:sp>
      <p:sp>
        <p:nvSpPr>
          <p:cNvPr id="83" name="TextBox 83"/>
          <p:cNvSpPr txBox="1"/>
          <p:nvPr/>
        </p:nvSpPr>
        <p:spPr>
          <a:xfrm>
            <a:off x="12341250" y="4411995"/>
            <a:ext cx="1947589" cy="564501"/>
          </a:xfrm>
          <a:prstGeom prst="rect">
            <a:avLst/>
          </a:prstGeom>
        </p:spPr>
        <p:txBody>
          <a:bodyPr lIns="0" tIns="0" rIns="0" bIns="0" rtlCol="0" anchor="t">
            <a:spAutoFit/>
          </a:bodyPr>
          <a:lstStyle/>
          <a:p>
            <a:pPr algn="ctr">
              <a:lnSpc>
                <a:spcPts val="2324"/>
              </a:lnSpc>
            </a:pPr>
            <a:r>
              <a:rPr lang="en-US" sz="1937" b="1">
                <a:solidFill>
                  <a:srgbClr val="000000"/>
                </a:solidFill>
                <a:latin typeface="DM Sans Bold"/>
                <a:ea typeface="DM Sans Bold"/>
                <a:cs typeface="DM Sans Bold"/>
                <a:sym typeface="DM Sans Bold"/>
              </a:rPr>
              <a:t>Exploratory Analysis</a:t>
            </a:r>
          </a:p>
        </p:txBody>
      </p:sp>
      <p:sp>
        <p:nvSpPr>
          <p:cNvPr id="84" name="TextBox 84"/>
          <p:cNvSpPr txBox="1"/>
          <p:nvPr/>
        </p:nvSpPr>
        <p:spPr>
          <a:xfrm>
            <a:off x="12341250" y="5208999"/>
            <a:ext cx="1947589" cy="2478521"/>
          </a:xfrm>
          <a:prstGeom prst="rect">
            <a:avLst/>
          </a:prstGeom>
        </p:spPr>
        <p:txBody>
          <a:bodyPr lIns="0" tIns="0" rIns="0" bIns="0" rtlCol="0" anchor="t">
            <a:spAutoFit/>
          </a:bodyPr>
          <a:lstStyle/>
          <a:p>
            <a:pPr algn="ctr">
              <a:lnSpc>
                <a:spcPts val="2238"/>
              </a:lnSpc>
            </a:pPr>
            <a:r>
              <a:rPr lang="en-US" sz="1721">
                <a:solidFill>
                  <a:srgbClr val="000000"/>
                </a:solidFill>
                <a:latin typeface="DM Sans"/>
                <a:ea typeface="DM Sans"/>
                <a:cs typeface="DM Sans"/>
                <a:sym typeface="DM Sans"/>
              </a:rPr>
              <a:t>Visualizations and summary statistics were used to uncover trends in content type, release patterns, maturity ratings, and regional contributions</a:t>
            </a:r>
          </a:p>
        </p:txBody>
      </p:sp>
      <p:sp>
        <p:nvSpPr>
          <p:cNvPr id="85" name="TextBox 85"/>
          <p:cNvSpPr txBox="1"/>
          <p:nvPr/>
        </p:nvSpPr>
        <p:spPr>
          <a:xfrm>
            <a:off x="12537972" y="8253825"/>
            <a:ext cx="1433549" cy="842336"/>
          </a:xfrm>
          <a:prstGeom prst="rect">
            <a:avLst/>
          </a:prstGeom>
        </p:spPr>
        <p:txBody>
          <a:bodyPr lIns="0" tIns="0" rIns="0" bIns="0" rtlCol="0" anchor="t">
            <a:spAutoFit/>
          </a:bodyPr>
          <a:lstStyle/>
          <a:p>
            <a:pPr algn="ctr">
              <a:lnSpc>
                <a:spcPts val="6715"/>
              </a:lnSpc>
              <a:spcBef>
                <a:spcPct val="0"/>
              </a:spcBef>
            </a:pPr>
            <a:r>
              <a:rPr lang="en-US" sz="5165" b="1">
                <a:solidFill>
                  <a:srgbClr val="000000"/>
                </a:solidFill>
                <a:latin typeface="Public Sans Bold"/>
                <a:ea typeface="Public Sans Bold"/>
                <a:cs typeface="Public Sans Bold"/>
                <a:sym typeface="Public Sans Bold"/>
              </a:rPr>
              <a:t>04</a:t>
            </a:r>
          </a:p>
        </p:txBody>
      </p:sp>
      <p:sp>
        <p:nvSpPr>
          <p:cNvPr id="86" name="TextBox 86"/>
          <p:cNvSpPr txBox="1"/>
          <p:nvPr/>
        </p:nvSpPr>
        <p:spPr>
          <a:xfrm>
            <a:off x="15495376" y="4411995"/>
            <a:ext cx="1947589" cy="564501"/>
          </a:xfrm>
          <a:prstGeom prst="rect">
            <a:avLst/>
          </a:prstGeom>
        </p:spPr>
        <p:txBody>
          <a:bodyPr lIns="0" tIns="0" rIns="0" bIns="0" rtlCol="0" anchor="t">
            <a:spAutoFit/>
          </a:bodyPr>
          <a:lstStyle/>
          <a:p>
            <a:pPr algn="ctr">
              <a:lnSpc>
                <a:spcPts val="2324"/>
              </a:lnSpc>
            </a:pPr>
            <a:r>
              <a:rPr lang="en-US" sz="1937" b="1">
                <a:solidFill>
                  <a:srgbClr val="000000"/>
                </a:solidFill>
                <a:latin typeface="DM Sans Bold"/>
                <a:ea typeface="DM Sans Bold"/>
                <a:cs typeface="DM Sans Bold"/>
                <a:sym typeface="DM Sans Bold"/>
              </a:rPr>
              <a:t>Insight Extraction</a:t>
            </a:r>
          </a:p>
        </p:txBody>
      </p:sp>
      <p:sp>
        <p:nvSpPr>
          <p:cNvPr id="87" name="TextBox 87"/>
          <p:cNvSpPr txBox="1"/>
          <p:nvPr/>
        </p:nvSpPr>
        <p:spPr>
          <a:xfrm>
            <a:off x="15495376" y="5208999"/>
            <a:ext cx="1947589" cy="2478521"/>
          </a:xfrm>
          <a:prstGeom prst="rect">
            <a:avLst/>
          </a:prstGeom>
        </p:spPr>
        <p:txBody>
          <a:bodyPr lIns="0" tIns="0" rIns="0" bIns="0" rtlCol="0" anchor="t">
            <a:spAutoFit/>
          </a:bodyPr>
          <a:lstStyle/>
          <a:p>
            <a:pPr algn="ctr">
              <a:lnSpc>
                <a:spcPts val="2238"/>
              </a:lnSpc>
            </a:pPr>
            <a:r>
              <a:rPr lang="en-US" sz="1721">
                <a:solidFill>
                  <a:srgbClr val="000000"/>
                </a:solidFill>
                <a:latin typeface="DM Sans"/>
                <a:ea typeface="DM Sans"/>
                <a:cs typeface="DM Sans"/>
                <a:sym typeface="DM Sans"/>
              </a:rPr>
              <a:t>Patterns observed from graphs and statistics were interpreted to identify strategic opportunities for Netflix’s content and regional expansion</a:t>
            </a:r>
          </a:p>
        </p:txBody>
      </p:sp>
      <p:sp>
        <p:nvSpPr>
          <p:cNvPr id="88" name="TextBox 88"/>
          <p:cNvSpPr txBox="1"/>
          <p:nvPr/>
        </p:nvSpPr>
        <p:spPr>
          <a:xfrm>
            <a:off x="15692098" y="8253825"/>
            <a:ext cx="1433549" cy="842336"/>
          </a:xfrm>
          <a:prstGeom prst="rect">
            <a:avLst/>
          </a:prstGeom>
        </p:spPr>
        <p:txBody>
          <a:bodyPr lIns="0" tIns="0" rIns="0" bIns="0" rtlCol="0" anchor="t">
            <a:spAutoFit/>
          </a:bodyPr>
          <a:lstStyle/>
          <a:p>
            <a:pPr algn="ctr">
              <a:lnSpc>
                <a:spcPts val="6715"/>
              </a:lnSpc>
              <a:spcBef>
                <a:spcPct val="0"/>
              </a:spcBef>
            </a:pPr>
            <a:r>
              <a:rPr lang="en-US" sz="5165" b="1">
                <a:solidFill>
                  <a:srgbClr val="000000"/>
                </a:solidFill>
                <a:latin typeface="Public Sans Bold"/>
                <a:ea typeface="Public Sans Bold"/>
                <a:cs typeface="Public Sans Bold"/>
                <a:sym typeface="Public Sans Bold"/>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1968368" y="-1356950"/>
            <a:ext cx="3499668" cy="13405540"/>
            <a:chOff x="0" y="0"/>
            <a:chExt cx="4666225" cy="17874053"/>
          </a:xfrm>
        </p:grpSpPr>
        <p:grpSp>
          <p:nvGrpSpPr>
            <p:cNvPr id="3" name="Group 3"/>
            <p:cNvGrpSpPr/>
            <p:nvPr/>
          </p:nvGrpSpPr>
          <p:grpSpPr>
            <a:xfrm>
              <a:off x="0" y="0"/>
              <a:ext cx="4666225" cy="17874053"/>
              <a:chOff x="0" y="0"/>
              <a:chExt cx="212191" cy="812800"/>
            </a:xfrm>
          </p:grpSpPr>
          <p:sp>
            <p:nvSpPr>
              <p:cNvPr id="4" name="Freeform 4"/>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id="5" name="TextBox 5"/>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776635" y="7962218"/>
              <a:ext cx="1323284" cy="132328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9" name="Group 9"/>
            <p:cNvGrpSpPr/>
            <p:nvPr/>
          </p:nvGrpSpPr>
          <p:grpSpPr>
            <a:xfrm>
              <a:off x="3099505" y="6181871"/>
              <a:ext cx="677544" cy="725074"/>
              <a:chOff x="0" y="0"/>
              <a:chExt cx="812800" cy="869819"/>
            </a:xfrm>
          </p:grpSpPr>
          <p:sp>
            <p:nvSpPr>
              <p:cNvPr id="10" name="Freeform 1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1" name="TextBox 1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2" name="Group 12"/>
            <p:cNvGrpSpPr/>
            <p:nvPr/>
          </p:nvGrpSpPr>
          <p:grpSpPr>
            <a:xfrm>
              <a:off x="3099505" y="4404012"/>
              <a:ext cx="677544" cy="725074"/>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5" name="Group 15"/>
            <p:cNvGrpSpPr/>
            <p:nvPr/>
          </p:nvGrpSpPr>
          <p:grpSpPr>
            <a:xfrm>
              <a:off x="3099505" y="7072044"/>
              <a:ext cx="677544" cy="725074"/>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8" name="Group 18"/>
            <p:cNvGrpSpPr/>
            <p:nvPr/>
          </p:nvGrpSpPr>
          <p:grpSpPr>
            <a:xfrm>
              <a:off x="3099505" y="5291697"/>
              <a:ext cx="677544" cy="725074"/>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1" name="Group 21"/>
            <p:cNvGrpSpPr/>
            <p:nvPr/>
          </p:nvGrpSpPr>
          <p:grpSpPr>
            <a:xfrm>
              <a:off x="3099505" y="10328328"/>
              <a:ext cx="677544" cy="725074"/>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4" name="Group 24"/>
            <p:cNvGrpSpPr/>
            <p:nvPr/>
          </p:nvGrpSpPr>
          <p:grpSpPr>
            <a:xfrm>
              <a:off x="3099505" y="9440644"/>
              <a:ext cx="677544" cy="725074"/>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7" name="Group 27"/>
            <p:cNvGrpSpPr/>
            <p:nvPr/>
          </p:nvGrpSpPr>
          <p:grpSpPr>
            <a:xfrm>
              <a:off x="3099505" y="11205802"/>
              <a:ext cx="677544" cy="725074"/>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grpSp>
        <p:nvGrpSpPr>
          <p:cNvPr id="30" name="Group 30"/>
          <p:cNvGrpSpPr/>
          <p:nvPr/>
        </p:nvGrpSpPr>
        <p:grpSpPr>
          <a:xfrm>
            <a:off x="11762088" y="-9632634"/>
            <a:ext cx="10994424" cy="10994424"/>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32" name="TextBox 3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1905238" y="1561865"/>
            <a:ext cx="4594810" cy="3698812"/>
            <a:chOff x="0" y="0"/>
            <a:chExt cx="1656178" cy="1333220"/>
          </a:xfrm>
        </p:grpSpPr>
        <p:sp>
          <p:nvSpPr>
            <p:cNvPr id="34" name="Freeform 34"/>
            <p:cNvSpPr/>
            <p:nvPr/>
          </p:nvSpPr>
          <p:spPr>
            <a:xfrm>
              <a:off x="0" y="0"/>
              <a:ext cx="1656179" cy="1333220"/>
            </a:xfrm>
            <a:custGeom>
              <a:avLst/>
              <a:gdLst/>
              <a:ahLst/>
              <a:cxnLst/>
              <a:rect l="l" t="t" r="r" b="b"/>
              <a:pathLst>
                <a:path w="1656179" h="1333220">
                  <a:moveTo>
                    <a:pt x="0" y="0"/>
                  </a:moveTo>
                  <a:lnTo>
                    <a:pt x="1656179" y="0"/>
                  </a:lnTo>
                  <a:lnTo>
                    <a:pt x="1656179" y="1333220"/>
                  </a:lnTo>
                  <a:lnTo>
                    <a:pt x="0" y="1333220"/>
                  </a:lnTo>
                  <a:close/>
                </a:path>
              </a:pathLst>
            </a:custGeom>
            <a:solidFill>
              <a:srgbClr val="FD6220"/>
            </a:solidFill>
          </p:spPr>
        </p:sp>
        <p:sp>
          <p:nvSpPr>
            <p:cNvPr id="35" name="TextBox 35"/>
            <p:cNvSpPr txBox="1"/>
            <p:nvPr/>
          </p:nvSpPr>
          <p:spPr>
            <a:xfrm>
              <a:off x="0" y="-28575"/>
              <a:ext cx="1656178" cy="1361795"/>
            </a:xfrm>
            <a:prstGeom prst="rect">
              <a:avLst/>
            </a:prstGeom>
          </p:spPr>
          <p:txBody>
            <a:bodyPr lIns="50800" tIns="50800" rIns="50800" bIns="50800" rtlCol="0" anchor="ctr"/>
            <a:lstStyle/>
            <a:p>
              <a:pPr algn="ctr">
                <a:lnSpc>
                  <a:spcPts val="2380"/>
                </a:lnSpc>
              </a:pPr>
              <a:endParaRPr/>
            </a:p>
          </p:txBody>
        </p:sp>
      </p:grpSp>
      <p:sp>
        <p:nvSpPr>
          <p:cNvPr id="36" name="Freeform 36"/>
          <p:cNvSpPr/>
          <p:nvPr/>
        </p:nvSpPr>
        <p:spPr>
          <a:xfrm>
            <a:off x="1947035" y="1595214"/>
            <a:ext cx="4521800" cy="3629791"/>
          </a:xfrm>
          <a:custGeom>
            <a:avLst/>
            <a:gdLst/>
            <a:ahLst/>
            <a:cxnLst/>
            <a:rect l="l" t="t" r="r" b="b"/>
            <a:pathLst>
              <a:path w="4521800" h="3629791">
                <a:moveTo>
                  <a:pt x="0" y="0"/>
                </a:moveTo>
                <a:lnTo>
                  <a:pt x="4521800" y="0"/>
                </a:lnTo>
                <a:lnTo>
                  <a:pt x="4521800" y="3629791"/>
                </a:lnTo>
                <a:lnTo>
                  <a:pt x="0" y="3629791"/>
                </a:lnTo>
                <a:lnTo>
                  <a:pt x="0" y="0"/>
                </a:lnTo>
                <a:close/>
              </a:path>
            </a:pathLst>
          </a:custGeom>
          <a:blipFill>
            <a:blip r:embed="rId2"/>
            <a:stretch>
              <a:fillRect/>
            </a:stretch>
          </a:blipFill>
        </p:spPr>
      </p:sp>
      <p:grpSp>
        <p:nvGrpSpPr>
          <p:cNvPr id="37" name="Group 37"/>
          <p:cNvGrpSpPr/>
          <p:nvPr/>
        </p:nvGrpSpPr>
        <p:grpSpPr>
          <a:xfrm>
            <a:off x="6907724" y="1561865"/>
            <a:ext cx="4931393" cy="3629791"/>
            <a:chOff x="0" y="0"/>
            <a:chExt cx="6575190" cy="4839721"/>
          </a:xfrm>
        </p:grpSpPr>
        <p:grpSp>
          <p:nvGrpSpPr>
            <p:cNvPr id="38" name="Group 38"/>
            <p:cNvGrpSpPr/>
            <p:nvPr/>
          </p:nvGrpSpPr>
          <p:grpSpPr>
            <a:xfrm>
              <a:off x="0" y="0"/>
              <a:ext cx="6575190" cy="4839721"/>
              <a:chOff x="0" y="0"/>
              <a:chExt cx="1811297" cy="1333220"/>
            </a:xfrm>
          </p:grpSpPr>
          <p:sp>
            <p:nvSpPr>
              <p:cNvPr id="39" name="Freeform 39"/>
              <p:cNvSpPr/>
              <p:nvPr/>
            </p:nvSpPr>
            <p:spPr>
              <a:xfrm>
                <a:off x="0" y="0"/>
                <a:ext cx="1811297" cy="1333220"/>
              </a:xfrm>
              <a:custGeom>
                <a:avLst/>
                <a:gdLst/>
                <a:ahLst/>
                <a:cxnLst/>
                <a:rect l="l" t="t" r="r" b="b"/>
                <a:pathLst>
                  <a:path w="1811297" h="1333220">
                    <a:moveTo>
                      <a:pt x="0" y="0"/>
                    </a:moveTo>
                    <a:lnTo>
                      <a:pt x="1811297" y="0"/>
                    </a:lnTo>
                    <a:lnTo>
                      <a:pt x="1811297" y="1333220"/>
                    </a:lnTo>
                    <a:lnTo>
                      <a:pt x="0" y="1333220"/>
                    </a:lnTo>
                    <a:close/>
                  </a:path>
                </a:pathLst>
              </a:custGeom>
              <a:solidFill>
                <a:srgbClr val="FD6220"/>
              </a:solidFill>
            </p:spPr>
          </p:sp>
          <p:sp>
            <p:nvSpPr>
              <p:cNvPr id="40" name="TextBox 40"/>
              <p:cNvSpPr txBox="1"/>
              <p:nvPr/>
            </p:nvSpPr>
            <p:spPr>
              <a:xfrm>
                <a:off x="0" y="-28575"/>
                <a:ext cx="1811297" cy="1361795"/>
              </a:xfrm>
              <a:prstGeom prst="rect">
                <a:avLst/>
              </a:prstGeom>
            </p:spPr>
            <p:txBody>
              <a:bodyPr lIns="50800" tIns="50800" rIns="50800" bIns="50800" rtlCol="0" anchor="ctr"/>
              <a:lstStyle/>
              <a:p>
                <a:pPr algn="ctr">
                  <a:lnSpc>
                    <a:spcPts val="2380"/>
                  </a:lnSpc>
                </a:pPr>
                <a:endParaRPr/>
              </a:p>
            </p:txBody>
          </p:sp>
        </p:grpSp>
        <p:sp>
          <p:nvSpPr>
            <p:cNvPr id="41" name="Freeform 41"/>
            <p:cNvSpPr/>
            <p:nvPr/>
          </p:nvSpPr>
          <p:spPr>
            <a:xfrm>
              <a:off x="54147" y="43636"/>
              <a:ext cx="6473204" cy="4749411"/>
            </a:xfrm>
            <a:custGeom>
              <a:avLst/>
              <a:gdLst/>
              <a:ahLst/>
              <a:cxnLst/>
              <a:rect l="l" t="t" r="r" b="b"/>
              <a:pathLst>
                <a:path w="6473204" h="4749411">
                  <a:moveTo>
                    <a:pt x="0" y="0"/>
                  </a:moveTo>
                  <a:lnTo>
                    <a:pt x="6473204" y="0"/>
                  </a:lnTo>
                  <a:lnTo>
                    <a:pt x="6473204" y="4749411"/>
                  </a:lnTo>
                  <a:lnTo>
                    <a:pt x="0" y="4749411"/>
                  </a:lnTo>
                  <a:lnTo>
                    <a:pt x="0" y="0"/>
                  </a:lnTo>
                  <a:close/>
                </a:path>
              </a:pathLst>
            </a:custGeom>
            <a:blipFill>
              <a:blip r:embed="rId3"/>
              <a:stretch>
                <a:fillRect/>
              </a:stretch>
            </a:blipFill>
          </p:spPr>
        </p:sp>
      </p:grpSp>
      <p:sp>
        <p:nvSpPr>
          <p:cNvPr id="42" name="AutoShape 42"/>
          <p:cNvSpPr/>
          <p:nvPr/>
        </p:nvSpPr>
        <p:spPr>
          <a:xfrm flipH="1">
            <a:off x="6779875" y="2066690"/>
            <a:ext cx="0" cy="6498324"/>
          </a:xfrm>
          <a:prstGeom prst="line">
            <a:avLst/>
          </a:prstGeom>
          <a:ln w="19050" cap="flat">
            <a:solidFill>
              <a:srgbClr val="FF5940"/>
            </a:solidFill>
            <a:prstDash val="solid"/>
            <a:headEnd type="none" w="sm" len="sm"/>
            <a:tailEnd type="oval" w="lg" len="lg"/>
          </a:ln>
        </p:spPr>
      </p:sp>
      <p:grpSp>
        <p:nvGrpSpPr>
          <p:cNvPr id="43" name="Group 43"/>
          <p:cNvGrpSpPr/>
          <p:nvPr/>
        </p:nvGrpSpPr>
        <p:grpSpPr>
          <a:xfrm>
            <a:off x="6894175" y="5345820"/>
            <a:ext cx="5284495" cy="3304338"/>
            <a:chOff x="0" y="0"/>
            <a:chExt cx="2975994" cy="1860857"/>
          </a:xfrm>
        </p:grpSpPr>
        <p:sp>
          <p:nvSpPr>
            <p:cNvPr id="44" name="Freeform 44"/>
            <p:cNvSpPr/>
            <p:nvPr/>
          </p:nvSpPr>
          <p:spPr>
            <a:xfrm>
              <a:off x="0" y="0"/>
              <a:ext cx="2975994" cy="1860857"/>
            </a:xfrm>
            <a:custGeom>
              <a:avLst/>
              <a:gdLst/>
              <a:ahLst/>
              <a:cxnLst/>
              <a:rect l="l" t="t" r="r" b="b"/>
              <a:pathLst>
                <a:path w="2975994" h="1860857">
                  <a:moveTo>
                    <a:pt x="0" y="0"/>
                  </a:moveTo>
                  <a:lnTo>
                    <a:pt x="2975994" y="0"/>
                  </a:lnTo>
                  <a:lnTo>
                    <a:pt x="2975994" y="1860857"/>
                  </a:lnTo>
                  <a:lnTo>
                    <a:pt x="0" y="1860857"/>
                  </a:lnTo>
                  <a:close/>
                </a:path>
              </a:pathLst>
            </a:custGeom>
            <a:solidFill>
              <a:srgbClr val="FFF5B6"/>
            </a:solidFill>
          </p:spPr>
        </p:sp>
      </p:grpSp>
      <p:sp>
        <p:nvSpPr>
          <p:cNvPr id="45" name="TextBox 45"/>
          <p:cNvSpPr txBox="1"/>
          <p:nvPr/>
        </p:nvSpPr>
        <p:spPr>
          <a:xfrm>
            <a:off x="6907724" y="5361001"/>
            <a:ext cx="5571195" cy="247002"/>
          </a:xfrm>
          <a:prstGeom prst="rect">
            <a:avLst/>
          </a:prstGeom>
        </p:spPr>
        <p:txBody>
          <a:bodyPr lIns="0" tIns="0" rIns="0" bIns="0" rtlCol="0" anchor="t">
            <a:spAutoFit/>
          </a:bodyPr>
          <a:lstStyle/>
          <a:p>
            <a:pPr algn="ctr">
              <a:lnSpc>
                <a:spcPts val="2016"/>
              </a:lnSpc>
            </a:pPr>
            <a:r>
              <a:rPr lang="en-US" sz="1551" b="1">
                <a:solidFill>
                  <a:srgbClr val="000000"/>
                </a:solidFill>
                <a:latin typeface="Open Sans Bold"/>
                <a:ea typeface="Open Sans Bold"/>
                <a:cs typeface="Open Sans Bold"/>
                <a:sym typeface="Open Sans Bold"/>
              </a:rPr>
              <a:t>Top 10 Most Common Genres on Netflix</a:t>
            </a:r>
          </a:p>
        </p:txBody>
      </p:sp>
      <p:sp>
        <p:nvSpPr>
          <p:cNvPr id="46" name="AutoShape 46"/>
          <p:cNvSpPr/>
          <p:nvPr/>
        </p:nvSpPr>
        <p:spPr>
          <a:xfrm>
            <a:off x="12309708" y="1561865"/>
            <a:ext cx="0" cy="7003149"/>
          </a:xfrm>
          <a:prstGeom prst="line">
            <a:avLst/>
          </a:prstGeom>
          <a:ln w="19050" cap="flat">
            <a:solidFill>
              <a:srgbClr val="FF5940"/>
            </a:solidFill>
            <a:prstDash val="solid"/>
            <a:headEnd type="none" w="sm" len="sm"/>
            <a:tailEnd type="oval" w="lg" len="lg"/>
          </a:ln>
        </p:spPr>
      </p:sp>
      <p:grpSp>
        <p:nvGrpSpPr>
          <p:cNvPr id="47" name="Group 47"/>
          <p:cNvGrpSpPr/>
          <p:nvPr/>
        </p:nvGrpSpPr>
        <p:grpSpPr>
          <a:xfrm>
            <a:off x="12621794" y="1526322"/>
            <a:ext cx="5125713" cy="3734355"/>
            <a:chOff x="0" y="0"/>
            <a:chExt cx="6834284" cy="4979140"/>
          </a:xfrm>
        </p:grpSpPr>
        <p:grpSp>
          <p:nvGrpSpPr>
            <p:cNvPr id="48" name="Group 48"/>
            <p:cNvGrpSpPr/>
            <p:nvPr/>
          </p:nvGrpSpPr>
          <p:grpSpPr>
            <a:xfrm>
              <a:off x="0" y="0"/>
              <a:ext cx="6834284" cy="4979140"/>
              <a:chOff x="0" y="0"/>
              <a:chExt cx="1406569" cy="1024760"/>
            </a:xfrm>
          </p:grpSpPr>
          <p:sp>
            <p:nvSpPr>
              <p:cNvPr id="49" name="Freeform 49"/>
              <p:cNvSpPr/>
              <p:nvPr/>
            </p:nvSpPr>
            <p:spPr>
              <a:xfrm>
                <a:off x="0" y="0"/>
                <a:ext cx="1406569" cy="1024760"/>
              </a:xfrm>
              <a:custGeom>
                <a:avLst/>
                <a:gdLst/>
                <a:ahLst/>
                <a:cxnLst/>
                <a:rect l="l" t="t" r="r" b="b"/>
                <a:pathLst>
                  <a:path w="1406569" h="1024760">
                    <a:moveTo>
                      <a:pt x="0" y="0"/>
                    </a:moveTo>
                    <a:lnTo>
                      <a:pt x="1406569" y="0"/>
                    </a:lnTo>
                    <a:lnTo>
                      <a:pt x="1406569" y="1024760"/>
                    </a:lnTo>
                    <a:lnTo>
                      <a:pt x="0" y="1024760"/>
                    </a:lnTo>
                    <a:close/>
                  </a:path>
                </a:pathLst>
              </a:custGeom>
              <a:solidFill>
                <a:srgbClr val="FD6220"/>
              </a:solidFill>
            </p:spPr>
          </p:sp>
          <p:sp>
            <p:nvSpPr>
              <p:cNvPr id="50" name="TextBox 50"/>
              <p:cNvSpPr txBox="1"/>
              <p:nvPr/>
            </p:nvSpPr>
            <p:spPr>
              <a:xfrm>
                <a:off x="0" y="-28575"/>
                <a:ext cx="1406569" cy="1053335"/>
              </a:xfrm>
              <a:prstGeom prst="rect">
                <a:avLst/>
              </a:prstGeom>
            </p:spPr>
            <p:txBody>
              <a:bodyPr lIns="50800" tIns="50800" rIns="50800" bIns="50800" rtlCol="0" anchor="ctr"/>
              <a:lstStyle/>
              <a:p>
                <a:pPr algn="ctr">
                  <a:lnSpc>
                    <a:spcPts val="2380"/>
                  </a:lnSpc>
                </a:pPr>
                <a:endParaRPr/>
              </a:p>
            </p:txBody>
          </p:sp>
        </p:grpSp>
        <p:sp>
          <p:nvSpPr>
            <p:cNvPr id="51" name="Freeform 51"/>
            <p:cNvSpPr/>
            <p:nvPr/>
          </p:nvSpPr>
          <p:spPr>
            <a:xfrm>
              <a:off x="52097" y="45484"/>
              <a:ext cx="6730091" cy="4886104"/>
            </a:xfrm>
            <a:custGeom>
              <a:avLst/>
              <a:gdLst/>
              <a:ahLst/>
              <a:cxnLst/>
              <a:rect l="l" t="t" r="r" b="b"/>
              <a:pathLst>
                <a:path w="6730091" h="4886104">
                  <a:moveTo>
                    <a:pt x="0" y="0"/>
                  </a:moveTo>
                  <a:lnTo>
                    <a:pt x="6730091" y="0"/>
                  </a:lnTo>
                  <a:lnTo>
                    <a:pt x="6730091" y="4886105"/>
                  </a:lnTo>
                  <a:lnTo>
                    <a:pt x="0" y="4886105"/>
                  </a:lnTo>
                  <a:lnTo>
                    <a:pt x="0" y="0"/>
                  </a:lnTo>
                  <a:close/>
                </a:path>
              </a:pathLst>
            </a:custGeom>
            <a:blipFill>
              <a:blip r:embed="rId4"/>
              <a:stretch>
                <a:fillRect b="-2113"/>
              </a:stretch>
            </a:blipFill>
          </p:spPr>
        </p:sp>
      </p:grpSp>
      <p:sp>
        <p:nvSpPr>
          <p:cNvPr id="52" name="TextBox 52"/>
          <p:cNvSpPr txBox="1"/>
          <p:nvPr/>
        </p:nvSpPr>
        <p:spPr>
          <a:xfrm>
            <a:off x="1531300" y="339726"/>
            <a:ext cx="16949138" cy="688974"/>
          </a:xfrm>
          <a:prstGeom prst="rect">
            <a:avLst/>
          </a:prstGeom>
        </p:spPr>
        <p:txBody>
          <a:bodyPr lIns="0" tIns="0" rIns="0" bIns="0" rtlCol="0" anchor="t">
            <a:spAutoFit/>
          </a:bodyPr>
          <a:lstStyle/>
          <a:p>
            <a:pPr algn="l">
              <a:lnSpc>
                <a:spcPts val="5600"/>
              </a:lnSpc>
              <a:spcBef>
                <a:spcPct val="0"/>
              </a:spcBef>
            </a:pPr>
            <a:r>
              <a:rPr lang="en-US" sz="4000" b="1">
                <a:solidFill>
                  <a:srgbClr val="191919"/>
                </a:solidFill>
                <a:latin typeface="Gotham Bold"/>
                <a:ea typeface="Gotham Bold"/>
                <a:cs typeface="Gotham Bold"/>
                <a:sym typeface="Gotham Bold"/>
              </a:rPr>
              <a:t>CONTENT DISTRIBUTION AND GLOBAL PATTERNS</a:t>
            </a:r>
          </a:p>
        </p:txBody>
      </p:sp>
      <p:grpSp>
        <p:nvGrpSpPr>
          <p:cNvPr id="53" name="Group 53"/>
          <p:cNvGrpSpPr/>
          <p:nvPr/>
        </p:nvGrpSpPr>
        <p:grpSpPr>
          <a:xfrm>
            <a:off x="1633381" y="5345820"/>
            <a:ext cx="5018644" cy="3304338"/>
            <a:chOff x="0" y="0"/>
            <a:chExt cx="2826279" cy="1860857"/>
          </a:xfrm>
        </p:grpSpPr>
        <p:sp>
          <p:nvSpPr>
            <p:cNvPr id="54" name="Freeform 54"/>
            <p:cNvSpPr/>
            <p:nvPr/>
          </p:nvSpPr>
          <p:spPr>
            <a:xfrm>
              <a:off x="0" y="0"/>
              <a:ext cx="2826279" cy="1860857"/>
            </a:xfrm>
            <a:custGeom>
              <a:avLst/>
              <a:gdLst/>
              <a:ahLst/>
              <a:cxnLst/>
              <a:rect l="l" t="t" r="r" b="b"/>
              <a:pathLst>
                <a:path w="2826279" h="1860857">
                  <a:moveTo>
                    <a:pt x="0" y="0"/>
                  </a:moveTo>
                  <a:lnTo>
                    <a:pt x="2826279" y="0"/>
                  </a:lnTo>
                  <a:lnTo>
                    <a:pt x="2826279" y="1860857"/>
                  </a:lnTo>
                  <a:lnTo>
                    <a:pt x="0" y="1860857"/>
                  </a:lnTo>
                  <a:close/>
                </a:path>
              </a:pathLst>
            </a:custGeom>
            <a:solidFill>
              <a:srgbClr val="FFF5B6"/>
            </a:solidFill>
          </p:spPr>
        </p:sp>
      </p:grpSp>
      <p:sp>
        <p:nvSpPr>
          <p:cNvPr id="55" name="TextBox 55"/>
          <p:cNvSpPr txBox="1"/>
          <p:nvPr/>
        </p:nvSpPr>
        <p:spPr>
          <a:xfrm>
            <a:off x="1814619" y="5805157"/>
            <a:ext cx="4837407" cy="2197457"/>
          </a:xfrm>
          <a:prstGeom prst="rect">
            <a:avLst/>
          </a:prstGeom>
        </p:spPr>
        <p:txBody>
          <a:bodyPr lIns="0" tIns="0" rIns="0" bIns="0" rtlCol="0" anchor="t">
            <a:spAutoFit/>
          </a:bodyPr>
          <a:lstStyle/>
          <a:p>
            <a:pPr algn="l">
              <a:lnSpc>
                <a:spcPts val="2238"/>
              </a:lnSpc>
            </a:pPr>
            <a:r>
              <a:rPr lang="en-US" sz="1721">
                <a:solidFill>
                  <a:srgbClr val="000000"/>
                </a:solidFill>
                <a:latin typeface="DM Sans"/>
                <a:ea typeface="DM Sans"/>
                <a:cs typeface="DM Sans"/>
                <a:sym typeface="DM Sans"/>
              </a:rPr>
              <a:t>This chart shows that movies make up most of Netflix’s catalog, reflecting the platform’s earlier focus on film-based content. However, TV shows have grown noticeably in recent years, mainly due to the success of Netflix Originals and the demand for long-form storytelling. This shift highlights Netflix’s evolving strategy to keep viewers engaged for longer periods.</a:t>
            </a:r>
          </a:p>
        </p:txBody>
      </p:sp>
      <p:sp>
        <p:nvSpPr>
          <p:cNvPr id="56" name="TextBox 56"/>
          <p:cNvSpPr txBox="1"/>
          <p:nvPr/>
        </p:nvSpPr>
        <p:spPr>
          <a:xfrm>
            <a:off x="1905238" y="5441701"/>
            <a:ext cx="4647533" cy="247002"/>
          </a:xfrm>
          <a:prstGeom prst="rect">
            <a:avLst/>
          </a:prstGeom>
        </p:spPr>
        <p:txBody>
          <a:bodyPr lIns="0" tIns="0" rIns="0" bIns="0" rtlCol="0" anchor="t">
            <a:spAutoFit/>
          </a:bodyPr>
          <a:lstStyle/>
          <a:p>
            <a:pPr algn="ctr">
              <a:lnSpc>
                <a:spcPts val="2016"/>
              </a:lnSpc>
            </a:pPr>
            <a:r>
              <a:rPr lang="en-US" sz="1551" b="1">
                <a:solidFill>
                  <a:srgbClr val="000000"/>
                </a:solidFill>
                <a:latin typeface="Open Sans Bold"/>
                <a:ea typeface="Open Sans Bold"/>
                <a:cs typeface="Open Sans Bold"/>
                <a:sym typeface="Open Sans Bold"/>
              </a:rPr>
              <a:t>Movies vs TV Shows on Netflix</a:t>
            </a:r>
          </a:p>
        </p:txBody>
      </p:sp>
      <p:sp>
        <p:nvSpPr>
          <p:cNvPr id="57" name="TextBox 57"/>
          <p:cNvSpPr txBox="1"/>
          <p:nvPr/>
        </p:nvSpPr>
        <p:spPr>
          <a:xfrm>
            <a:off x="7026656" y="5805157"/>
            <a:ext cx="5111602" cy="2197457"/>
          </a:xfrm>
          <a:prstGeom prst="rect">
            <a:avLst/>
          </a:prstGeom>
        </p:spPr>
        <p:txBody>
          <a:bodyPr lIns="0" tIns="0" rIns="0" bIns="0" rtlCol="0" anchor="t">
            <a:spAutoFit/>
          </a:bodyPr>
          <a:lstStyle/>
          <a:p>
            <a:pPr algn="l">
              <a:lnSpc>
                <a:spcPts val="2238"/>
              </a:lnSpc>
            </a:pPr>
            <a:r>
              <a:rPr lang="en-US" sz="1721">
                <a:solidFill>
                  <a:srgbClr val="000000"/>
                </a:solidFill>
                <a:latin typeface="DM Sans"/>
                <a:ea typeface="DM Sans"/>
                <a:cs typeface="DM Sans"/>
                <a:sym typeface="DM Sans"/>
              </a:rPr>
              <a:t>The genre distribution shows that Drama, Comedy, and Documentaries dominate the platform, suggesting that Netflix prioritizes emotionally engaging and globally relatable storytelling. The strong presence of international genres also indicates Netflix’s effort to cater to a wide audience base across different regions and cultural preferences.</a:t>
            </a:r>
          </a:p>
        </p:txBody>
      </p:sp>
      <p:grpSp>
        <p:nvGrpSpPr>
          <p:cNvPr id="58" name="Group 58"/>
          <p:cNvGrpSpPr/>
          <p:nvPr/>
        </p:nvGrpSpPr>
        <p:grpSpPr>
          <a:xfrm>
            <a:off x="12478919" y="5345820"/>
            <a:ext cx="5430217" cy="3304338"/>
            <a:chOff x="0" y="0"/>
            <a:chExt cx="3058058" cy="1860857"/>
          </a:xfrm>
        </p:grpSpPr>
        <p:sp>
          <p:nvSpPr>
            <p:cNvPr id="59" name="Freeform 59"/>
            <p:cNvSpPr/>
            <p:nvPr/>
          </p:nvSpPr>
          <p:spPr>
            <a:xfrm>
              <a:off x="0" y="0"/>
              <a:ext cx="3058058" cy="1860857"/>
            </a:xfrm>
            <a:custGeom>
              <a:avLst/>
              <a:gdLst/>
              <a:ahLst/>
              <a:cxnLst/>
              <a:rect l="l" t="t" r="r" b="b"/>
              <a:pathLst>
                <a:path w="3058058" h="1860857">
                  <a:moveTo>
                    <a:pt x="0" y="0"/>
                  </a:moveTo>
                  <a:lnTo>
                    <a:pt x="3058058" y="0"/>
                  </a:lnTo>
                  <a:lnTo>
                    <a:pt x="3058058" y="1860857"/>
                  </a:lnTo>
                  <a:lnTo>
                    <a:pt x="0" y="1860857"/>
                  </a:lnTo>
                  <a:close/>
                </a:path>
              </a:pathLst>
            </a:custGeom>
            <a:solidFill>
              <a:srgbClr val="FFF5B6"/>
            </a:solidFill>
          </p:spPr>
        </p:sp>
      </p:grpSp>
      <p:sp>
        <p:nvSpPr>
          <p:cNvPr id="60" name="TextBox 60"/>
          <p:cNvSpPr txBox="1"/>
          <p:nvPr/>
        </p:nvSpPr>
        <p:spPr>
          <a:xfrm>
            <a:off x="12621794" y="5361001"/>
            <a:ext cx="5263095" cy="247002"/>
          </a:xfrm>
          <a:prstGeom prst="rect">
            <a:avLst/>
          </a:prstGeom>
        </p:spPr>
        <p:txBody>
          <a:bodyPr lIns="0" tIns="0" rIns="0" bIns="0" rtlCol="0" anchor="t">
            <a:spAutoFit/>
          </a:bodyPr>
          <a:lstStyle/>
          <a:p>
            <a:pPr algn="ctr">
              <a:lnSpc>
                <a:spcPts val="2016"/>
              </a:lnSpc>
            </a:pPr>
            <a:r>
              <a:rPr lang="en-US" sz="1551" b="1">
                <a:solidFill>
                  <a:srgbClr val="000000"/>
                </a:solidFill>
                <a:latin typeface="Open Sans Bold"/>
                <a:ea typeface="Open Sans Bold"/>
                <a:cs typeface="Open Sans Bold"/>
                <a:sym typeface="Open Sans Bold"/>
              </a:rPr>
              <a:t>Top 10 Countries by Number of Titles</a:t>
            </a:r>
          </a:p>
        </p:txBody>
      </p:sp>
      <p:sp>
        <p:nvSpPr>
          <p:cNvPr id="61" name="TextBox 61"/>
          <p:cNvSpPr txBox="1"/>
          <p:nvPr/>
        </p:nvSpPr>
        <p:spPr>
          <a:xfrm>
            <a:off x="12576408" y="5805157"/>
            <a:ext cx="5249584" cy="2197457"/>
          </a:xfrm>
          <a:prstGeom prst="rect">
            <a:avLst/>
          </a:prstGeom>
        </p:spPr>
        <p:txBody>
          <a:bodyPr lIns="0" tIns="0" rIns="0" bIns="0" rtlCol="0" anchor="t">
            <a:spAutoFit/>
          </a:bodyPr>
          <a:lstStyle/>
          <a:p>
            <a:pPr algn="l">
              <a:lnSpc>
                <a:spcPts val="2238"/>
              </a:lnSpc>
            </a:pPr>
            <a:r>
              <a:rPr lang="en-US" sz="1721">
                <a:solidFill>
                  <a:srgbClr val="000000"/>
                </a:solidFill>
                <a:latin typeface="DM Sans"/>
                <a:ea typeface="DM Sans"/>
                <a:cs typeface="DM Sans"/>
                <a:sym typeface="DM Sans"/>
              </a:rPr>
              <a:t>The U.S. leads by a large margin in total content, followed by India and the U.K., showing Netflix’s strong dependence on major production hubs. This uneven distribution highlights how certain countries are highly represented while others remain underserved. These insights point toward potential expansion opportunities in underrepresented regions to build a more globally diverse catalog.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1619248" y="5431363"/>
            <a:ext cx="4847171" cy="3986833"/>
            <a:chOff x="0" y="0"/>
            <a:chExt cx="2729713" cy="2245208"/>
          </a:xfrm>
        </p:grpSpPr>
        <p:sp>
          <p:nvSpPr>
            <p:cNvPr id="3" name="Freeform 3"/>
            <p:cNvSpPr/>
            <p:nvPr/>
          </p:nvSpPr>
          <p:spPr>
            <a:xfrm>
              <a:off x="0" y="0"/>
              <a:ext cx="2729713" cy="2245208"/>
            </a:xfrm>
            <a:custGeom>
              <a:avLst/>
              <a:gdLst/>
              <a:ahLst/>
              <a:cxnLst/>
              <a:rect l="l" t="t" r="r" b="b"/>
              <a:pathLst>
                <a:path w="2729713" h="2245208">
                  <a:moveTo>
                    <a:pt x="0" y="0"/>
                  </a:moveTo>
                  <a:lnTo>
                    <a:pt x="2729713" y="0"/>
                  </a:lnTo>
                  <a:lnTo>
                    <a:pt x="2729713" y="2245208"/>
                  </a:lnTo>
                  <a:lnTo>
                    <a:pt x="0" y="2245208"/>
                  </a:lnTo>
                  <a:close/>
                </a:path>
              </a:pathLst>
            </a:custGeom>
            <a:solidFill>
              <a:srgbClr val="FFF5B6"/>
            </a:solidFill>
          </p:spPr>
        </p:sp>
      </p:grpSp>
      <p:grpSp>
        <p:nvGrpSpPr>
          <p:cNvPr id="4" name="Group 4"/>
          <p:cNvGrpSpPr/>
          <p:nvPr/>
        </p:nvGrpSpPr>
        <p:grpSpPr>
          <a:xfrm>
            <a:off x="-2013770" y="-1414282"/>
            <a:ext cx="3499668" cy="13405540"/>
            <a:chOff x="0" y="0"/>
            <a:chExt cx="212191" cy="812800"/>
          </a:xfrm>
        </p:grpSpPr>
        <p:sp>
          <p:nvSpPr>
            <p:cNvPr id="5" name="Freeform 5"/>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id="6" name="TextBox 6"/>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94937" y="5220250"/>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0" name="Group 10"/>
          <p:cNvGrpSpPr/>
          <p:nvPr/>
        </p:nvGrpSpPr>
        <p:grpSpPr>
          <a:xfrm>
            <a:off x="337090" y="3217359"/>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337090" y="1883965"/>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337090" y="388498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337090" y="2549728"/>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337090" y="6327201"/>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337090" y="455261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337090" y="6994832"/>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1" name="Group 31"/>
          <p:cNvGrpSpPr/>
          <p:nvPr/>
        </p:nvGrpSpPr>
        <p:grpSpPr>
          <a:xfrm>
            <a:off x="11762088" y="-9632634"/>
            <a:ext cx="10994424" cy="10994424"/>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33" name="TextBox 33"/>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1766834" y="1561865"/>
            <a:ext cx="4594810" cy="3698812"/>
            <a:chOff x="0" y="0"/>
            <a:chExt cx="6126414" cy="4931749"/>
          </a:xfrm>
        </p:grpSpPr>
        <p:grpSp>
          <p:nvGrpSpPr>
            <p:cNvPr id="35" name="Group 35"/>
            <p:cNvGrpSpPr/>
            <p:nvPr/>
          </p:nvGrpSpPr>
          <p:grpSpPr>
            <a:xfrm>
              <a:off x="0" y="0"/>
              <a:ext cx="6126414" cy="4931749"/>
              <a:chOff x="0" y="0"/>
              <a:chExt cx="1656178" cy="1333220"/>
            </a:xfrm>
          </p:grpSpPr>
          <p:sp>
            <p:nvSpPr>
              <p:cNvPr id="36" name="Freeform 36"/>
              <p:cNvSpPr/>
              <p:nvPr/>
            </p:nvSpPr>
            <p:spPr>
              <a:xfrm>
                <a:off x="0" y="0"/>
                <a:ext cx="1656179" cy="1333220"/>
              </a:xfrm>
              <a:custGeom>
                <a:avLst/>
                <a:gdLst/>
                <a:ahLst/>
                <a:cxnLst/>
                <a:rect l="l" t="t" r="r" b="b"/>
                <a:pathLst>
                  <a:path w="1656179" h="1333220">
                    <a:moveTo>
                      <a:pt x="0" y="0"/>
                    </a:moveTo>
                    <a:lnTo>
                      <a:pt x="1656179" y="0"/>
                    </a:lnTo>
                    <a:lnTo>
                      <a:pt x="1656179" y="1333220"/>
                    </a:lnTo>
                    <a:lnTo>
                      <a:pt x="0" y="1333220"/>
                    </a:lnTo>
                    <a:close/>
                  </a:path>
                </a:pathLst>
              </a:custGeom>
              <a:solidFill>
                <a:srgbClr val="FD6220"/>
              </a:solidFill>
            </p:spPr>
          </p:sp>
          <p:sp>
            <p:nvSpPr>
              <p:cNvPr id="37" name="TextBox 37"/>
              <p:cNvSpPr txBox="1"/>
              <p:nvPr/>
            </p:nvSpPr>
            <p:spPr>
              <a:xfrm>
                <a:off x="0" y="-28575"/>
                <a:ext cx="1656178" cy="1361795"/>
              </a:xfrm>
              <a:prstGeom prst="rect">
                <a:avLst/>
              </a:prstGeom>
            </p:spPr>
            <p:txBody>
              <a:bodyPr lIns="50800" tIns="50800" rIns="50800" bIns="50800" rtlCol="0" anchor="ctr"/>
              <a:lstStyle/>
              <a:p>
                <a:pPr algn="ctr">
                  <a:lnSpc>
                    <a:spcPts val="2380"/>
                  </a:lnSpc>
                </a:pPr>
                <a:endParaRPr/>
              </a:p>
            </p:txBody>
          </p:sp>
        </p:grpSp>
        <p:sp>
          <p:nvSpPr>
            <p:cNvPr id="38" name="Freeform 38"/>
            <p:cNvSpPr/>
            <p:nvPr/>
          </p:nvSpPr>
          <p:spPr>
            <a:xfrm>
              <a:off x="85913" y="83110"/>
              <a:ext cx="5954588" cy="4765528"/>
            </a:xfrm>
            <a:custGeom>
              <a:avLst/>
              <a:gdLst/>
              <a:ahLst/>
              <a:cxnLst/>
              <a:rect l="l" t="t" r="r" b="b"/>
              <a:pathLst>
                <a:path w="5954588" h="4765528">
                  <a:moveTo>
                    <a:pt x="0" y="0"/>
                  </a:moveTo>
                  <a:lnTo>
                    <a:pt x="5954588" y="0"/>
                  </a:lnTo>
                  <a:lnTo>
                    <a:pt x="5954588" y="4765528"/>
                  </a:lnTo>
                  <a:lnTo>
                    <a:pt x="0" y="4765528"/>
                  </a:lnTo>
                  <a:lnTo>
                    <a:pt x="0" y="0"/>
                  </a:lnTo>
                  <a:close/>
                </a:path>
              </a:pathLst>
            </a:custGeom>
            <a:blipFill>
              <a:blip r:embed="rId2"/>
              <a:stretch>
                <a:fillRect/>
              </a:stretch>
            </a:blipFill>
          </p:spPr>
        </p:sp>
      </p:grpSp>
      <p:grpSp>
        <p:nvGrpSpPr>
          <p:cNvPr id="39" name="Group 39"/>
          <p:cNvGrpSpPr/>
          <p:nvPr/>
        </p:nvGrpSpPr>
        <p:grpSpPr>
          <a:xfrm>
            <a:off x="12590704" y="1520773"/>
            <a:ext cx="4557893" cy="3780995"/>
            <a:chOff x="0" y="0"/>
            <a:chExt cx="6077190" cy="5041326"/>
          </a:xfrm>
        </p:grpSpPr>
        <p:grpSp>
          <p:nvGrpSpPr>
            <p:cNvPr id="40" name="Group 40"/>
            <p:cNvGrpSpPr/>
            <p:nvPr/>
          </p:nvGrpSpPr>
          <p:grpSpPr>
            <a:xfrm>
              <a:off x="0" y="0"/>
              <a:ext cx="6077190" cy="5041326"/>
              <a:chOff x="0" y="0"/>
              <a:chExt cx="1615904" cy="1340471"/>
            </a:xfrm>
          </p:grpSpPr>
          <p:sp>
            <p:nvSpPr>
              <p:cNvPr id="41" name="Freeform 41"/>
              <p:cNvSpPr/>
              <p:nvPr/>
            </p:nvSpPr>
            <p:spPr>
              <a:xfrm>
                <a:off x="0" y="0"/>
                <a:ext cx="1615903" cy="1340471"/>
              </a:xfrm>
              <a:custGeom>
                <a:avLst/>
                <a:gdLst/>
                <a:ahLst/>
                <a:cxnLst/>
                <a:rect l="l" t="t" r="r" b="b"/>
                <a:pathLst>
                  <a:path w="1615903" h="1340471">
                    <a:moveTo>
                      <a:pt x="0" y="0"/>
                    </a:moveTo>
                    <a:lnTo>
                      <a:pt x="1615903" y="0"/>
                    </a:lnTo>
                    <a:lnTo>
                      <a:pt x="1615903" y="1340471"/>
                    </a:lnTo>
                    <a:lnTo>
                      <a:pt x="0" y="1340471"/>
                    </a:lnTo>
                    <a:close/>
                  </a:path>
                </a:pathLst>
              </a:custGeom>
              <a:solidFill>
                <a:srgbClr val="FD6220"/>
              </a:solidFill>
            </p:spPr>
          </p:sp>
          <p:sp>
            <p:nvSpPr>
              <p:cNvPr id="42" name="TextBox 42"/>
              <p:cNvSpPr txBox="1"/>
              <p:nvPr/>
            </p:nvSpPr>
            <p:spPr>
              <a:xfrm>
                <a:off x="0" y="-28575"/>
                <a:ext cx="1615904" cy="1369046"/>
              </a:xfrm>
              <a:prstGeom prst="rect">
                <a:avLst/>
              </a:prstGeom>
            </p:spPr>
            <p:txBody>
              <a:bodyPr lIns="50800" tIns="50800" rIns="50800" bIns="50800" rtlCol="0" anchor="ctr"/>
              <a:lstStyle/>
              <a:p>
                <a:pPr algn="ctr">
                  <a:lnSpc>
                    <a:spcPts val="2379"/>
                  </a:lnSpc>
                </a:pPr>
                <a:endParaRPr/>
              </a:p>
            </p:txBody>
          </p:sp>
        </p:grpSp>
        <p:sp>
          <p:nvSpPr>
            <p:cNvPr id="43" name="Freeform 43"/>
            <p:cNvSpPr/>
            <p:nvPr/>
          </p:nvSpPr>
          <p:spPr>
            <a:xfrm>
              <a:off x="59674" y="54850"/>
              <a:ext cx="5950515" cy="4916491"/>
            </a:xfrm>
            <a:custGeom>
              <a:avLst/>
              <a:gdLst/>
              <a:ahLst/>
              <a:cxnLst/>
              <a:rect l="l" t="t" r="r" b="b"/>
              <a:pathLst>
                <a:path w="5950515" h="4916491">
                  <a:moveTo>
                    <a:pt x="0" y="0"/>
                  </a:moveTo>
                  <a:lnTo>
                    <a:pt x="5950515" y="0"/>
                  </a:lnTo>
                  <a:lnTo>
                    <a:pt x="5950515" y="4916492"/>
                  </a:lnTo>
                  <a:lnTo>
                    <a:pt x="0" y="4916492"/>
                  </a:lnTo>
                  <a:lnTo>
                    <a:pt x="0" y="0"/>
                  </a:lnTo>
                  <a:close/>
                </a:path>
              </a:pathLst>
            </a:custGeom>
            <a:blipFill>
              <a:blip r:embed="rId3"/>
              <a:stretch>
                <a:fillRect/>
              </a:stretch>
            </a:blipFill>
          </p:spPr>
        </p:sp>
      </p:grpSp>
      <p:grpSp>
        <p:nvGrpSpPr>
          <p:cNvPr id="44" name="Group 44"/>
          <p:cNvGrpSpPr/>
          <p:nvPr/>
        </p:nvGrpSpPr>
        <p:grpSpPr>
          <a:xfrm>
            <a:off x="7179538" y="1507494"/>
            <a:ext cx="4849926" cy="3780995"/>
            <a:chOff x="0" y="0"/>
            <a:chExt cx="6466568" cy="5041326"/>
          </a:xfrm>
        </p:grpSpPr>
        <p:grpSp>
          <p:nvGrpSpPr>
            <p:cNvPr id="45" name="Group 45"/>
            <p:cNvGrpSpPr/>
            <p:nvPr/>
          </p:nvGrpSpPr>
          <p:grpSpPr>
            <a:xfrm>
              <a:off x="0" y="0"/>
              <a:ext cx="6466568" cy="5041326"/>
              <a:chOff x="0" y="0"/>
              <a:chExt cx="1668052" cy="1300411"/>
            </a:xfrm>
          </p:grpSpPr>
          <p:sp>
            <p:nvSpPr>
              <p:cNvPr id="46" name="Freeform 46"/>
              <p:cNvSpPr/>
              <p:nvPr/>
            </p:nvSpPr>
            <p:spPr>
              <a:xfrm>
                <a:off x="0" y="0"/>
                <a:ext cx="1668052" cy="1300411"/>
              </a:xfrm>
              <a:custGeom>
                <a:avLst/>
                <a:gdLst/>
                <a:ahLst/>
                <a:cxnLst/>
                <a:rect l="l" t="t" r="r" b="b"/>
                <a:pathLst>
                  <a:path w="1668052" h="1300411">
                    <a:moveTo>
                      <a:pt x="0" y="0"/>
                    </a:moveTo>
                    <a:lnTo>
                      <a:pt x="1668052" y="0"/>
                    </a:lnTo>
                    <a:lnTo>
                      <a:pt x="1668052" y="1300411"/>
                    </a:lnTo>
                    <a:lnTo>
                      <a:pt x="0" y="1300411"/>
                    </a:lnTo>
                    <a:close/>
                  </a:path>
                </a:pathLst>
              </a:custGeom>
              <a:solidFill>
                <a:srgbClr val="FD6220"/>
              </a:solidFill>
            </p:spPr>
          </p:sp>
          <p:sp>
            <p:nvSpPr>
              <p:cNvPr id="47" name="TextBox 47"/>
              <p:cNvSpPr txBox="1"/>
              <p:nvPr/>
            </p:nvSpPr>
            <p:spPr>
              <a:xfrm>
                <a:off x="0" y="-28575"/>
                <a:ext cx="1668052" cy="1328986"/>
              </a:xfrm>
              <a:prstGeom prst="rect">
                <a:avLst/>
              </a:prstGeom>
            </p:spPr>
            <p:txBody>
              <a:bodyPr lIns="50800" tIns="50800" rIns="50800" bIns="50800" rtlCol="0" anchor="ctr"/>
              <a:lstStyle/>
              <a:p>
                <a:pPr algn="ctr">
                  <a:lnSpc>
                    <a:spcPts val="2380"/>
                  </a:lnSpc>
                </a:pPr>
                <a:endParaRPr/>
              </a:p>
            </p:txBody>
          </p:sp>
        </p:grpSp>
        <p:sp>
          <p:nvSpPr>
            <p:cNvPr id="48" name="Freeform 48"/>
            <p:cNvSpPr/>
            <p:nvPr/>
          </p:nvSpPr>
          <p:spPr>
            <a:xfrm>
              <a:off x="64184" y="69211"/>
              <a:ext cx="6334193" cy="4915947"/>
            </a:xfrm>
            <a:custGeom>
              <a:avLst/>
              <a:gdLst/>
              <a:ahLst/>
              <a:cxnLst/>
              <a:rect l="l" t="t" r="r" b="b"/>
              <a:pathLst>
                <a:path w="6334193" h="4915947">
                  <a:moveTo>
                    <a:pt x="0" y="0"/>
                  </a:moveTo>
                  <a:lnTo>
                    <a:pt x="6334193" y="0"/>
                  </a:lnTo>
                  <a:lnTo>
                    <a:pt x="6334193" y="4915947"/>
                  </a:lnTo>
                  <a:lnTo>
                    <a:pt x="0" y="4915947"/>
                  </a:lnTo>
                  <a:lnTo>
                    <a:pt x="0" y="0"/>
                  </a:lnTo>
                  <a:close/>
                </a:path>
              </a:pathLst>
            </a:custGeom>
            <a:blipFill>
              <a:blip r:embed="rId4"/>
              <a:stretch>
                <a:fillRect/>
              </a:stretch>
            </a:blipFill>
          </p:spPr>
        </p:sp>
      </p:grpSp>
      <p:sp>
        <p:nvSpPr>
          <p:cNvPr id="49" name="TextBox 49"/>
          <p:cNvSpPr txBox="1"/>
          <p:nvPr/>
        </p:nvSpPr>
        <p:spPr>
          <a:xfrm>
            <a:off x="1350645" y="420939"/>
            <a:ext cx="15586709" cy="688974"/>
          </a:xfrm>
          <a:prstGeom prst="rect">
            <a:avLst/>
          </a:prstGeom>
        </p:spPr>
        <p:txBody>
          <a:bodyPr lIns="0" tIns="0" rIns="0" bIns="0" rtlCol="0" anchor="t">
            <a:spAutoFit/>
          </a:bodyPr>
          <a:lstStyle/>
          <a:p>
            <a:pPr algn="just">
              <a:lnSpc>
                <a:spcPts val="5600"/>
              </a:lnSpc>
            </a:pPr>
            <a:r>
              <a:rPr lang="en-US" sz="4000" b="1">
                <a:solidFill>
                  <a:srgbClr val="191919"/>
                </a:solidFill>
                <a:latin typeface="Gotham Bold"/>
                <a:ea typeface="Gotham Bold"/>
                <a:cs typeface="Gotham Bold"/>
                <a:sym typeface="Gotham Bold"/>
              </a:rPr>
              <a:t>DEEPER CONTENT &amp; AUDIENCE TRENDS</a:t>
            </a:r>
          </a:p>
        </p:txBody>
      </p:sp>
      <p:grpSp>
        <p:nvGrpSpPr>
          <p:cNvPr id="50" name="Group 50"/>
          <p:cNvGrpSpPr/>
          <p:nvPr/>
        </p:nvGrpSpPr>
        <p:grpSpPr>
          <a:xfrm>
            <a:off x="7037919" y="5431363"/>
            <a:ext cx="4991545" cy="3986833"/>
            <a:chOff x="0" y="0"/>
            <a:chExt cx="2811017" cy="2245208"/>
          </a:xfrm>
        </p:grpSpPr>
        <p:sp>
          <p:nvSpPr>
            <p:cNvPr id="51" name="Freeform 51"/>
            <p:cNvSpPr/>
            <p:nvPr/>
          </p:nvSpPr>
          <p:spPr>
            <a:xfrm>
              <a:off x="0" y="0"/>
              <a:ext cx="2811017" cy="2245208"/>
            </a:xfrm>
            <a:custGeom>
              <a:avLst/>
              <a:gdLst/>
              <a:ahLst/>
              <a:cxnLst/>
              <a:rect l="l" t="t" r="r" b="b"/>
              <a:pathLst>
                <a:path w="2811017" h="2245208">
                  <a:moveTo>
                    <a:pt x="0" y="0"/>
                  </a:moveTo>
                  <a:lnTo>
                    <a:pt x="2811017" y="0"/>
                  </a:lnTo>
                  <a:lnTo>
                    <a:pt x="2811017" y="2245208"/>
                  </a:lnTo>
                  <a:lnTo>
                    <a:pt x="0" y="2245208"/>
                  </a:lnTo>
                  <a:close/>
                </a:path>
              </a:pathLst>
            </a:custGeom>
            <a:solidFill>
              <a:srgbClr val="FFF5B6"/>
            </a:solidFill>
          </p:spPr>
        </p:sp>
      </p:grpSp>
      <p:sp>
        <p:nvSpPr>
          <p:cNvPr id="52" name="AutoShape 52"/>
          <p:cNvSpPr/>
          <p:nvPr/>
        </p:nvSpPr>
        <p:spPr>
          <a:xfrm>
            <a:off x="6752169" y="1507494"/>
            <a:ext cx="0" cy="7910702"/>
          </a:xfrm>
          <a:prstGeom prst="line">
            <a:avLst/>
          </a:prstGeom>
          <a:ln w="19050" cap="flat">
            <a:solidFill>
              <a:srgbClr val="FF5940"/>
            </a:solidFill>
            <a:prstDash val="solid"/>
            <a:headEnd type="none" w="sm" len="sm"/>
            <a:tailEnd type="oval" w="lg" len="lg"/>
          </a:ln>
        </p:spPr>
      </p:sp>
      <p:sp>
        <p:nvSpPr>
          <p:cNvPr id="53" name="AutoShape 53"/>
          <p:cNvSpPr/>
          <p:nvPr/>
        </p:nvSpPr>
        <p:spPr>
          <a:xfrm>
            <a:off x="12315214" y="1419794"/>
            <a:ext cx="0" cy="7998402"/>
          </a:xfrm>
          <a:prstGeom prst="line">
            <a:avLst/>
          </a:prstGeom>
          <a:ln w="19050" cap="flat">
            <a:solidFill>
              <a:srgbClr val="FF5940"/>
            </a:solidFill>
            <a:prstDash val="solid"/>
            <a:headEnd type="none" w="sm" len="sm"/>
            <a:tailEnd type="oval" w="lg" len="lg"/>
          </a:ln>
        </p:spPr>
      </p:sp>
      <p:sp>
        <p:nvSpPr>
          <p:cNvPr id="54" name="TextBox 54"/>
          <p:cNvSpPr txBox="1"/>
          <p:nvPr/>
        </p:nvSpPr>
        <p:spPr>
          <a:xfrm>
            <a:off x="1766834" y="5935232"/>
            <a:ext cx="4456407" cy="2749907"/>
          </a:xfrm>
          <a:prstGeom prst="rect">
            <a:avLst/>
          </a:prstGeom>
        </p:spPr>
        <p:txBody>
          <a:bodyPr lIns="0" tIns="0" rIns="0" bIns="0" rtlCol="0" anchor="t">
            <a:spAutoFit/>
          </a:bodyPr>
          <a:lstStyle/>
          <a:p>
            <a:pPr algn="l">
              <a:lnSpc>
                <a:spcPts val="2238"/>
              </a:lnSpc>
            </a:pPr>
            <a:r>
              <a:rPr lang="en-US" sz="1721">
                <a:solidFill>
                  <a:srgbClr val="000000"/>
                </a:solidFill>
                <a:latin typeface="DM Sans"/>
                <a:ea typeface="DM Sans"/>
                <a:cs typeface="DM Sans"/>
                <a:sym typeface="DM Sans"/>
              </a:rPr>
              <a:t>This boxplot shows how maturity ratings have evolved over time. Earlier titles were mostly rated PG, TV-PG, or TV-14, indicating a family-oriented focus in older releases. However, after 2015, there is a clear rise in TV-MA and R-rated titles, reflecting Netflix’s shift toward more mature content. This trend suggests the platform’s growing emphasis on adult audiences and complex, high-engagement storytelling.</a:t>
            </a:r>
          </a:p>
        </p:txBody>
      </p:sp>
      <p:sp>
        <p:nvSpPr>
          <p:cNvPr id="55" name="TextBox 55"/>
          <p:cNvSpPr txBox="1"/>
          <p:nvPr/>
        </p:nvSpPr>
        <p:spPr>
          <a:xfrm>
            <a:off x="1766834" y="5583456"/>
            <a:ext cx="4647533" cy="247002"/>
          </a:xfrm>
          <a:prstGeom prst="rect">
            <a:avLst/>
          </a:prstGeom>
        </p:spPr>
        <p:txBody>
          <a:bodyPr lIns="0" tIns="0" rIns="0" bIns="0" rtlCol="0" anchor="t">
            <a:spAutoFit/>
          </a:bodyPr>
          <a:lstStyle/>
          <a:p>
            <a:pPr algn="l">
              <a:lnSpc>
                <a:spcPts val="2016"/>
              </a:lnSpc>
            </a:pPr>
            <a:r>
              <a:rPr lang="en-US" sz="1551" b="1">
                <a:solidFill>
                  <a:srgbClr val="000000"/>
                </a:solidFill>
                <a:latin typeface="Open Sans Bold"/>
                <a:ea typeface="Open Sans Bold"/>
                <a:cs typeface="Open Sans Bold"/>
                <a:sym typeface="Open Sans Bold"/>
              </a:rPr>
              <a:t>Rating by Release Year</a:t>
            </a:r>
          </a:p>
        </p:txBody>
      </p:sp>
      <p:sp>
        <p:nvSpPr>
          <p:cNvPr id="56" name="TextBox 56"/>
          <p:cNvSpPr txBox="1"/>
          <p:nvPr/>
        </p:nvSpPr>
        <p:spPr>
          <a:xfrm>
            <a:off x="7210553" y="5552647"/>
            <a:ext cx="4647533" cy="247002"/>
          </a:xfrm>
          <a:prstGeom prst="rect">
            <a:avLst/>
          </a:prstGeom>
        </p:spPr>
        <p:txBody>
          <a:bodyPr lIns="0" tIns="0" rIns="0" bIns="0" rtlCol="0" anchor="t">
            <a:spAutoFit/>
          </a:bodyPr>
          <a:lstStyle/>
          <a:p>
            <a:pPr algn="l">
              <a:lnSpc>
                <a:spcPts val="2016"/>
              </a:lnSpc>
            </a:pPr>
            <a:r>
              <a:rPr lang="en-US" sz="1551" b="1">
                <a:solidFill>
                  <a:srgbClr val="000000"/>
                </a:solidFill>
                <a:latin typeface="Open Sans Bold"/>
                <a:ea typeface="Open Sans Bold"/>
                <a:cs typeface="Open Sans Bold"/>
                <a:sym typeface="Open Sans Bold"/>
              </a:rPr>
              <a:t>Release Year Trend</a:t>
            </a:r>
          </a:p>
        </p:txBody>
      </p:sp>
      <p:sp>
        <p:nvSpPr>
          <p:cNvPr id="57" name="TextBox 57"/>
          <p:cNvSpPr txBox="1"/>
          <p:nvPr/>
        </p:nvSpPr>
        <p:spPr>
          <a:xfrm>
            <a:off x="7210553" y="5915477"/>
            <a:ext cx="4456407" cy="3026132"/>
          </a:xfrm>
          <a:prstGeom prst="rect">
            <a:avLst/>
          </a:prstGeom>
        </p:spPr>
        <p:txBody>
          <a:bodyPr lIns="0" tIns="0" rIns="0" bIns="0" rtlCol="0" anchor="t">
            <a:spAutoFit/>
          </a:bodyPr>
          <a:lstStyle/>
          <a:p>
            <a:pPr algn="l">
              <a:lnSpc>
                <a:spcPts val="2238"/>
              </a:lnSpc>
            </a:pPr>
            <a:r>
              <a:rPr lang="en-US" sz="1721">
                <a:solidFill>
                  <a:srgbClr val="000000"/>
                </a:solidFill>
                <a:latin typeface="DM Sans"/>
                <a:ea typeface="DM Sans"/>
                <a:cs typeface="DM Sans"/>
                <a:sym typeface="DM Sans"/>
              </a:rPr>
              <a:t>The release-year trend demonstrates a major increase in Netflix content production after 2015, coinciding with the company’s global expansion and heavy investment in Netflix Originals. The rapid growth indicates how Netflix moved from being primarily a content distributor to becoming one of the largest producers of digital entertainment. This pattern also highlights the competitive push to continuously add fresh, appealing content.</a:t>
            </a:r>
          </a:p>
        </p:txBody>
      </p:sp>
      <p:grpSp>
        <p:nvGrpSpPr>
          <p:cNvPr id="58" name="Group 58"/>
          <p:cNvGrpSpPr/>
          <p:nvPr/>
        </p:nvGrpSpPr>
        <p:grpSpPr>
          <a:xfrm>
            <a:off x="12477139" y="5431363"/>
            <a:ext cx="4671458" cy="3986833"/>
            <a:chOff x="0" y="0"/>
            <a:chExt cx="2630759" cy="2245208"/>
          </a:xfrm>
        </p:grpSpPr>
        <p:sp>
          <p:nvSpPr>
            <p:cNvPr id="59" name="Freeform 59"/>
            <p:cNvSpPr/>
            <p:nvPr/>
          </p:nvSpPr>
          <p:spPr>
            <a:xfrm>
              <a:off x="0" y="0"/>
              <a:ext cx="2630759" cy="2245208"/>
            </a:xfrm>
            <a:custGeom>
              <a:avLst/>
              <a:gdLst/>
              <a:ahLst/>
              <a:cxnLst/>
              <a:rect l="l" t="t" r="r" b="b"/>
              <a:pathLst>
                <a:path w="2630759" h="2245208">
                  <a:moveTo>
                    <a:pt x="0" y="0"/>
                  </a:moveTo>
                  <a:lnTo>
                    <a:pt x="2630759" y="0"/>
                  </a:lnTo>
                  <a:lnTo>
                    <a:pt x="2630759" y="2245208"/>
                  </a:lnTo>
                  <a:lnTo>
                    <a:pt x="0" y="2245208"/>
                  </a:lnTo>
                  <a:close/>
                </a:path>
              </a:pathLst>
            </a:custGeom>
            <a:solidFill>
              <a:srgbClr val="FFF5B6"/>
            </a:solidFill>
          </p:spPr>
        </p:sp>
      </p:grpSp>
      <p:sp>
        <p:nvSpPr>
          <p:cNvPr id="60" name="TextBox 60"/>
          <p:cNvSpPr txBox="1"/>
          <p:nvPr/>
        </p:nvSpPr>
        <p:spPr>
          <a:xfrm>
            <a:off x="12692190" y="5469480"/>
            <a:ext cx="4647533" cy="247002"/>
          </a:xfrm>
          <a:prstGeom prst="rect">
            <a:avLst/>
          </a:prstGeom>
        </p:spPr>
        <p:txBody>
          <a:bodyPr lIns="0" tIns="0" rIns="0" bIns="0" rtlCol="0" anchor="t">
            <a:spAutoFit/>
          </a:bodyPr>
          <a:lstStyle/>
          <a:p>
            <a:pPr algn="l">
              <a:lnSpc>
                <a:spcPts val="2016"/>
              </a:lnSpc>
            </a:pPr>
            <a:r>
              <a:rPr lang="en-US" sz="1551" b="1">
                <a:solidFill>
                  <a:srgbClr val="000000"/>
                </a:solidFill>
                <a:latin typeface="Open Sans Bold"/>
                <a:ea typeface="Open Sans Bold"/>
                <a:cs typeface="Open Sans Bold"/>
                <a:sym typeface="Open Sans Bold"/>
              </a:rPr>
              <a:t>Rating Distribution by Top Countries</a:t>
            </a:r>
          </a:p>
        </p:txBody>
      </p:sp>
      <p:sp>
        <p:nvSpPr>
          <p:cNvPr id="61" name="TextBox 61"/>
          <p:cNvSpPr txBox="1"/>
          <p:nvPr/>
        </p:nvSpPr>
        <p:spPr>
          <a:xfrm>
            <a:off x="12692190" y="5790124"/>
            <a:ext cx="4456407" cy="3578582"/>
          </a:xfrm>
          <a:prstGeom prst="rect">
            <a:avLst/>
          </a:prstGeom>
        </p:spPr>
        <p:txBody>
          <a:bodyPr lIns="0" tIns="0" rIns="0" bIns="0" rtlCol="0" anchor="t">
            <a:spAutoFit/>
          </a:bodyPr>
          <a:lstStyle/>
          <a:p>
            <a:pPr algn="l">
              <a:lnSpc>
                <a:spcPts val="2238"/>
              </a:lnSpc>
            </a:pPr>
            <a:r>
              <a:rPr lang="en-US" sz="1721">
                <a:solidFill>
                  <a:srgbClr val="000000"/>
                </a:solidFill>
                <a:latin typeface="DM Sans"/>
                <a:ea typeface="DM Sans"/>
                <a:cs typeface="DM Sans"/>
                <a:sym typeface="DM Sans"/>
              </a:rPr>
              <a:t>This visualization highlights how maturity ratings differ between major content-producing countries. The U.S. and India contribute a significant amount of TV-MA content, reinforcing Netflix’s strong adult-oriented offerings from these regions. In contrast, countries like Japan and South Korea lean more toward PG-13 or TV-14 categories. These variations reveal how cultural norms, audience expectations, and certification standards shape the type of content Netflix acquires or produces in each region.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2062813" y="-1272792"/>
            <a:ext cx="3499668" cy="13405540"/>
            <a:chOff x="0" y="0"/>
            <a:chExt cx="212191" cy="812800"/>
          </a:xfrm>
        </p:grpSpPr>
        <p:sp>
          <p:nvSpPr>
            <p:cNvPr id="3" name="Freeform 3"/>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id="4" name="TextBox 4"/>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5894" y="6020033"/>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8" name="Group 8"/>
          <p:cNvGrpSpPr/>
          <p:nvPr/>
        </p:nvGrpSpPr>
        <p:grpSpPr>
          <a:xfrm>
            <a:off x="288047" y="3358848"/>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288047" y="2025454"/>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288047" y="4026478"/>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288047" y="2691218"/>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288047" y="536173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288047" y="4694109"/>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288047" y="7136321"/>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16439471" y="8737362"/>
            <a:ext cx="3697059" cy="3697059"/>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id="31" name="TextBox 3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11762088" y="-9632634"/>
            <a:ext cx="10994424" cy="10994424"/>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34" name="TextBox 34"/>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rot="5400000">
            <a:off x="527071" y="4257450"/>
            <a:ext cx="5381675" cy="3001730"/>
            <a:chOff x="0" y="0"/>
            <a:chExt cx="1493209" cy="832865"/>
          </a:xfrm>
        </p:grpSpPr>
        <p:sp>
          <p:nvSpPr>
            <p:cNvPr id="36" name="Freeform 36"/>
            <p:cNvSpPr/>
            <p:nvPr/>
          </p:nvSpPr>
          <p:spPr>
            <a:xfrm>
              <a:off x="12422" y="0"/>
              <a:ext cx="1468366" cy="832865"/>
            </a:xfrm>
            <a:custGeom>
              <a:avLst/>
              <a:gdLst/>
              <a:ahLst/>
              <a:cxnLst/>
              <a:rect l="l" t="t" r="r" b="b"/>
              <a:pathLst>
                <a:path w="1468366" h="832865">
                  <a:moveTo>
                    <a:pt x="259829" y="0"/>
                  </a:moveTo>
                  <a:lnTo>
                    <a:pt x="1208536" y="0"/>
                  </a:lnTo>
                  <a:cubicBezTo>
                    <a:pt x="1249067" y="0"/>
                    <a:pt x="1284347" y="27707"/>
                    <a:pt x="1293954" y="67084"/>
                  </a:cubicBezTo>
                  <a:lnTo>
                    <a:pt x="1464420" y="765782"/>
                  </a:lnTo>
                  <a:cubicBezTo>
                    <a:pt x="1468366" y="781953"/>
                    <a:pt x="1464666" y="799040"/>
                    <a:pt x="1454385" y="812130"/>
                  </a:cubicBezTo>
                  <a:cubicBezTo>
                    <a:pt x="1444104" y="825221"/>
                    <a:pt x="1428381" y="832865"/>
                    <a:pt x="1411736" y="832865"/>
                  </a:cubicBezTo>
                  <a:lnTo>
                    <a:pt x="56629" y="832865"/>
                  </a:lnTo>
                  <a:cubicBezTo>
                    <a:pt x="39984" y="832865"/>
                    <a:pt x="24261" y="825221"/>
                    <a:pt x="13980" y="812130"/>
                  </a:cubicBezTo>
                  <a:cubicBezTo>
                    <a:pt x="3699" y="799040"/>
                    <a:pt x="0" y="781953"/>
                    <a:pt x="3945" y="765782"/>
                  </a:cubicBezTo>
                  <a:lnTo>
                    <a:pt x="174411" y="67084"/>
                  </a:lnTo>
                  <a:cubicBezTo>
                    <a:pt x="184018" y="27707"/>
                    <a:pt x="219298" y="0"/>
                    <a:pt x="259829" y="0"/>
                  </a:cubicBezTo>
                  <a:close/>
                </a:path>
              </a:pathLst>
            </a:custGeom>
            <a:solidFill>
              <a:srgbClr val="94D327"/>
            </a:solidFill>
          </p:spPr>
        </p:sp>
        <p:sp>
          <p:nvSpPr>
            <p:cNvPr id="37" name="TextBox 37"/>
            <p:cNvSpPr txBox="1"/>
            <p:nvPr/>
          </p:nvSpPr>
          <p:spPr>
            <a:xfrm>
              <a:off x="127000" y="-38100"/>
              <a:ext cx="1239209" cy="870965"/>
            </a:xfrm>
            <a:prstGeom prst="rect">
              <a:avLst/>
            </a:prstGeom>
          </p:spPr>
          <p:txBody>
            <a:bodyPr lIns="50800" tIns="50800" rIns="50800" bIns="50800" rtlCol="0" anchor="ctr"/>
            <a:lstStyle/>
            <a:p>
              <a:pPr algn="ctr">
                <a:lnSpc>
                  <a:spcPts val="2659"/>
                </a:lnSpc>
              </a:pPr>
              <a:endParaRPr/>
            </a:p>
          </p:txBody>
        </p:sp>
      </p:grpSp>
      <p:sp>
        <p:nvSpPr>
          <p:cNvPr id="38" name="Freeform 38"/>
          <p:cNvSpPr/>
          <p:nvPr/>
        </p:nvSpPr>
        <p:spPr>
          <a:xfrm rot="8100000">
            <a:off x="2249689" y="3676525"/>
            <a:ext cx="1086730" cy="1086730"/>
          </a:xfrm>
          <a:custGeom>
            <a:avLst/>
            <a:gdLst/>
            <a:ahLst/>
            <a:cxnLst/>
            <a:rect l="l" t="t" r="r" b="b"/>
            <a:pathLst>
              <a:path w="1086730" h="1086730">
                <a:moveTo>
                  <a:pt x="0" y="0"/>
                </a:moveTo>
                <a:lnTo>
                  <a:pt x="1086730" y="0"/>
                </a:lnTo>
                <a:lnTo>
                  <a:pt x="1086730" y="1086730"/>
                </a:lnTo>
                <a:lnTo>
                  <a:pt x="0" y="10867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9" name="Freeform 39"/>
          <p:cNvSpPr/>
          <p:nvPr/>
        </p:nvSpPr>
        <p:spPr>
          <a:xfrm>
            <a:off x="3391058" y="3710716"/>
            <a:ext cx="1402605" cy="4095198"/>
          </a:xfrm>
          <a:custGeom>
            <a:avLst/>
            <a:gdLst/>
            <a:ahLst/>
            <a:cxnLst/>
            <a:rect l="l" t="t" r="r" b="b"/>
            <a:pathLst>
              <a:path w="1402605" h="4095198">
                <a:moveTo>
                  <a:pt x="0" y="0"/>
                </a:moveTo>
                <a:lnTo>
                  <a:pt x="1402605" y="0"/>
                </a:lnTo>
                <a:lnTo>
                  <a:pt x="1402605" y="4095198"/>
                </a:lnTo>
                <a:lnTo>
                  <a:pt x="0" y="40951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0" name="Group 40"/>
          <p:cNvGrpSpPr/>
          <p:nvPr/>
        </p:nvGrpSpPr>
        <p:grpSpPr>
          <a:xfrm rot="5400000">
            <a:off x="2789926" y="4302549"/>
            <a:ext cx="5105638" cy="2911532"/>
            <a:chOff x="0" y="0"/>
            <a:chExt cx="1416619" cy="807839"/>
          </a:xfrm>
        </p:grpSpPr>
        <p:sp>
          <p:nvSpPr>
            <p:cNvPr id="41" name="Freeform 41"/>
            <p:cNvSpPr/>
            <p:nvPr/>
          </p:nvSpPr>
          <p:spPr>
            <a:xfrm>
              <a:off x="13489" y="0"/>
              <a:ext cx="1389642" cy="807839"/>
            </a:xfrm>
            <a:custGeom>
              <a:avLst/>
              <a:gdLst/>
              <a:ahLst/>
              <a:cxnLst/>
              <a:rect l="l" t="t" r="r" b="b"/>
              <a:pathLst>
                <a:path w="1389642" h="807839">
                  <a:moveTo>
                    <a:pt x="262496" y="0"/>
                  </a:moveTo>
                  <a:lnTo>
                    <a:pt x="1127146" y="0"/>
                  </a:lnTo>
                  <a:cubicBezTo>
                    <a:pt x="1169935" y="0"/>
                    <a:pt x="1207247" y="29089"/>
                    <a:pt x="1217685" y="70586"/>
                  </a:cubicBezTo>
                  <a:lnTo>
                    <a:pt x="1385376" y="737253"/>
                  </a:lnTo>
                  <a:cubicBezTo>
                    <a:pt x="1389642" y="754213"/>
                    <a:pt x="1385849" y="772192"/>
                    <a:pt x="1375097" y="785984"/>
                  </a:cubicBezTo>
                  <a:cubicBezTo>
                    <a:pt x="1364345" y="799775"/>
                    <a:pt x="1347834" y="807839"/>
                    <a:pt x="1330346" y="807839"/>
                  </a:cubicBezTo>
                  <a:lnTo>
                    <a:pt x="59296" y="807839"/>
                  </a:lnTo>
                  <a:cubicBezTo>
                    <a:pt x="41808" y="807839"/>
                    <a:pt x="25297" y="799775"/>
                    <a:pt x="14545" y="785984"/>
                  </a:cubicBezTo>
                  <a:cubicBezTo>
                    <a:pt x="3792" y="772192"/>
                    <a:pt x="0" y="754213"/>
                    <a:pt x="4266" y="737253"/>
                  </a:cubicBezTo>
                  <a:lnTo>
                    <a:pt x="171956" y="70586"/>
                  </a:lnTo>
                  <a:cubicBezTo>
                    <a:pt x="182394" y="29089"/>
                    <a:pt x="219706" y="0"/>
                    <a:pt x="262496" y="0"/>
                  </a:cubicBezTo>
                  <a:close/>
                </a:path>
              </a:pathLst>
            </a:custGeom>
            <a:solidFill>
              <a:srgbClr val="00C197"/>
            </a:solidFill>
          </p:spPr>
        </p:sp>
        <p:sp>
          <p:nvSpPr>
            <p:cNvPr id="42" name="TextBox 42"/>
            <p:cNvSpPr txBox="1"/>
            <p:nvPr/>
          </p:nvSpPr>
          <p:spPr>
            <a:xfrm>
              <a:off x="127000" y="-38100"/>
              <a:ext cx="1162619" cy="845939"/>
            </a:xfrm>
            <a:prstGeom prst="rect">
              <a:avLst/>
            </a:prstGeom>
          </p:spPr>
          <p:txBody>
            <a:bodyPr lIns="50800" tIns="50800" rIns="50800" bIns="50800" rtlCol="0" anchor="ctr"/>
            <a:lstStyle/>
            <a:p>
              <a:pPr algn="ctr">
                <a:lnSpc>
                  <a:spcPts val="2659"/>
                </a:lnSpc>
              </a:pPr>
              <a:endParaRPr/>
            </a:p>
          </p:txBody>
        </p:sp>
      </p:grpSp>
      <p:sp>
        <p:nvSpPr>
          <p:cNvPr id="43" name="Freeform 43"/>
          <p:cNvSpPr/>
          <p:nvPr/>
        </p:nvSpPr>
        <p:spPr>
          <a:xfrm>
            <a:off x="5535058" y="3864433"/>
            <a:ext cx="1297309" cy="3787764"/>
          </a:xfrm>
          <a:custGeom>
            <a:avLst/>
            <a:gdLst/>
            <a:ahLst/>
            <a:cxnLst/>
            <a:rect l="l" t="t" r="r" b="b"/>
            <a:pathLst>
              <a:path w="1297309" h="3787764">
                <a:moveTo>
                  <a:pt x="0" y="0"/>
                </a:moveTo>
                <a:lnTo>
                  <a:pt x="1297309" y="0"/>
                </a:lnTo>
                <a:lnTo>
                  <a:pt x="1297309" y="3787764"/>
                </a:lnTo>
                <a:lnTo>
                  <a:pt x="0" y="378776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4" name="AutoShape 44"/>
          <p:cNvSpPr/>
          <p:nvPr/>
        </p:nvSpPr>
        <p:spPr>
          <a:xfrm flipV="1">
            <a:off x="7350286" y="2829909"/>
            <a:ext cx="0" cy="880808"/>
          </a:xfrm>
          <a:prstGeom prst="line">
            <a:avLst/>
          </a:prstGeom>
          <a:ln w="19050" cap="flat">
            <a:solidFill>
              <a:srgbClr val="007BFF"/>
            </a:solidFill>
            <a:prstDash val="solid"/>
            <a:headEnd type="none" w="sm" len="sm"/>
            <a:tailEnd type="none" w="sm" len="sm"/>
          </a:ln>
        </p:spPr>
      </p:sp>
      <p:sp>
        <p:nvSpPr>
          <p:cNvPr id="45" name="AutoShape 45"/>
          <p:cNvSpPr/>
          <p:nvPr/>
        </p:nvSpPr>
        <p:spPr>
          <a:xfrm flipV="1">
            <a:off x="5200526" y="2676192"/>
            <a:ext cx="0" cy="887370"/>
          </a:xfrm>
          <a:prstGeom prst="line">
            <a:avLst/>
          </a:prstGeom>
          <a:ln w="19050" cap="flat">
            <a:solidFill>
              <a:srgbClr val="00C197"/>
            </a:solidFill>
            <a:prstDash val="solid"/>
            <a:headEnd type="none" w="sm" len="sm"/>
            <a:tailEnd type="none" w="sm" len="sm"/>
          </a:ln>
        </p:spPr>
      </p:sp>
      <p:sp>
        <p:nvSpPr>
          <p:cNvPr id="46" name="AutoShape 46"/>
          <p:cNvSpPr/>
          <p:nvPr/>
        </p:nvSpPr>
        <p:spPr>
          <a:xfrm flipV="1">
            <a:off x="3023642" y="2380331"/>
            <a:ext cx="0" cy="1034524"/>
          </a:xfrm>
          <a:prstGeom prst="line">
            <a:avLst/>
          </a:prstGeom>
          <a:ln w="19050" cap="flat">
            <a:solidFill>
              <a:srgbClr val="94D327"/>
            </a:solidFill>
            <a:prstDash val="solid"/>
            <a:headEnd type="none" w="sm" len="sm"/>
            <a:tailEnd type="none" w="sm" len="sm"/>
          </a:ln>
        </p:spPr>
      </p:sp>
      <p:grpSp>
        <p:nvGrpSpPr>
          <p:cNvPr id="47" name="Group 47"/>
          <p:cNvGrpSpPr/>
          <p:nvPr/>
        </p:nvGrpSpPr>
        <p:grpSpPr>
          <a:xfrm rot="5400000">
            <a:off x="5187313" y="4252922"/>
            <a:ext cx="4749988" cy="3010785"/>
            <a:chOff x="0" y="0"/>
            <a:chExt cx="1317940" cy="835378"/>
          </a:xfrm>
        </p:grpSpPr>
        <p:sp>
          <p:nvSpPr>
            <p:cNvPr id="48" name="Freeform 48"/>
            <p:cNvSpPr/>
            <p:nvPr/>
          </p:nvSpPr>
          <p:spPr>
            <a:xfrm>
              <a:off x="14032" y="0"/>
              <a:ext cx="1289876" cy="835378"/>
            </a:xfrm>
            <a:custGeom>
              <a:avLst/>
              <a:gdLst/>
              <a:ahLst/>
              <a:cxnLst/>
              <a:rect l="l" t="t" r="r" b="b"/>
              <a:pathLst>
                <a:path w="1289876" h="835378">
                  <a:moveTo>
                    <a:pt x="267402" y="0"/>
                  </a:moveTo>
                  <a:lnTo>
                    <a:pt x="1022474" y="0"/>
                  </a:lnTo>
                  <a:cubicBezTo>
                    <a:pt x="1068388" y="0"/>
                    <a:pt x="1108347" y="31404"/>
                    <a:pt x="1119199" y="76018"/>
                  </a:cubicBezTo>
                  <a:lnTo>
                    <a:pt x="1285417" y="759360"/>
                  </a:lnTo>
                  <a:cubicBezTo>
                    <a:pt x="1289876" y="777690"/>
                    <a:pt x="1285673" y="797053"/>
                    <a:pt x="1274016" y="811885"/>
                  </a:cubicBezTo>
                  <a:cubicBezTo>
                    <a:pt x="1262359" y="826718"/>
                    <a:pt x="1244538" y="835378"/>
                    <a:pt x="1225674" y="835378"/>
                  </a:cubicBezTo>
                  <a:lnTo>
                    <a:pt x="64202" y="835378"/>
                  </a:lnTo>
                  <a:cubicBezTo>
                    <a:pt x="45338" y="835378"/>
                    <a:pt x="27517" y="826718"/>
                    <a:pt x="15860" y="811885"/>
                  </a:cubicBezTo>
                  <a:cubicBezTo>
                    <a:pt x="4203" y="797053"/>
                    <a:pt x="0" y="777690"/>
                    <a:pt x="4459" y="759360"/>
                  </a:cubicBezTo>
                  <a:lnTo>
                    <a:pt x="170677" y="76018"/>
                  </a:lnTo>
                  <a:cubicBezTo>
                    <a:pt x="181529" y="31404"/>
                    <a:pt x="221488" y="0"/>
                    <a:pt x="267402" y="0"/>
                  </a:cubicBezTo>
                  <a:close/>
                </a:path>
              </a:pathLst>
            </a:custGeom>
            <a:solidFill>
              <a:srgbClr val="00A3C4"/>
            </a:solidFill>
            <a:ln cap="rnd">
              <a:noFill/>
              <a:prstDash val="solid"/>
              <a:round/>
            </a:ln>
          </p:spPr>
        </p:sp>
        <p:sp>
          <p:nvSpPr>
            <p:cNvPr id="49" name="TextBox 49"/>
            <p:cNvSpPr txBox="1"/>
            <p:nvPr/>
          </p:nvSpPr>
          <p:spPr>
            <a:xfrm>
              <a:off x="127000" y="-38100"/>
              <a:ext cx="1063940" cy="873478"/>
            </a:xfrm>
            <a:prstGeom prst="rect">
              <a:avLst/>
            </a:prstGeom>
          </p:spPr>
          <p:txBody>
            <a:bodyPr lIns="50800" tIns="50800" rIns="50800" bIns="50800" rtlCol="0" anchor="ctr"/>
            <a:lstStyle/>
            <a:p>
              <a:pPr algn="ctr">
                <a:lnSpc>
                  <a:spcPts val="2659"/>
                </a:lnSpc>
              </a:pPr>
              <a:endParaRPr/>
            </a:p>
          </p:txBody>
        </p:sp>
      </p:grpSp>
      <p:sp>
        <p:nvSpPr>
          <p:cNvPr id="50" name="Freeform 50"/>
          <p:cNvSpPr/>
          <p:nvPr/>
        </p:nvSpPr>
        <p:spPr>
          <a:xfrm>
            <a:off x="7711942" y="4043089"/>
            <a:ext cx="1174930" cy="3430451"/>
          </a:xfrm>
          <a:custGeom>
            <a:avLst/>
            <a:gdLst/>
            <a:ahLst/>
            <a:cxnLst/>
            <a:rect l="l" t="t" r="r" b="b"/>
            <a:pathLst>
              <a:path w="1174930" h="3430451">
                <a:moveTo>
                  <a:pt x="0" y="0"/>
                </a:moveTo>
                <a:lnTo>
                  <a:pt x="1174929" y="0"/>
                </a:lnTo>
                <a:lnTo>
                  <a:pt x="1174929" y="3430452"/>
                </a:lnTo>
                <a:lnTo>
                  <a:pt x="0" y="34304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1" name="AutoShape 51"/>
          <p:cNvSpPr/>
          <p:nvPr/>
        </p:nvSpPr>
        <p:spPr>
          <a:xfrm flipV="1">
            <a:off x="9628266" y="5284060"/>
            <a:ext cx="0" cy="948510"/>
          </a:xfrm>
          <a:prstGeom prst="line">
            <a:avLst/>
          </a:prstGeom>
          <a:ln w="38100" cap="flat">
            <a:solidFill>
              <a:srgbClr val="94D327"/>
            </a:solidFill>
            <a:prstDash val="solid"/>
            <a:headEnd type="none" w="sm" len="sm"/>
            <a:tailEnd type="none" w="sm" len="sm"/>
          </a:ln>
        </p:spPr>
      </p:sp>
      <p:grpSp>
        <p:nvGrpSpPr>
          <p:cNvPr id="52" name="Group 52"/>
          <p:cNvGrpSpPr/>
          <p:nvPr/>
        </p:nvGrpSpPr>
        <p:grpSpPr>
          <a:xfrm rot="-5400000">
            <a:off x="13347786" y="4257450"/>
            <a:ext cx="5381675" cy="3001730"/>
            <a:chOff x="0" y="0"/>
            <a:chExt cx="1493209" cy="832865"/>
          </a:xfrm>
        </p:grpSpPr>
        <p:sp>
          <p:nvSpPr>
            <p:cNvPr id="53" name="Freeform 53"/>
            <p:cNvSpPr/>
            <p:nvPr/>
          </p:nvSpPr>
          <p:spPr>
            <a:xfrm>
              <a:off x="12422" y="0"/>
              <a:ext cx="1468366" cy="832865"/>
            </a:xfrm>
            <a:custGeom>
              <a:avLst/>
              <a:gdLst/>
              <a:ahLst/>
              <a:cxnLst/>
              <a:rect l="l" t="t" r="r" b="b"/>
              <a:pathLst>
                <a:path w="1468366" h="832865">
                  <a:moveTo>
                    <a:pt x="259829" y="0"/>
                  </a:moveTo>
                  <a:lnTo>
                    <a:pt x="1208536" y="0"/>
                  </a:lnTo>
                  <a:cubicBezTo>
                    <a:pt x="1249067" y="0"/>
                    <a:pt x="1284347" y="27707"/>
                    <a:pt x="1293954" y="67084"/>
                  </a:cubicBezTo>
                  <a:lnTo>
                    <a:pt x="1464420" y="765782"/>
                  </a:lnTo>
                  <a:cubicBezTo>
                    <a:pt x="1468366" y="781953"/>
                    <a:pt x="1464666" y="799040"/>
                    <a:pt x="1454385" y="812130"/>
                  </a:cubicBezTo>
                  <a:cubicBezTo>
                    <a:pt x="1444104" y="825221"/>
                    <a:pt x="1428381" y="832865"/>
                    <a:pt x="1411736" y="832865"/>
                  </a:cubicBezTo>
                  <a:lnTo>
                    <a:pt x="56629" y="832865"/>
                  </a:lnTo>
                  <a:cubicBezTo>
                    <a:pt x="39984" y="832865"/>
                    <a:pt x="24261" y="825221"/>
                    <a:pt x="13980" y="812130"/>
                  </a:cubicBezTo>
                  <a:cubicBezTo>
                    <a:pt x="3699" y="799040"/>
                    <a:pt x="0" y="781953"/>
                    <a:pt x="3945" y="765782"/>
                  </a:cubicBezTo>
                  <a:lnTo>
                    <a:pt x="174411" y="67084"/>
                  </a:lnTo>
                  <a:cubicBezTo>
                    <a:pt x="184018" y="27707"/>
                    <a:pt x="219298" y="0"/>
                    <a:pt x="259829" y="0"/>
                  </a:cubicBezTo>
                  <a:close/>
                </a:path>
              </a:pathLst>
            </a:custGeom>
            <a:solidFill>
              <a:srgbClr val="11275A"/>
            </a:solidFill>
          </p:spPr>
        </p:sp>
        <p:sp>
          <p:nvSpPr>
            <p:cNvPr id="54" name="TextBox 54"/>
            <p:cNvSpPr txBox="1"/>
            <p:nvPr/>
          </p:nvSpPr>
          <p:spPr>
            <a:xfrm>
              <a:off x="127000" y="-38100"/>
              <a:ext cx="1239209" cy="870965"/>
            </a:xfrm>
            <a:prstGeom prst="rect">
              <a:avLst/>
            </a:prstGeom>
          </p:spPr>
          <p:txBody>
            <a:bodyPr lIns="50800" tIns="50800" rIns="50800" bIns="50800" rtlCol="0" anchor="ctr"/>
            <a:lstStyle/>
            <a:p>
              <a:pPr algn="ctr">
                <a:lnSpc>
                  <a:spcPts val="2659"/>
                </a:lnSpc>
              </a:pPr>
              <a:endParaRPr/>
            </a:p>
          </p:txBody>
        </p:sp>
      </p:grpSp>
      <p:sp>
        <p:nvSpPr>
          <p:cNvPr id="55" name="Freeform 55"/>
          <p:cNvSpPr/>
          <p:nvPr/>
        </p:nvSpPr>
        <p:spPr>
          <a:xfrm rot="-2700000">
            <a:off x="15920112" y="3676525"/>
            <a:ext cx="1086730" cy="1086730"/>
          </a:xfrm>
          <a:custGeom>
            <a:avLst/>
            <a:gdLst/>
            <a:ahLst/>
            <a:cxnLst/>
            <a:rect l="l" t="t" r="r" b="b"/>
            <a:pathLst>
              <a:path w="1086730" h="1086730">
                <a:moveTo>
                  <a:pt x="0" y="0"/>
                </a:moveTo>
                <a:lnTo>
                  <a:pt x="1086730" y="0"/>
                </a:lnTo>
                <a:lnTo>
                  <a:pt x="1086730" y="1086730"/>
                </a:lnTo>
                <a:lnTo>
                  <a:pt x="0" y="10867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6" name="Freeform 56"/>
          <p:cNvSpPr/>
          <p:nvPr/>
        </p:nvSpPr>
        <p:spPr>
          <a:xfrm rot="-10800000">
            <a:off x="14462868" y="3710716"/>
            <a:ext cx="1402605" cy="4095198"/>
          </a:xfrm>
          <a:custGeom>
            <a:avLst/>
            <a:gdLst/>
            <a:ahLst/>
            <a:cxnLst/>
            <a:rect l="l" t="t" r="r" b="b"/>
            <a:pathLst>
              <a:path w="1402605" h="4095198">
                <a:moveTo>
                  <a:pt x="0" y="0"/>
                </a:moveTo>
                <a:lnTo>
                  <a:pt x="1402605" y="0"/>
                </a:lnTo>
                <a:lnTo>
                  <a:pt x="1402605" y="4095198"/>
                </a:lnTo>
                <a:lnTo>
                  <a:pt x="0" y="40951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7" name="Group 57"/>
          <p:cNvGrpSpPr/>
          <p:nvPr/>
        </p:nvGrpSpPr>
        <p:grpSpPr>
          <a:xfrm rot="-5400000">
            <a:off x="11360968" y="4302549"/>
            <a:ext cx="5105638" cy="2911532"/>
            <a:chOff x="0" y="0"/>
            <a:chExt cx="1416619" cy="807839"/>
          </a:xfrm>
        </p:grpSpPr>
        <p:sp>
          <p:nvSpPr>
            <p:cNvPr id="58" name="Freeform 58"/>
            <p:cNvSpPr/>
            <p:nvPr/>
          </p:nvSpPr>
          <p:spPr>
            <a:xfrm>
              <a:off x="13489" y="0"/>
              <a:ext cx="1389642" cy="807839"/>
            </a:xfrm>
            <a:custGeom>
              <a:avLst/>
              <a:gdLst/>
              <a:ahLst/>
              <a:cxnLst/>
              <a:rect l="l" t="t" r="r" b="b"/>
              <a:pathLst>
                <a:path w="1389642" h="807839">
                  <a:moveTo>
                    <a:pt x="262496" y="0"/>
                  </a:moveTo>
                  <a:lnTo>
                    <a:pt x="1127146" y="0"/>
                  </a:lnTo>
                  <a:cubicBezTo>
                    <a:pt x="1169935" y="0"/>
                    <a:pt x="1207247" y="29089"/>
                    <a:pt x="1217685" y="70586"/>
                  </a:cubicBezTo>
                  <a:lnTo>
                    <a:pt x="1385376" y="737253"/>
                  </a:lnTo>
                  <a:cubicBezTo>
                    <a:pt x="1389642" y="754213"/>
                    <a:pt x="1385849" y="772192"/>
                    <a:pt x="1375097" y="785984"/>
                  </a:cubicBezTo>
                  <a:cubicBezTo>
                    <a:pt x="1364345" y="799775"/>
                    <a:pt x="1347834" y="807839"/>
                    <a:pt x="1330346" y="807839"/>
                  </a:cubicBezTo>
                  <a:lnTo>
                    <a:pt x="59296" y="807839"/>
                  </a:lnTo>
                  <a:cubicBezTo>
                    <a:pt x="41808" y="807839"/>
                    <a:pt x="25297" y="799775"/>
                    <a:pt x="14545" y="785984"/>
                  </a:cubicBezTo>
                  <a:cubicBezTo>
                    <a:pt x="3792" y="772192"/>
                    <a:pt x="0" y="754213"/>
                    <a:pt x="4266" y="737253"/>
                  </a:cubicBezTo>
                  <a:lnTo>
                    <a:pt x="171956" y="70586"/>
                  </a:lnTo>
                  <a:cubicBezTo>
                    <a:pt x="182394" y="29089"/>
                    <a:pt x="219706" y="0"/>
                    <a:pt x="262496" y="0"/>
                  </a:cubicBezTo>
                  <a:close/>
                </a:path>
              </a:pathLst>
            </a:custGeom>
            <a:solidFill>
              <a:srgbClr val="18418D"/>
            </a:solidFill>
          </p:spPr>
        </p:sp>
        <p:sp>
          <p:nvSpPr>
            <p:cNvPr id="59" name="TextBox 59"/>
            <p:cNvSpPr txBox="1"/>
            <p:nvPr/>
          </p:nvSpPr>
          <p:spPr>
            <a:xfrm>
              <a:off x="127000" y="-38100"/>
              <a:ext cx="1162619" cy="845939"/>
            </a:xfrm>
            <a:prstGeom prst="rect">
              <a:avLst/>
            </a:prstGeom>
          </p:spPr>
          <p:txBody>
            <a:bodyPr lIns="50800" tIns="50800" rIns="50800" bIns="50800" rtlCol="0" anchor="ctr"/>
            <a:lstStyle/>
            <a:p>
              <a:pPr algn="ctr">
                <a:lnSpc>
                  <a:spcPts val="2659"/>
                </a:lnSpc>
              </a:pPr>
              <a:endParaRPr/>
            </a:p>
          </p:txBody>
        </p:sp>
      </p:grpSp>
      <p:sp>
        <p:nvSpPr>
          <p:cNvPr id="60" name="Freeform 60"/>
          <p:cNvSpPr/>
          <p:nvPr/>
        </p:nvSpPr>
        <p:spPr>
          <a:xfrm rot="-10800000">
            <a:off x="12424164" y="3864433"/>
            <a:ext cx="1297309" cy="3787764"/>
          </a:xfrm>
          <a:custGeom>
            <a:avLst/>
            <a:gdLst/>
            <a:ahLst/>
            <a:cxnLst/>
            <a:rect l="l" t="t" r="r" b="b"/>
            <a:pathLst>
              <a:path w="1297309" h="3787764">
                <a:moveTo>
                  <a:pt x="0" y="0"/>
                </a:moveTo>
                <a:lnTo>
                  <a:pt x="1297310" y="0"/>
                </a:lnTo>
                <a:lnTo>
                  <a:pt x="1297310" y="3787764"/>
                </a:lnTo>
                <a:lnTo>
                  <a:pt x="0" y="378776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1" name="Group 61"/>
          <p:cNvGrpSpPr/>
          <p:nvPr/>
        </p:nvGrpSpPr>
        <p:grpSpPr>
          <a:xfrm rot="-5400000">
            <a:off x="9319231" y="4252922"/>
            <a:ext cx="4749988" cy="3010785"/>
            <a:chOff x="0" y="0"/>
            <a:chExt cx="1317940" cy="835378"/>
          </a:xfrm>
        </p:grpSpPr>
        <p:sp>
          <p:nvSpPr>
            <p:cNvPr id="62" name="Freeform 62"/>
            <p:cNvSpPr/>
            <p:nvPr/>
          </p:nvSpPr>
          <p:spPr>
            <a:xfrm>
              <a:off x="14032" y="0"/>
              <a:ext cx="1289876" cy="835378"/>
            </a:xfrm>
            <a:custGeom>
              <a:avLst/>
              <a:gdLst/>
              <a:ahLst/>
              <a:cxnLst/>
              <a:rect l="l" t="t" r="r" b="b"/>
              <a:pathLst>
                <a:path w="1289876" h="835378">
                  <a:moveTo>
                    <a:pt x="267402" y="0"/>
                  </a:moveTo>
                  <a:lnTo>
                    <a:pt x="1022474" y="0"/>
                  </a:lnTo>
                  <a:cubicBezTo>
                    <a:pt x="1068388" y="0"/>
                    <a:pt x="1108347" y="31404"/>
                    <a:pt x="1119199" y="76018"/>
                  </a:cubicBezTo>
                  <a:lnTo>
                    <a:pt x="1285417" y="759360"/>
                  </a:lnTo>
                  <a:cubicBezTo>
                    <a:pt x="1289876" y="777690"/>
                    <a:pt x="1285673" y="797053"/>
                    <a:pt x="1274016" y="811885"/>
                  </a:cubicBezTo>
                  <a:cubicBezTo>
                    <a:pt x="1262359" y="826718"/>
                    <a:pt x="1244538" y="835378"/>
                    <a:pt x="1225674" y="835378"/>
                  </a:cubicBezTo>
                  <a:lnTo>
                    <a:pt x="64202" y="835378"/>
                  </a:lnTo>
                  <a:cubicBezTo>
                    <a:pt x="45338" y="835378"/>
                    <a:pt x="27517" y="826718"/>
                    <a:pt x="15860" y="811885"/>
                  </a:cubicBezTo>
                  <a:cubicBezTo>
                    <a:pt x="4203" y="797053"/>
                    <a:pt x="0" y="777690"/>
                    <a:pt x="4459" y="759360"/>
                  </a:cubicBezTo>
                  <a:lnTo>
                    <a:pt x="170677" y="76018"/>
                  </a:lnTo>
                  <a:cubicBezTo>
                    <a:pt x="181529" y="31404"/>
                    <a:pt x="221488" y="0"/>
                    <a:pt x="267402" y="0"/>
                  </a:cubicBezTo>
                  <a:close/>
                </a:path>
              </a:pathLst>
            </a:custGeom>
            <a:solidFill>
              <a:srgbClr val="175DC5"/>
            </a:solidFill>
          </p:spPr>
        </p:sp>
        <p:sp>
          <p:nvSpPr>
            <p:cNvPr id="63" name="TextBox 63"/>
            <p:cNvSpPr txBox="1"/>
            <p:nvPr/>
          </p:nvSpPr>
          <p:spPr>
            <a:xfrm>
              <a:off x="127000" y="-38100"/>
              <a:ext cx="1063940" cy="873478"/>
            </a:xfrm>
            <a:prstGeom prst="rect">
              <a:avLst/>
            </a:prstGeom>
          </p:spPr>
          <p:txBody>
            <a:bodyPr lIns="50800" tIns="50800" rIns="50800" bIns="50800" rtlCol="0" anchor="ctr"/>
            <a:lstStyle/>
            <a:p>
              <a:pPr algn="ctr">
                <a:lnSpc>
                  <a:spcPts val="2659"/>
                </a:lnSpc>
              </a:pPr>
              <a:endParaRPr/>
            </a:p>
          </p:txBody>
        </p:sp>
      </p:grpSp>
      <p:sp>
        <p:nvSpPr>
          <p:cNvPr id="64" name="Freeform 64"/>
          <p:cNvSpPr/>
          <p:nvPr/>
        </p:nvSpPr>
        <p:spPr>
          <a:xfrm rot="-10800000">
            <a:off x="10369660" y="4043089"/>
            <a:ext cx="1174930" cy="3430451"/>
          </a:xfrm>
          <a:custGeom>
            <a:avLst/>
            <a:gdLst/>
            <a:ahLst/>
            <a:cxnLst/>
            <a:rect l="l" t="t" r="r" b="b"/>
            <a:pathLst>
              <a:path w="1174930" h="3430451">
                <a:moveTo>
                  <a:pt x="0" y="0"/>
                </a:moveTo>
                <a:lnTo>
                  <a:pt x="1174930" y="0"/>
                </a:lnTo>
                <a:lnTo>
                  <a:pt x="1174930" y="3430452"/>
                </a:lnTo>
                <a:lnTo>
                  <a:pt x="0" y="34304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5" name="AutoShape 65"/>
          <p:cNvSpPr/>
          <p:nvPr/>
        </p:nvSpPr>
        <p:spPr>
          <a:xfrm flipV="1">
            <a:off x="11807242" y="2823347"/>
            <a:ext cx="0" cy="887370"/>
          </a:xfrm>
          <a:prstGeom prst="line">
            <a:avLst/>
          </a:prstGeom>
          <a:ln w="19050" cap="flat">
            <a:solidFill>
              <a:srgbClr val="175DC5"/>
            </a:solidFill>
            <a:prstDash val="solid"/>
            <a:headEnd type="none" w="sm" len="sm"/>
            <a:tailEnd type="none" w="sm" len="sm"/>
          </a:ln>
        </p:spPr>
      </p:sp>
      <p:sp>
        <p:nvSpPr>
          <p:cNvPr id="66" name="AutoShape 66"/>
          <p:cNvSpPr/>
          <p:nvPr/>
        </p:nvSpPr>
        <p:spPr>
          <a:xfrm flipV="1">
            <a:off x="13995261" y="2676192"/>
            <a:ext cx="0" cy="887370"/>
          </a:xfrm>
          <a:prstGeom prst="line">
            <a:avLst/>
          </a:prstGeom>
          <a:ln w="19050" cap="flat">
            <a:solidFill>
              <a:srgbClr val="18418D"/>
            </a:solidFill>
            <a:prstDash val="solid"/>
            <a:headEnd type="none" w="sm" len="sm"/>
            <a:tailEnd type="none" w="sm" len="sm"/>
          </a:ln>
        </p:spPr>
      </p:sp>
      <p:sp>
        <p:nvSpPr>
          <p:cNvPr id="67" name="AutoShape 67"/>
          <p:cNvSpPr/>
          <p:nvPr/>
        </p:nvSpPr>
        <p:spPr>
          <a:xfrm flipH="1" flipV="1">
            <a:off x="16156154" y="2524993"/>
            <a:ext cx="0" cy="889862"/>
          </a:xfrm>
          <a:prstGeom prst="line">
            <a:avLst/>
          </a:prstGeom>
          <a:ln w="19050" cap="flat">
            <a:solidFill>
              <a:srgbClr val="11275A"/>
            </a:solidFill>
            <a:prstDash val="solid"/>
            <a:headEnd type="none" w="sm" len="sm"/>
            <a:tailEnd type="none" w="sm" len="sm"/>
          </a:ln>
        </p:spPr>
      </p:sp>
      <p:grpSp>
        <p:nvGrpSpPr>
          <p:cNvPr id="68" name="Group 68"/>
          <p:cNvGrpSpPr/>
          <p:nvPr/>
        </p:nvGrpSpPr>
        <p:grpSpPr>
          <a:xfrm>
            <a:off x="8226849" y="3660878"/>
            <a:ext cx="2802833" cy="4194873"/>
            <a:chOff x="0" y="0"/>
            <a:chExt cx="777679" cy="1163917"/>
          </a:xfrm>
        </p:grpSpPr>
        <p:sp>
          <p:nvSpPr>
            <p:cNvPr id="69" name="Freeform 69"/>
            <p:cNvSpPr/>
            <p:nvPr/>
          </p:nvSpPr>
          <p:spPr>
            <a:xfrm>
              <a:off x="0" y="0"/>
              <a:ext cx="777679" cy="1163917"/>
            </a:xfrm>
            <a:custGeom>
              <a:avLst/>
              <a:gdLst/>
              <a:ahLst/>
              <a:cxnLst/>
              <a:rect l="l" t="t" r="r" b="b"/>
              <a:pathLst>
                <a:path w="777679" h="1163917">
                  <a:moveTo>
                    <a:pt x="132584" y="0"/>
                  </a:moveTo>
                  <a:lnTo>
                    <a:pt x="645095" y="0"/>
                  </a:lnTo>
                  <a:cubicBezTo>
                    <a:pt x="718319" y="0"/>
                    <a:pt x="777679" y="59360"/>
                    <a:pt x="777679" y="132584"/>
                  </a:cubicBezTo>
                  <a:lnTo>
                    <a:pt x="777679" y="1031332"/>
                  </a:lnTo>
                  <a:cubicBezTo>
                    <a:pt x="777679" y="1104557"/>
                    <a:pt x="718319" y="1163917"/>
                    <a:pt x="645095" y="1163917"/>
                  </a:cubicBezTo>
                  <a:lnTo>
                    <a:pt x="132584" y="1163917"/>
                  </a:lnTo>
                  <a:cubicBezTo>
                    <a:pt x="59360" y="1163917"/>
                    <a:pt x="0" y="1104557"/>
                    <a:pt x="0" y="1031332"/>
                  </a:cubicBezTo>
                  <a:lnTo>
                    <a:pt x="0" y="132584"/>
                  </a:lnTo>
                  <a:cubicBezTo>
                    <a:pt x="0" y="59360"/>
                    <a:pt x="59360" y="0"/>
                    <a:pt x="132584" y="0"/>
                  </a:cubicBezTo>
                  <a:close/>
                </a:path>
              </a:pathLst>
            </a:custGeom>
            <a:solidFill>
              <a:srgbClr val="FD6220"/>
            </a:solidFill>
          </p:spPr>
        </p:sp>
        <p:sp>
          <p:nvSpPr>
            <p:cNvPr id="70" name="TextBox 70"/>
            <p:cNvSpPr txBox="1"/>
            <p:nvPr/>
          </p:nvSpPr>
          <p:spPr>
            <a:xfrm>
              <a:off x="0" y="-38100"/>
              <a:ext cx="777679" cy="1202017"/>
            </a:xfrm>
            <a:prstGeom prst="rect">
              <a:avLst/>
            </a:prstGeom>
          </p:spPr>
          <p:txBody>
            <a:bodyPr lIns="50800" tIns="50800" rIns="50800" bIns="50800" rtlCol="0" anchor="ctr"/>
            <a:lstStyle/>
            <a:p>
              <a:pPr algn="ctr">
                <a:lnSpc>
                  <a:spcPts val="2659"/>
                </a:lnSpc>
              </a:pPr>
              <a:endParaRPr/>
            </a:p>
          </p:txBody>
        </p:sp>
      </p:grpSp>
      <p:sp>
        <p:nvSpPr>
          <p:cNvPr id="71" name="AutoShape 71"/>
          <p:cNvSpPr/>
          <p:nvPr/>
        </p:nvSpPr>
        <p:spPr>
          <a:xfrm flipV="1">
            <a:off x="9628266" y="2897593"/>
            <a:ext cx="0" cy="1034524"/>
          </a:xfrm>
          <a:prstGeom prst="line">
            <a:avLst/>
          </a:prstGeom>
          <a:ln w="19050" cap="flat">
            <a:solidFill>
              <a:srgbClr val="FD6220"/>
            </a:solidFill>
            <a:prstDash val="solid"/>
            <a:headEnd type="none" w="sm" len="sm"/>
            <a:tailEnd type="none" w="sm" len="sm"/>
          </a:ln>
        </p:spPr>
      </p:sp>
      <p:sp>
        <p:nvSpPr>
          <p:cNvPr id="72" name="Freeform 72"/>
          <p:cNvSpPr/>
          <p:nvPr/>
        </p:nvSpPr>
        <p:spPr>
          <a:xfrm rot="2700000">
            <a:off x="9084901" y="4047223"/>
            <a:ext cx="1086730" cy="1086730"/>
          </a:xfrm>
          <a:custGeom>
            <a:avLst/>
            <a:gdLst/>
            <a:ahLst/>
            <a:cxnLst/>
            <a:rect l="l" t="t" r="r" b="b"/>
            <a:pathLst>
              <a:path w="1086730" h="1086730">
                <a:moveTo>
                  <a:pt x="0" y="0"/>
                </a:moveTo>
                <a:lnTo>
                  <a:pt x="1086730" y="0"/>
                </a:lnTo>
                <a:lnTo>
                  <a:pt x="1086730" y="1086730"/>
                </a:lnTo>
                <a:lnTo>
                  <a:pt x="0" y="10867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3" name="Group 73"/>
          <p:cNvGrpSpPr/>
          <p:nvPr/>
        </p:nvGrpSpPr>
        <p:grpSpPr>
          <a:xfrm>
            <a:off x="9284693" y="2380331"/>
            <a:ext cx="687146" cy="687146"/>
            <a:chOff x="0" y="0"/>
            <a:chExt cx="812800" cy="812800"/>
          </a:xfrm>
        </p:grpSpPr>
        <p:sp>
          <p:nvSpPr>
            <p:cNvPr id="74" name="Freeform 7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5" name="TextBox 75"/>
            <p:cNvSpPr txBox="1"/>
            <p:nvPr/>
          </p:nvSpPr>
          <p:spPr>
            <a:xfrm>
              <a:off x="76200" y="28575"/>
              <a:ext cx="660400" cy="708025"/>
            </a:xfrm>
            <a:prstGeom prst="rect">
              <a:avLst/>
            </a:prstGeom>
          </p:spPr>
          <p:txBody>
            <a:bodyPr lIns="50800" tIns="50800" rIns="50800" bIns="50800" rtlCol="0" anchor="ctr"/>
            <a:lstStyle/>
            <a:p>
              <a:pPr algn="ctr">
                <a:lnSpc>
                  <a:spcPts val="3079"/>
                </a:lnSpc>
              </a:pPr>
              <a:r>
                <a:rPr lang="en-US" sz="2199" b="1">
                  <a:solidFill>
                    <a:srgbClr val="FFFFFF"/>
                  </a:solidFill>
                  <a:latin typeface="DM Sans Bold"/>
                  <a:ea typeface="DM Sans Bold"/>
                  <a:cs typeface="DM Sans Bold"/>
                  <a:sym typeface="DM Sans Bold"/>
                </a:rPr>
                <a:t>04</a:t>
              </a:r>
            </a:p>
          </p:txBody>
        </p:sp>
      </p:grpSp>
      <p:grpSp>
        <p:nvGrpSpPr>
          <p:cNvPr id="76" name="Group 76"/>
          <p:cNvGrpSpPr/>
          <p:nvPr/>
        </p:nvGrpSpPr>
        <p:grpSpPr>
          <a:xfrm>
            <a:off x="7024796" y="2289917"/>
            <a:ext cx="687146" cy="687146"/>
            <a:chOff x="0" y="0"/>
            <a:chExt cx="812800" cy="812800"/>
          </a:xfrm>
        </p:grpSpPr>
        <p:sp>
          <p:nvSpPr>
            <p:cNvPr id="77" name="Freeform 7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3C4"/>
            </a:solidFill>
          </p:spPr>
        </p:sp>
        <p:sp>
          <p:nvSpPr>
            <p:cNvPr id="78" name="TextBox 78"/>
            <p:cNvSpPr txBox="1"/>
            <p:nvPr/>
          </p:nvSpPr>
          <p:spPr>
            <a:xfrm>
              <a:off x="76200" y="28575"/>
              <a:ext cx="660400" cy="708025"/>
            </a:xfrm>
            <a:prstGeom prst="rect">
              <a:avLst/>
            </a:prstGeom>
          </p:spPr>
          <p:txBody>
            <a:bodyPr lIns="50800" tIns="50800" rIns="50800" bIns="50800" rtlCol="0" anchor="ctr"/>
            <a:lstStyle/>
            <a:p>
              <a:pPr algn="ctr">
                <a:lnSpc>
                  <a:spcPts val="3079"/>
                </a:lnSpc>
              </a:pPr>
              <a:r>
                <a:rPr lang="en-US" sz="2199" b="1">
                  <a:solidFill>
                    <a:srgbClr val="FFFFFF"/>
                  </a:solidFill>
                  <a:latin typeface="DM Sans Bold"/>
                  <a:ea typeface="DM Sans Bold"/>
                  <a:cs typeface="DM Sans Bold"/>
                  <a:sym typeface="DM Sans Bold"/>
                </a:rPr>
                <a:t>03</a:t>
              </a:r>
            </a:p>
          </p:txBody>
        </p:sp>
      </p:grpSp>
      <p:grpSp>
        <p:nvGrpSpPr>
          <p:cNvPr id="79" name="Group 79"/>
          <p:cNvGrpSpPr/>
          <p:nvPr/>
        </p:nvGrpSpPr>
        <p:grpSpPr>
          <a:xfrm>
            <a:off x="11463669" y="2289917"/>
            <a:ext cx="687146" cy="687146"/>
            <a:chOff x="0" y="0"/>
            <a:chExt cx="812800" cy="812800"/>
          </a:xfrm>
        </p:grpSpPr>
        <p:sp>
          <p:nvSpPr>
            <p:cNvPr id="80" name="Freeform 8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5DC5"/>
            </a:solidFill>
          </p:spPr>
        </p:sp>
        <p:sp>
          <p:nvSpPr>
            <p:cNvPr id="81" name="TextBox 81"/>
            <p:cNvSpPr txBox="1"/>
            <p:nvPr/>
          </p:nvSpPr>
          <p:spPr>
            <a:xfrm>
              <a:off x="76200" y="28575"/>
              <a:ext cx="660400" cy="708025"/>
            </a:xfrm>
            <a:prstGeom prst="rect">
              <a:avLst/>
            </a:prstGeom>
          </p:spPr>
          <p:txBody>
            <a:bodyPr lIns="50800" tIns="50800" rIns="50800" bIns="50800" rtlCol="0" anchor="ctr"/>
            <a:lstStyle/>
            <a:p>
              <a:pPr algn="ctr">
                <a:lnSpc>
                  <a:spcPts val="3079"/>
                </a:lnSpc>
              </a:pPr>
              <a:r>
                <a:rPr lang="en-US" sz="2199" b="1">
                  <a:solidFill>
                    <a:srgbClr val="FFFFFF"/>
                  </a:solidFill>
                  <a:latin typeface="DM Sans Bold"/>
                  <a:ea typeface="DM Sans Bold"/>
                  <a:cs typeface="DM Sans Bold"/>
                  <a:sym typeface="DM Sans Bold"/>
                </a:rPr>
                <a:t>05</a:t>
              </a:r>
            </a:p>
          </p:txBody>
        </p:sp>
      </p:grpSp>
      <p:grpSp>
        <p:nvGrpSpPr>
          <p:cNvPr id="82" name="Group 82"/>
          <p:cNvGrpSpPr/>
          <p:nvPr/>
        </p:nvGrpSpPr>
        <p:grpSpPr>
          <a:xfrm>
            <a:off x="4847912" y="2109089"/>
            <a:ext cx="687146" cy="687146"/>
            <a:chOff x="0" y="0"/>
            <a:chExt cx="812800" cy="812800"/>
          </a:xfrm>
        </p:grpSpPr>
        <p:sp>
          <p:nvSpPr>
            <p:cNvPr id="83" name="Freeform 8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197"/>
            </a:solidFill>
          </p:spPr>
        </p:sp>
        <p:sp>
          <p:nvSpPr>
            <p:cNvPr id="84" name="TextBox 84"/>
            <p:cNvSpPr txBox="1"/>
            <p:nvPr/>
          </p:nvSpPr>
          <p:spPr>
            <a:xfrm>
              <a:off x="76200" y="28575"/>
              <a:ext cx="660400" cy="708025"/>
            </a:xfrm>
            <a:prstGeom prst="rect">
              <a:avLst/>
            </a:prstGeom>
          </p:spPr>
          <p:txBody>
            <a:bodyPr lIns="50800" tIns="50800" rIns="50800" bIns="50800" rtlCol="0" anchor="ctr"/>
            <a:lstStyle/>
            <a:p>
              <a:pPr algn="ctr">
                <a:lnSpc>
                  <a:spcPts val="3079"/>
                </a:lnSpc>
              </a:pPr>
              <a:r>
                <a:rPr lang="en-US" sz="2199" b="1">
                  <a:solidFill>
                    <a:srgbClr val="FFFFFF"/>
                  </a:solidFill>
                  <a:latin typeface="DM Sans Bold"/>
                  <a:ea typeface="DM Sans Bold"/>
                  <a:cs typeface="DM Sans Bold"/>
                  <a:sym typeface="DM Sans Bold"/>
                </a:rPr>
                <a:t>02</a:t>
              </a:r>
            </a:p>
          </p:txBody>
        </p:sp>
      </p:grpSp>
      <p:grpSp>
        <p:nvGrpSpPr>
          <p:cNvPr id="85" name="Group 85"/>
          <p:cNvGrpSpPr/>
          <p:nvPr/>
        </p:nvGrpSpPr>
        <p:grpSpPr>
          <a:xfrm>
            <a:off x="13642646" y="2109089"/>
            <a:ext cx="687146" cy="687146"/>
            <a:chOff x="0" y="0"/>
            <a:chExt cx="812800" cy="812800"/>
          </a:xfrm>
        </p:grpSpPr>
        <p:sp>
          <p:nvSpPr>
            <p:cNvPr id="86" name="Freeform 8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418D"/>
            </a:solidFill>
          </p:spPr>
        </p:sp>
        <p:sp>
          <p:nvSpPr>
            <p:cNvPr id="87" name="TextBox 87"/>
            <p:cNvSpPr txBox="1"/>
            <p:nvPr/>
          </p:nvSpPr>
          <p:spPr>
            <a:xfrm>
              <a:off x="76200" y="28575"/>
              <a:ext cx="660400" cy="708025"/>
            </a:xfrm>
            <a:prstGeom prst="rect">
              <a:avLst/>
            </a:prstGeom>
          </p:spPr>
          <p:txBody>
            <a:bodyPr lIns="50800" tIns="50800" rIns="50800" bIns="50800" rtlCol="0" anchor="ctr"/>
            <a:lstStyle/>
            <a:p>
              <a:pPr algn="ctr">
                <a:lnSpc>
                  <a:spcPts val="3079"/>
                </a:lnSpc>
              </a:pPr>
              <a:r>
                <a:rPr lang="en-US" sz="2199" b="1">
                  <a:solidFill>
                    <a:srgbClr val="FFFFFF"/>
                  </a:solidFill>
                  <a:latin typeface="DM Sans Bold"/>
                  <a:ea typeface="DM Sans Bold"/>
                  <a:cs typeface="DM Sans Bold"/>
                  <a:sym typeface="DM Sans Bold"/>
                </a:rPr>
                <a:t>06</a:t>
              </a:r>
            </a:p>
          </p:txBody>
        </p:sp>
      </p:grpSp>
      <p:grpSp>
        <p:nvGrpSpPr>
          <p:cNvPr id="88" name="Group 88"/>
          <p:cNvGrpSpPr/>
          <p:nvPr/>
        </p:nvGrpSpPr>
        <p:grpSpPr>
          <a:xfrm>
            <a:off x="2671028" y="1837847"/>
            <a:ext cx="687146" cy="687146"/>
            <a:chOff x="0" y="0"/>
            <a:chExt cx="812800" cy="812800"/>
          </a:xfrm>
        </p:grpSpPr>
        <p:sp>
          <p:nvSpPr>
            <p:cNvPr id="89" name="Freeform 8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4D327"/>
            </a:solidFill>
          </p:spPr>
        </p:sp>
        <p:sp>
          <p:nvSpPr>
            <p:cNvPr id="90" name="TextBox 90"/>
            <p:cNvSpPr txBox="1"/>
            <p:nvPr/>
          </p:nvSpPr>
          <p:spPr>
            <a:xfrm>
              <a:off x="76200" y="28575"/>
              <a:ext cx="660400" cy="708025"/>
            </a:xfrm>
            <a:prstGeom prst="rect">
              <a:avLst/>
            </a:prstGeom>
          </p:spPr>
          <p:txBody>
            <a:bodyPr lIns="50800" tIns="50800" rIns="50800" bIns="50800" rtlCol="0" anchor="ctr"/>
            <a:lstStyle/>
            <a:p>
              <a:pPr algn="ctr">
                <a:lnSpc>
                  <a:spcPts val="3079"/>
                </a:lnSpc>
              </a:pPr>
              <a:r>
                <a:rPr lang="en-US" sz="2199" b="1">
                  <a:solidFill>
                    <a:srgbClr val="FFFFFF"/>
                  </a:solidFill>
                  <a:latin typeface="DM Sans Bold"/>
                  <a:ea typeface="DM Sans Bold"/>
                  <a:cs typeface="DM Sans Bold"/>
                  <a:sym typeface="DM Sans Bold"/>
                </a:rPr>
                <a:t>01</a:t>
              </a:r>
            </a:p>
          </p:txBody>
        </p:sp>
      </p:grpSp>
      <p:grpSp>
        <p:nvGrpSpPr>
          <p:cNvPr id="91" name="Group 91"/>
          <p:cNvGrpSpPr/>
          <p:nvPr/>
        </p:nvGrpSpPr>
        <p:grpSpPr>
          <a:xfrm>
            <a:off x="15821623" y="1837847"/>
            <a:ext cx="687146" cy="687146"/>
            <a:chOff x="0" y="0"/>
            <a:chExt cx="812800" cy="812800"/>
          </a:xfrm>
        </p:grpSpPr>
        <p:sp>
          <p:nvSpPr>
            <p:cNvPr id="92" name="Freeform 9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75A"/>
            </a:solidFill>
          </p:spPr>
        </p:sp>
        <p:sp>
          <p:nvSpPr>
            <p:cNvPr id="93" name="TextBox 93"/>
            <p:cNvSpPr txBox="1"/>
            <p:nvPr/>
          </p:nvSpPr>
          <p:spPr>
            <a:xfrm>
              <a:off x="76200" y="28575"/>
              <a:ext cx="660400" cy="708025"/>
            </a:xfrm>
            <a:prstGeom prst="rect">
              <a:avLst/>
            </a:prstGeom>
          </p:spPr>
          <p:txBody>
            <a:bodyPr lIns="50800" tIns="50800" rIns="50800" bIns="50800" rtlCol="0" anchor="ctr"/>
            <a:lstStyle/>
            <a:p>
              <a:pPr algn="ctr">
                <a:lnSpc>
                  <a:spcPts val="3079"/>
                </a:lnSpc>
              </a:pPr>
              <a:r>
                <a:rPr lang="en-US" sz="2199" b="1">
                  <a:solidFill>
                    <a:srgbClr val="FFFFFF"/>
                  </a:solidFill>
                  <a:latin typeface="DM Sans Bold"/>
                  <a:ea typeface="DM Sans Bold"/>
                  <a:cs typeface="DM Sans Bold"/>
                  <a:sym typeface="DM Sans Bold"/>
                </a:rPr>
                <a:t>07</a:t>
              </a:r>
            </a:p>
          </p:txBody>
        </p:sp>
      </p:grpSp>
      <p:sp>
        <p:nvSpPr>
          <p:cNvPr id="94" name="Freeform 94"/>
          <p:cNvSpPr/>
          <p:nvPr/>
        </p:nvSpPr>
        <p:spPr>
          <a:xfrm rot="8100000">
            <a:off x="4424061" y="3857353"/>
            <a:ext cx="1086730" cy="1086730"/>
          </a:xfrm>
          <a:custGeom>
            <a:avLst/>
            <a:gdLst/>
            <a:ahLst/>
            <a:cxnLst/>
            <a:rect l="l" t="t" r="r" b="b"/>
            <a:pathLst>
              <a:path w="1086730" h="1086730">
                <a:moveTo>
                  <a:pt x="0" y="0"/>
                </a:moveTo>
                <a:lnTo>
                  <a:pt x="1086730" y="0"/>
                </a:lnTo>
                <a:lnTo>
                  <a:pt x="1086730" y="1086730"/>
                </a:lnTo>
                <a:lnTo>
                  <a:pt x="0" y="10867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5" name="Freeform 95"/>
          <p:cNvSpPr/>
          <p:nvPr/>
        </p:nvSpPr>
        <p:spPr>
          <a:xfrm rot="-2700000">
            <a:off x="13750177" y="3857353"/>
            <a:ext cx="1086730" cy="1086730"/>
          </a:xfrm>
          <a:custGeom>
            <a:avLst/>
            <a:gdLst/>
            <a:ahLst/>
            <a:cxnLst/>
            <a:rect l="l" t="t" r="r" b="b"/>
            <a:pathLst>
              <a:path w="1086730" h="1086730">
                <a:moveTo>
                  <a:pt x="0" y="0"/>
                </a:moveTo>
                <a:lnTo>
                  <a:pt x="1086730" y="0"/>
                </a:lnTo>
                <a:lnTo>
                  <a:pt x="1086730" y="1086730"/>
                </a:lnTo>
                <a:lnTo>
                  <a:pt x="0" y="10867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6" name="Freeform 96"/>
          <p:cNvSpPr/>
          <p:nvPr/>
        </p:nvSpPr>
        <p:spPr>
          <a:xfrm rot="8100000">
            <a:off x="6589475" y="4038181"/>
            <a:ext cx="1086730" cy="1086730"/>
          </a:xfrm>
          <a:custGeom>
            <a:avLst/>
            <a:gdLst/>
            <a:ahLst/>
            <a:cxnLst/>
            <a:rect l="l" t="t" r="r" b="b"/>
            <a:pathLst>
              <a:path w="1086730" h="1086730">
                <a:moveTo>
                  <a:pt x="0" y="0"/>
                </a:moveTo>
                <a:lnTo>
                  <a:pt x="1086730" y="0"/>
                </a:lnTo>
                <a:lnTo>
                  <a:pt x="1086730" y="1086730"/>
                </a:lnTo>
                <a:lnTo>
                  <a:pt x="0" y="10867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7" name="Freeform 97"/>
          <p:cNvSpPr/>
          <p:nvPr/>
        </p:nvSpPr>
        <p:spPr>
          <a:xfrm rot="-2700000">
            <a:off x="11580242" y="4038181"/>
            <a:ext cx="1086730" cy="1086730"/>
          </a:xfrm>
          <a:custGeom>
            <a:avLst/>
            <a:gdLst/>
            <a:ahLst/>
            <a:cxnLst/>
            <a:rect l="l" t="t" r="r" b="b"/>
            <a:pathLst>
              <a:path w="1086730" h="1086730">
                <a:moveTo>
                  <a:pt x="0" y="0"/>
                </a:moveTo>
                <a:lnTo>
                  <a:pt x="1086730" y="0"/>
                </a:lnTo>
                <a:lnTo>
                  <a:pt x="1086730" y="1086730"/>
                </a:lnTo>
                <a:lnTo>
                  <a:pt x="0" y="10867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8" name="Freeform 98"/>
          <p:cNvSpPr/>
          <p:nvPr/>
        </p:nvSpPr>
        <p:spPr>
          <a:xfrm>
            <a:off x="16156154" y="4002897"/>
            <a:ext cx="452659" cy="433987"/>
          </a:xfrm>
          <a:custGeom>
            <a:avLst/>
            <a:gdLst/>
            <a:ahLst/>
            <a:cxnLst/>
            <a:rect l="l" t="t" r="r" b="b"/>
            <a:pathLst>
              <a:path w="452659" h="433987">
                <a:moveTo>
                  <a:pt x="0" y="0"/>
                </a:moveTo>
                <a:lnTo>
                  <a:pt x="452660" y="0"/>
                </a:lnTo>
                <a:lnTo>
                  <a:pt x="452660" y="433987"/>
                </a:lnTo>
                <a:lnTo>
                  <a:pt x="0" y="4339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9" name="Freeform 99"/>
          <p:cNvSpPr/>
          <p:nvPr/>
        </p:nvSpPr>
        <p:spPr>
          <a:xfrm>
            <a:off x="9294225" y="4183725"/>
            <a:ext cx="668081" cy="668081"/>
          </a:xfrm>
          <a:custGeom>
            <a:avLst/>
            <a:gdLst/>
            <a:ahLst/>
            <a:cxnLst/>
            <a:rect l="l" t="t" r="r" b="b"/>
            <a:pathLst>
              <a:path w="668081" h="668081">
                <a:moveTo>
                  <a:pt x="0" y="0"/>
                </a:moveTo>
                <a:lnTo>
                  <a:pt x="668081" y="0"/>
                </a:lnTo>
                <a:lnTo>
                  <a:pt x="668081" y="668080"/>
                </a:lnTo>
                <a:lnTo>
                  <a:pt x="0" y="668080"/>
                </a:lnTo>
                <a:lnTo>
                  <a:pt x="0" y="0"/>
                </a:lnTo>
                <a:close/>
              </a:path>
            </a:pathLst>
          </a:custGeom>
          <a:blipFill>
            <a:blip r:embed="rId10"/>
            <a:stretch>
              <a:fillRect/>
            </a:stretch>
          </a:blipFill>
        </p:spPr>
      </p:sp>
      <p:sp>
        <p:nvSpPr>
          <p:cNvPr id="100" name="Freeform 100"/>
          <p:cNvSpPr/>
          <p:nvPr/>
        </p:nvSpPr>
        <p:spPr>
          <a:xfrm>
            <a:off x="11735090" y="4240379"/>
            <a:ext cx="611426" cy="611426"/>
          </a:xfrm>
          <a:custGeom>
            <a:avLst/>
            <a:gdLst/>
            <a:ahLst/>
            <a:cxnLst/>
            <a:rect l="l" t="t" r="r" b="b"/>
            <a:pathLst>
              <a:path w="611426" h="611426">
                <a:moveTo>
                  <a:pt x="0" y="0"/>
                </a:moveTo>
                <a:lnTo>
                  <a:pt x="611426" y="0"/>
                </a:lnTo>
                <a:lnTo>
                  <a:pt x="611426" y="611426"/>
                </a:lnTo>
                <a:lnTo>
                  <a:pt x="0" y="611426"/>
                </a:lnTo>
                <a:lnTo>
                  <a:pt x="0" y="0"/>
                </a:lnTo>
                <a:close/>
              </a:path>
            </a:pathLst>
          </a:custGeom>
          <a:blipFill>
            <a:blip r:embed="rId11"/>
            <a:stretch>
              <a:fillRect/>
            </a:stretch>
          </a:blipFill>
        </p:spPr>
      </p:sp>
      <p:sp>
        <p:nvSpPr>
          <p:cNvPr id="101" name="Freeform 101"/>
          <p:cNvSpPr/>
          <p:nvPr/>
        </p:nvSpPr>
        <p:spPr>
          <a:xfrm>
            <a:off x="6912749" y="4264201"/>
            <a:ext cx="634689" cy="634689"/>
          </a:xfrm>
          <a:custGeom>
            <a:avLst/>
            <a:gdLst/>
            <a:ahLst/>
            <a:cxnLst/>
            <a:rect l="l" t="t" r="r" b="b"/>
            <a:pathLst>
              <a:path w="634689" h="634689">
                <a:moveTo>
                  <a:pt x="0" y="0"/>
                </a:moveTo>
                <a:lnTo>
                  <a:pt x="634690" y="0"/>
                </a:lnTo>
                <a:lnTo>
                  <a:pt x="634690" y="634690"/>
                </a:lnTo>
                <a:lnTo>
                  <a:pt x="0" y="634690"/>
                </a:lnTo>
                <a:lnTo>
                  <a:pt x="0" y="0"/>
                </a:lnTo>
                <a:close/>
              </a:path>
            </a:pathLst>
          </a:custGeom>
          <a:blipFill>
            <a:blip r:embed="rId12"/>
            <a:stretch>
              <a:fillRect/>
            </a:stretch>
          </a:blipFill>
        </p:spPr>
      </p:sp>
      <p:sp>
        <p:nvSpPr>
          <p:cNvPr id="102" name="Freeform 102"/>
          <p:cNvSpPr/>
          <p:nvPr/>
        </p:nvSpPr>
        <p:spPr>
          <a:xfrm>
            <a:off x="4750103" y="4043089"/>
            <a:ext cx="623030" cy="623030"/>
          </a:xfrm>
          <a:custGeom>
            <a:avLst/>
            <a:gdLst/>
            <a:ahLst/>
            <a:cxnLst/>
            <a:rect l="l" t="t" r="r" b="b"/>
            <a:pathLst>
              <a:path w="623030" h="623030">
                <a:moveTo>
                  <a:pt x="0" y="0"/>
                </a:moveTo>
                <a:lnTo>
                  <a:pt x="623030" y="0"/>
                </a:lnTo>
                <a:lnTo>
                  <a:pt x="623030" y="623031"/>
                </a:lnTo>
                <a:lnTo>
                  <a:pt x="0" y="623031"/>
                </a:lnTo>
                <a:lnTo>
                  <a:pt x="0" y="0"/>
                </a:lnTo>
                <a:close/>
              </a:path>
            </a:pathLst>
          </a:custGeom>
          <a:blipFill>
            <a:blip r:embed="rId13"/>
            <a:stretch>
              <a:fillRect/>
            </a:stretch>
          </a:blipFill>
        </p:spPr>
      </p:sp>
      <p:sp>
        <p:nvSpPr>
          <p:cNvPr id="103" name="Freeform 103"/>
          <p:cNvSpPr/>
          <p:nvPr/>
        </p:nvSpPr>
        <p:spPr>
          <a:xfrm>
            <a:off x="2514942" y="3831901"/>
            <a:ext cx="714191" cy="714191"/>
          </a:xfrm>
          <a:custGeom>
            <a:avLst/>
            <a:gdLst/>
            <a:ahLst/>
            <a:cxnLst/>
            <a:rect l="l" t="t" r="r" b="b"/>
            <a:pathLst>
              <a:path w="714191" h="714191">
                <a:moveTo>
                  <a:pt x="0" y="0"/>
                </a:moveTo>
                <a:lnTo>
                  <a:pt x="714191" y="0"/>
                </a:lnTo>
                <a:lnTo>
                  <a:pt x="714191" y="714191"/>
                </a:lnTo>
                <a:lnTo>
                  <a:pt x="0" y="714191"/>
                </a:lnTo>
                <a:lnTo>
                  <a:pt x="0" y="0"/>
                </a:lnTo>
                <a:close/>
              </a:path>
            </a:pathLst>
          </a:custGeom>
          <a:blipFill>
            <a:blip r:embed="rId14"/>
            <a:stretch>
              <a:fillRect/>
            </a:stretch>
          </a:blipFill>
        </p:spPr>
      </p:sp>
      <p:sp>
        <p:nvSpPr>
          <p:cNvPr id="104" name="Freeform 104"/>
          <p:cNvSpPr/>
          <p:nvPr/>
        </p:nvSpPr>
        <p:spPr>
          <a:xfrm>
            <a:off x="13883399" y="4071079"/>
            <a:ext cx="623030" cy="623030"/>
          </a:xfrm>
          <a:custGeom>
            <a:avLst/>
            <a:gdLst/>
            <a:ahLst/>
            <a:cxnLst/>
            <a:rect l="l" t="t" r="r" b="b"/>
            <a:pathLst>
              <a:path w="623030" h="623030">
                <a:moveTo>
                  <a:pt x="0" y="0"/>
                </a:moveTo>
                <a:lnTo>
                  <a:pt x="623030" y="0"/>
                </a:lnTo>
                <a:lnTo>
                  <a:pt x="623030" y="623030"/>
                </a:lnTo>
                <a:lnTo>
                  <a:pt x="0" y="623030"/>
                </a:lnTo>
                <a:lnTo>
                  <a:pt x="0" y="0"/>
                </a:lnTo>
                <a:close/>
              </a:path>
            </a:pathLst>
          </a:custGeom>
          <a:blipFill>
            <a:blip r:embed="rId15"/>
            <a:stretch>
              <a:fillRect/>
            </a:stretch>
          </a:blipFill>
        </p:spPr>
      </p:sp>
      <p:sp>
        <p:nvSpPr>
          <p:cNvPr id="105" name="TextBox 105"/>
          <p:cNvSpPr txBox="1"/>
          <p:nvPr/>
        </p:nvSpPr>
        <p:spPr>
          <a:xfrm>
            <a:off x="1274345" y="472598"/>
            <a:ext cx="15586709" cy="688974"/>
          </a:xfrm>
          <a:prstGeom prst="rect">
            <a:avLst/>
          </a:prstGeom>
        </p:spPr>
        <p:txBody>
          <a:bodyPr lIns="0" tIns="0" rIns="0" bIns="0" rtlCol="0" anchor="t">
            <a:spAutoFit/>
          </a:bodyPr>
          <a:lstStyle/>
          <a:p>
            <a:pPr algn="just">
              <a:lnSpc>
                <a:spcPts val="5600"/>
              </a:lnSpc>
            </a:pPr>
            <a:r>
              <a:rPr lang="en-US" sz="4000" b="1">
                <a:solidFill>
                  <a:srgbClr val="191919"/>
                </a:solidFill>
                <a:latin typeface="Gotham Bold"/>
                <a:ea typeface="Gotham Bold"/>
                <a:cs typeface="Gotham Bold"/>
                <a:sym typeface="Gotham Bold"/>
              </a:rPr>
              <a:t>KEY PROBLEMS AND INSIGHTS</a:t>
            </a:r>
          </a:p>
        </p:txBody>
      </p:sp>
      <p:grpSp>
        <p:nvGrpSpPr>
          <p:cNvPr id="106" name="Group 106"/>
          <p:cNvGrpSpPr/>
          <p:nvPr/>
        </p:nvGrpSpPr>
        <p:grpSpPr>
          <a:xfrm>
            <a:off x="8724126" y="5377104"/>
            <a:ext cx="1808279" cy="2201382"/>
            <a:chOff x="0" y="0"/>
            <a:chExt cx="2411039" cy="2935176"/>
          </a:xfrm>
        </p:grpSpPr>
        <p:sp>
          <p:nvSpPr>
            <p:cNvPr id="107" name="TextBox 107"/>
            <p:cNvSpPr txBox="1"/>
            <p:nvPr/>
          </p:nvSpPr>
          <p:spPr>
            <a:xfrm>
              <a:off x="0" y="-19050"/>
              <a:ext cx="2411039" cy="737540"/>
            </a:xfrm>
            <a:prstGeom prst="rect">
              <a:avLst/>
            </a:prstGeom>
          </p:spPr>
          <p:txBody>
            <a:bodyPr lIns="0" tIns="0" rIns="0" bIns="0" rtlCol="0" anchor="t">
              <a:spAutoFit/>
            </a:bodyPr>
            <a:lstStyle/>
            <a:p>
              <a:pPr algn="ctr">
                <a:lnSpc>
                  <a:spcPts val="2221"/>
                </a:lnSpc>
              </a:pPr>
              <a:r>
                <a:rPr lang="en-US" sz="1708" b="1">
                  <a:solidFill>
                    <a:srgbClr val="000000"/>
                  </a:solidFill>
                  <a:latin typeface="DM Sans Bold"/>
                  <a:ea typeface="DM Sans Bold"/>
                  <a:cs typeface="DM Sans Bold"/>
                  <a:sym typeface="DM Sans Bold"/>
                </a:rPr>
                <a:t>Regional Imbalance</a:t>
              </a:r>
            </a:p>
          </p:txBody>
        </p:sp>
        <p:sp>
          <p:nvSpPr>
            <p:cNvPr id="108" name="TextBox 108"/>
            <p:cNvSpPr txBox="1"/>
            <p:nvPr/>
          </p:nvSpPr>
          <p:spPr>
            <a:xfrm>
              <a:off x="0" y="998427"/>
              <a:ext cx="2411039" cy="1936749"/>
            </a:xfrm>
            <a:prstGeom prst="rect">
              <a:avLst/>
            </a:prstGeom>
          </p:spPr>
          <p:txBody>
            <a:bodyPr lIns="0" tIns="0" rIns="0" bIns="0" rtlCol="0" anchor="t">
              <a:spAutoFit/>
            </a:bodyPr>
            <a:lstStyle/>
            <a:p>
              <a:pPr algn="ctr">
                <a:lnSpc>
                  <a:spcPts val="1974"/>
                </a:lnSpc>
              </a:pPr>
              <a:r>
                <a:rPr lang="en-US" sz="1518">
                  <a:solidFill>
                    <a:srgbClr val="000000"/>
                  </a:solidFill>
                  <a:latin typeface="DM Sans"/>
                  <a:ea typeface="DM Sans"/>
                  <a:cs typeface="DM Sans"/>
                  <a:sym typeface="DM Sans"/>
                </a:rPr>
                <a:t>Content is heavily concentrated in a few countries like the U.S. and India, with many regions underrepresented</a:t>
              </a:r>
            </a:p>
          </p:txBody>
        </p:sp>
      </p:grpSp>
      <p:grpSp>
        <p:nvGrpSpPr>
          <p:cNvPr id="109" name="Group 109"/>
          <p:cNvGrpSpPr/>
          <p:nvPr/>
        </p:nvGrpSpPr>
        <p:grpSpPr>
          <a:xfrm>
            <a:off x="6273908" y="5359022"/>
            <a:ext cx="1717865" cy="1957264"/>
            <a:chOff x="0" y="0"/>
            <a:chExt cx="2290487" cy="2609685"/>
          </a:xfrm>
        </p:grpSpPr>
        <p:sp>
          <p:nvSpPr>
            <p:cNvPr id="110" name="TextBox 110"/>
            <p:cNvSpPr txBox="1"/>
            <p:nvPr/>
          </p:nvSpPr>
          <p:spPr>
            <a:xfrm>
              <a:off x="0" y="-19050"/>
              <a:ext cx="2290487" cy="737540"/>
            </a:xfrm>
            <a:prstGeom prst="rect">
              <a:avLst/>
            </a:prstGeom>
          </p:spPr>
          <p:txBody>
            <a:bodyPr lIns="0" tIns="0" rIns="0" bIns="0" rtlCol="0" anchor="t">
              <a:spAutoFit/>
            </a:bodyPr>
            <a:lstStyle/>
            <a:p>
              <a:pPr algn="ctr">
                <a:lnSpc>
                  <a:spcPts val="2221"/>
                </a:lnSpc>
              </a:pPr>
              <a:r>
                <a:rPr lang="en-US" sz="1708" b="1">
                  <a:solidFill>
                    <a:srgbClr val="000000"/>
                  </a:solidFill>
                  <a:latin typeface="DM Sans Bold"/>
                  <a:ea typeface="DM Sans Bold"/>
                  <a:cs typeface="DM Sans Bold"/>
                  <a:sym typeface="DM Sans Bold"/>
                </a:rPr>
                <a:t>Maturity Rating Skew</a:t>
              </a:r>
            </a:p>
          </p:txBody>
        </p:sp>
        <p:sp>
          <p:nvSpPr>
            <p:cNvPr id="111" name="TextBox 111"/>
            <p:cNvSpPr txBox="1"/>
            <p:nvPr/>
          </p:nvSpPr>
          <p:spPr>
            <a:xfrm>
              <a:off x="0" y="998427"/>
              <a:ext cx="2290487" cy="1611259"/>
            </a:xfrm>
            <a:prstGeom prst="rect">
              <a:avLst/>
            </a:prstGeom>
          </p:spPr>
          <p:txBody>
            <a:bodyPr lIns="0" tIns="0" rIns="0" bIns="0" rtlCol="0" anchor="t">
              <a:spAutoFit/>
            </a:bodyPr>
            <a:lstStyle/>
            <a:p>
              <a:pPr algn="ctr">
                <a:lnSpc>
                  <a:spcPts val="1974"/>
                </a:lnSpc>
              </a:pPr>
              <a:r>
                <a:rPr lang="en-US" sz="1518">
                  <a:solidFill>
                    <a:srgbClr val="000000"/>
                  </a:solidFill>
                  <a:latin typeface="DM Sans"/>
                  <a:ea typeface="DM Sans"/>
                  <a:cs typeface="DM Sans"/>
                  <a:sym typeface="DM Sans"/>
                </a:rPr>
                <a:t>Most recent titles are TV-MA, showing an imbalance toward mature content</a:t>
              </a:r>
            </a:p>
          </p:txBody>
        </p:sp>
      </p:grpSp>
      <p:grpSp>
        <p:nvGrpSpPr>
          <p:cNvPr id="112" name="Group 112"/>
          <p:cNvGrpSpPr/>
          <p:nvPr/>
        </p:nvGrpSpPr>
        <p:grpSpPr>
          <a:xfrm>
            <a:off x="11264759" y="5359022"/>
            <a:ext cx="1717865" cy="2201382"/>
            <a:chOff x="0" y="0"/>
            <a:chExt cx="2290487" cy="2935176"/>
          </a:xfrm>
        </p:grpSpPr>
        <p:sp>
          <p:nvSpPr>
            <p:cNvPr id="113" name="TextBox 113"/>
            <p:cNvSpPr txBox="1"/>
            <p:nvPr/>
          </p:nvSpPr>
          <p:spPr>
            <a:xfrm>
              <a:off x="0" y="-19050"/>
              <a:ext cx="2290487" cy="737540"/>
            </a:xfrm>
            <a:prstGeom prst="rect">
              <a:avLst/>
            </a:prstGeom>
          </p:spPr>
          <p:txBody>
            <a:bodyPr lIns="0" tIns="0" rIns="0" bIns="0" rtlCol="0" anchor="t">
              <a:spAutoFit/>
            </a:bodyPr>
            <a:lstStyle/>
            <a:p>
              <a:pPr algn="ctr">
                <a:lnSpc>
                  <a:spcPts val="2221"/>
                </a:lnSpc>
              </a:pPr>
              <a:r>
                <a:rPr lang="en-US" sz="1708" b="1">
                  <a:solidFill>
                    <a:srgbClr val="FFFFFF"/>
                  </a:solidFill>
                  <a:latin typeface="DM Sans Bold"/>
                  <a:ea typeface="DM Sans Bold"/>
                  <a:cs typeface="DM Sans Bold"/>
                  <a:sym typeface="DM Sans Bold"/>
                </a:rPr>
                <a:t>Lack of Family Content</a:t>
              </a:r>
            </a:p>
          </p:txBody>
        </p:sp>
        <p:sp>
          <p:nvSpPr>
            <p:cNvPr id="114" name="TextBox 114"/>
            <p:cNvSpPr txBox="1"/>
            <p:nvPr/>
          </p:nvSpPr>
          <p:spPr>
            <a:xfrm>
              <a:off x="0" y="998427"/>
              <a:ext cx="2290487" cy="1936749"/>
            </a:xfrm>
            <a:prstGeom prst="rect">
              <a:avLst/>
            </a:prstGeom>
          </p:spPr>
          <p:txBody>
            <a:bodyPr lIns="0" tIns="0" rIns="0" bIns="0" rtlCol="0" anchor="t">
              <a:spAutoFit/>
            </a:bodyPr>
            <a:lstStyle/>
            <a:p>
              <a:pPr algn="ctr">
                <a:lnSpc>
                  <a:spcPts val="1974"/>
                </a:lnSpc>
              </a:pPr>
              <a:r>
                <a:rPr lang="en-US" sz="1518">
                  <a:solidFill>
                    <a:srgbClr val="FFFFFF"/>
                  </a:solidFill>
                  <a:latin typeface="DM Sans"/>
                  <a:ea typeface="DM Sans"/>
                  <a:cs typeface="DM Sans"/>
                  <a:sym typeface="DM Sans"/>
                </a:rPr>
                <a:t>PG and TV-PG categories are limited, reducing appeal for younger viewers and families</a:t>
              </a:r>
            </a:p>
          </p:txBody>
        </p:sp>
      </p:grpSp>
      <p:grpSp>
        <p:nvGrpSpPr>
          <p:cNvPr id="115" name="Group 115"/>
          <p:cNvGrpSpPr/>
          <p:nvPr/>
        </p:nvGrpSpPr>
        <p:grpSpPr>
          <a:xfrm>
            <a:off x="4108493" y="5277649"/>
            <a:ext cx="1717865" cy="2445499"/>
            <a:chOff x="0" y="0"/>
            <a:chExt cx="2290487" cy="3260666"/>
          </a:xfrm>
        </p:grpSpPr>
        <p:sp>
          <p:nvSpPr>
            <p:cNvPr id="116" name="TextBox 116"/>
            <p:cNvSpPr txBox="1"/>
            <p:nvPr/>
          </p:nvSpPr>
          <p:spPr>
            <a:xfrm>
              <a:off x="0" y="-19050"/>
              <a:ext cx="2290487" cy="737540"/>
            </a:xfrm>
            <a:prstGeom prst="rect">
              <a:avLst/>
            </a:prstGeom>
          </p:spPr>
          <p:txBody>
            <a:bodyPr lIns="0" tIns="0" rIns="0" bIns="0" rtlCol="0" anchor="t">
              <a:spAutoFit/>
            </a:bodyPr>
            <a:lstStyle/>
            <a:p>
              <a:pPr algn="ctr">
                <a:lnSpc>
                  <a:spcPts val="2221"/>
                </a:lnSpc>
              </a:pPr>
              <a:r>
                <a:rPr lang="en-US" sz="1708" b="1">
                  <a:solidFill>
                    <a:srgbClr val="000000"/>
                  </a:solidFill>
                  <a:latin typeface="DM Sans Bold"/>
                  <a:ea typeface="DM Sans Bold"/>
                  <a:cs typeface="DM Sans Bold"/>
                  <a:sym typeface="DM Sans Bold"/>
                </a:rPr>
                <a:t>Genre Saturation</a:t>
              </a:r>
            </a:p>
          </p:txBody>
        </p:sp>
        <p:sp>
          <p:nvSpPr>
            <p:cNvPr id="117" name="TextBox 117"/>
            <p:cNvSpPr txBox="1"/>
            <p:nvPr/>
          </p:nvSpPr>
          <p:spPr>
            <a:xfrm>
              <a:off x="0" y="998427"/>
              <a:ext cx="2290487" cy="2262239"/>
            </a:xfrm>
            <a:prstGeom prst="rect">
              <a:avLst/>
            </a:prstGeom>
          </p:spPr>
          <p:txBody>
            <a:bodyPr lIns="0" tIns="0" rIns="0" bIns="0" rtlCol="0" anchor="t">
              <a:spAutoFit/>
            </a:bodyPr>
            <a:lstStyle/>
            <a:p>
              <a:pPr algn="ctr">
                <a:lnSpc>
                  <a:spcPts val="1974"/>
                </a:lnSpc>
              </a:pPr>
              <a:r>
                <a:rPr lang="en-US" sz="1518">
                  <a:solidFill>
                    <a:srgbClr val="000000"/>
                  </a:solidFill>
                  <a:latin typeface="DM Sans"/>
                  <a:ea typeface="DM Sans"/>
                  <a:cs typeface="DM Sans"/>
                  <a:sym typeface="DM Sans"/>
                </a:rPr>
                <a:t>Drama, Comedy, and Documentaries dominate, while several genres remain underserved</a:t>
              </a:r>
            </a:p>
          </p:txBody>
        </p:sp>
      </p:grpSp>
      <p:grpSp>
        <p:nvGrpSpPr>
          <p:cNvPr id="118" name="Group 118"/>
          <p:cNvGrpSpPr/>
          <p:nvPr/>
        </p:nvGrpSpPr>
        <p:grpSpPr>
          <a:xfrm>
            <a:off x="1934037" y="5078738"/>
            <a:ext cx="1717865" cy="1957264"/>
            <a:chOff x="0" y="0"/>
            <a:chExt cx="2290487" cy="2609685"/>
          </a:xfrm>
        </p:grpSpPr>
        <p:sp>
          <p:nvSpPr>
            <p:cNvPr id="119" name="TextBox 119"/>
            <p:cNvSpPr txBox="1"/>
            <p:nvPr/>
          </p:nvSpPr>
          <p:spPr>
            <a:xfrm>
              <a:off x="0" y="-19050"/>
              <a:ext cx="2290487" cy="737540"/>
            </a:xfrm>
            <a:prstGeom prst="rect">
              <a:avLst/>
            </a:prstGeom>
          </p:spPr>
          <p:txBody>
            <a:bodyPr lIns="0" tIns="0" rIns="0" bIns="0" rtlCol="0" anchor="t">
              <a:spAutoFit/>
            </a:bodyPr>
            <a:lstStyle/>
            <a:p>
              <a:pPr algn="ctr">
                <a:lnSpc>
                  <a:spcPts val="2221"/>
                </a:lnSpc>
              </a:pPr>
              <a:r>
                <a:rPr lang="en-US" sz="1708" b="1">
                  <a:solidFill>
                    <a:srgbClr val="000000"/>
                  </a:solidFill>
                  <a:latin typeface="DM Sans Bold"/>
                  <a:ea typeface="DM Sans Bold"/>
                  <a:cs typeface="DM Sans Bold"/>
                  <a:sym typeface="DM Sans Bold"/>
                </a:rPr>
                <a:t>Uneven Country Contribution</a:t>
              </a:r>
            </a:p>
          </p:txBody>
        </p:sp>
        <p:sp>
          <p:nvSpPr>
            <p:cNvPr id="120" name="TextBox 120"/>
            <p:cNvSpPr txBox="1"/>
            <p:nvPr/>
          </p:nvSpPr>
          <p:spPr>
            <a:xfrm>
              <a:off x="0" y="998427"/>
              <a:ext cx="2290487" cy="1611259"/>
            </a:xfrm>
            <a:prstGeom prst="rect">
              <a:avLst/>
            </a:prstGeom>
          </p:spPr>
          <p:txBody>
            <a:bodyPr lIns="0" tIns="0" rIns="0" bIns="0" rtlCol="0" anchor="t">
              <a:spAutoFit/>
            </a:bodyPr>
            <a:lstStyle/>
            <a:p>
              <a:pPr algn="ctr">
                <a:lnSpc>
                  <a:spcPts val="1974"/>
                </a:lnSpc>
              </a:pPr>
              <a:r>
                <a:rPr lang="en-US" sz="1518">
                  <a:solidFill>
                    <a:srgbClr val="000000"/>
                  </a:solidFill>
                  <a:latin typeface="DM Sans"/>
                  <a:ea typeface="DM Sans"/>
                  <a:cs typeface="DM Sans"/>
                  <a:sym typeface="DM Sans"/>
                </a:rPr>
                <a:t>Smaller countries contribute very few titles, limiting cultural diversity in the catalog</a:t>
              </a:r>
            </a:p>
          </p:txBody>
        </p:sp>
      </p:grpSp>
      <p:grpSp>
        <p:nvGrpSpPr>
          <p:cNvPr id="121" name="Group 121"/>
          <p:cNvGrpSpPr/>
          <p:nvPr/>
        </p:nvGrpSpPr>
        <p:grpSpPr>
          <a:xfrm>
            <a:off x="13434694" y="5277649"/>
            <a:ext cx="1717865" cy="1957264"/>
            <a:chOff x="0" y="0"/>
            <a:chExt cx="2290487" cy="2609685"/>
          </a:xfrm>
        </p:grpSpPr>
        <p:sp>
          <p:nvSpPr>
            <p:cNvPr id="122" name="TextBox 122"/>
            <p:cNvSpPr txBox="1"/>
            <p:nvPr/>
          </p:nvSpPr>
          <p:spPr>
            <a:xfrm>
              <a:off x="0" y="-19050"/>
              <a:ext cx="2290487" cy="737540"/>
            </a:xfrm>
            <a:prstGeom prst="rect">
              <a:avLst/>
            </a:prstGeom>
          </p:spPr>
          <p:txBody>
            <a:bodyPr lIns="0" tIns="0" rIns="0" bIns="0" rtlCol="0" anchor="t">
              <a:spAutoFit/>
            </a:bodyPr>
            <a:lstStyle/>
            <a:p>
              <a:pPr algn="ctr">
                <a:lnSpc>
                  <a:spcPts val="2221"/>
                </a:lnSpc>
              </a:pPr>
              <a:r>
                <a:rPr lang="en-US" sz="1708" b="1">
                  <a:solidFill>
                    <a:srgbClr val="FFFFFF"/>
                  </a:solidFill>
                  <a:latin typeface="DM Sans Bold"/>
                  <a:ea typeface="DM Sans Bold"/>
                  <a:cs typeface="DM Sans Bold"/>
                  <a:sym typeface="DM Sans Bold"/>
                </a:rPr>
                <a:t>Release Year Concentration</a:t>
              </a:r>
            </a:p>
          </p:txBody>
        </p:sp>
        <p:sp>
          <p:nvSpPr>
            <p:cNvPr id="123" name="TextBox 123"/>
            <p:cNvSpPr txBox="1"/>
            <p:nvPr/>
          </p:nvSpPr>
          <p:spPr>
            <a:xfrm>
              <a:off x="0" y="998427"/>
              <a:ext cx="2290487" cy="1611259"/>
            </a:xfrm>
            <a:prstGeom prst="rect">
              <a:avLst/>
            </a:prstGeom>
          </p:spPr>
          <p:txBody>
            <a:bodyPr lIns="0" tIns="0" rIns="0" bIns="0" rtlCol="0" anchor="t">
              <a:spAutoFit/>
            </a:bodyPr>
            <a:lstStyle/>
            <a:p>
              <a:pPr algn="ctr">
                <a:lnSpc>
                  <a:spcPts val="1974"/>
                </a:lnSpc>
              </a:pPr>
              <a:r>
                <a:rPr lang="en-US" sz="1518">
                  <a:solidFill>
                    <a:srgbClr val="FFFFFF"/>
                  </a:solidFill>
                  <a:latin typeface="DM Sans"/>
                  <a:ea typeface="DM Sans"/>
                  <a:cs typeface="DM Sans"/>
                  <a:sym typeface="DM Sans"/>
                </a:rPr>
                <a:t>Majority of titles were released after 2015, indicating a strong recency bias</a:t>
              </a:r>
            </a:p>
          </p:txBody>
        </p:sp>
      </p:grpSp>
      <p:grpSp>
        <p:nvGrpSpPr>
          <p:cNvPr id="124" name="Group 124"/>
          <p:cNvGrpSpPr/>
          <p:nvPr/>
        </p:nvGrpSpPr>
        <p:grpSpPr>
          <a:xfrm>
            <a:off x="15604629" y="5078738"/>
            <a:ext cx="1809195" cy="2777013"/>
            <a:chOff x="0" y="0"/>
            <a:chExt cx="2412260" cy="3702684"/>
          </a:xfrm>
        </p:grpSpPr>
        <p:sp>
          <p:nvSpPr>
            <p:cNvPr id="125" name="TextBox 125"/>
            <p:cNvSpPr txBox="1"/>
            <p:nvPr/>
          </p:nvSpPr>
          <p:spPr>
            <a:xfrm>
              <a:off x="0" y="-19050"/>
              <a:ext cx="2412260" cy="1040315"/>
            </a:xfrm>
            <a:prstGeom prst="rect">
              <a:avLst/>
            </a:prstGeom>
          </p:spPr>
          <p:txBody>
            <a:bodyPr lIns="0" tIns="0" rIns="0" bIns="0" rtlCol="0" anchor="t">
              <a:spAutoFit/>
            </a:bodyPr>
            <a:lstStyle/>
            <a:p>
              <a:pPr algn="ctr">
                <a:lnSpc>
                  <a:spcPts val="2076"/>
                </a:lnSpc>
              </a:pPr>
              <a:r>
                <a:rPr lang="en-US" sz="1597" b="1">
                  <a:solidFill>
                    <a:srgbClr val="FFFFFF"/>
                  </a:solidFill>
                  <a:latin typeface="DM Sans Bold"/>
                  <a:ea typeface="DM Sans Bold"/>
                  <a:cs typeface="DM Sans Bold"/>
                  <a:sym typeface="DM Sans Bold"/>
                </a:rPr>
                <a:t>Inconsistent Rating Trends Across Regions</a:t>
              </a:r>
            </a:p>
          </p:txBody>
        </p:sp>
        <p:sp>
          <p:nvSpPr>
            <p:cNvPr id="126" name="TextBox 126"/>
            <p:cNvSpPr txBox="1"/>
            <p:nvPr/>
          </p:nvSpPr>
          <p:spPr>
            <a:xfrm>
              <a:off x="0" y="1282402"/>
              <a:ext cx="2412260" cy="2420282"/>
            </a:xfrm>
            <a:prstGeom prst="rect">
              <a:avLst/>
            </a:prstGeom>
          </p:spPr>
          <p:txBody>
            <a:bodyPr lIns="0" tIns="0" rIns="0" bIns="0" rtlCol="0" anchor="t">
              <a:spAutoFit/>
            </a:bodyPr>
            <a:lstStyle/>
            <a:p>
              <a:pPr algn="ctr">
                <a:lnSpc>
                  <a:spcPts val="1846"/>
                </a:lnSpc>
              </a:pPr>
              <a:r>
                <a:rPr lang="en-US" sz="1420">
                  <a:solidFill>
                    <a:srgbClr val="FFFFFF"/>
                  </a:solidFill>
                  <a:latin typeface="DM Sans"/>
                  <a:ea typeface="DM Sans"/>
                  <a:cs typeface="DM Sans"/>
                  <a:sym typeface="DM Sans"/>
                </a:rPr>
                <a:t>Some countries focus heavily on mature ratings, while others lean more toward PG-13/TV-14, showing inconsistent global content balance</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2"/>
          <p:cNvGrpSpPr/>
          <p:nvPr/>
        </p:nvGrpSpPr>
        <p:grpSpPr>
          <a:xfrm>
            <a:off x="-2030022" y="-1254819"/>
            <a:ext cx="3499668" cy="13405540"/>
            <a:chOff x="0" y="0"/>
            <a:chExt cx="212191" cy="812800"/>
          </a:xfrm>
        </p:grpSpPr>
        <p:sp>
          <p:nvSpPr>
            <p:cNvPr id="3" name="Freeform 3"/>
            <p:cNvSpPr/>
            <p:nvPr/>
          </p:nvSpPr>
          <p:spPr>
            <a:xfrm>
              <a:off x="0" y="0"/>
              <a:ext cx="212191" cy="812800"/>
            </a:xfrm>
            <a:custGeom>
              <a:avLst/>
              <a:gdLst/>
              <a:ahLst/>
              <a:cxnLst/>
              <a:rect l="l" t="t" r="r" b="b"/>
              <a:pathLst>
                <a:path w="212191" h="812800">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id="4" name="TextBox 4"/>
            <p:cNvSpPr txBox="1"/>
            <p:nvPr/>
          </p:nvSpPr>
          <p:spPr>
            <a:xfrm>
              <a:off x="19893" y="47625"/>
              <a:ext cx="172405" cy="68897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8685" y="6714974"/>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8" name="Group 8"/>
          <p:cNvGrpSpPr/>
          <p:nvPr/>
        </p:nvGrpSpPr>
        <p:grpSpPr>
          <a:xfrm>
            <a:off x="320837" y="3376821"/>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320837" y="2043428"/>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320837" y="4044452"/>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320837" y="2709191"/>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320837" y="5379713"/>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320837" y="4712082"/>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320837" y="604734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sp>
        <p:nvSpPr>
          <p:cNvPr id="29" name="Freeform 29"/>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0" name="Group 30"/>
          <p:cNvGrpSpPr/>
          <p:nvPr/>
        </p:nvGrpSpPr>
        <p:grpSpPr>
          <a:xfrm>
            <a:off x="17170670" y="-178579"/>
            <a:ext cx="10994424" cy="10994424"/>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id="32" name="TextBox 3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3244924" y="1971409"/>
            <a:ext cx="5758395" cy="3073944"/>
            <a:chOff x="0" y="0"/>
            <a:chExt cx="951960" cy="508175"/>
          </a:xfrm>
        </p:grpSpPr>
        <p:sp>
          <p:nvSpPr>
            <p:cNvPr id="34" name="Freeform 34"/>
            <p:cNvSpPr/>
            <p:nvPr/>
          </p:nvSpPr>
          <p:spPr>
            <a:xfrm>
              <a:off x="0" y="0"/>
              <a:ext cx="951960" cy="508175"/>
            </a:xfrm>
            <a:custGeom>
              <a:avLst/>
              <a:gdLst/>
              <a:ahLst/>
              <a:cxnLst/>
              <a:rect l="l" t="t" r="r" b="b"/>
              <a:pathLst>
                <a:path w="951960" h="508175">
                  <a:moveTo>
                    <a:pt x="21511" y="0"/>
                  </a:moveTo>
                  <a:lnTo>
                    <a:pt x="930449" y="0"/>
                  </a:lnTo>
                  <a:cubicBezTo>
                    <a:pt x="936154" y="0"/>
                    <a:pt x="941625" y="2266"/>
                    <a:pt x="945659" y="6301"/>
                  </a:cubicBezTo>
                  <a:cubicBezTo>
                    <a:pt x="949693" y="10335"/>
                    <a:pt x="951960" y="15806"/>
                    <a:pt x="951960" y="21511"/>
                  </a:cubicBezTo>
                  <a:lnTo>
                    <a:pt x="951960" y="486663"/>
                  </a:lnTo>
                  <a:cubicBezTo>
                    <a:pt x="951960" y="498544"/>
                    <a:pt x="942329" y="508175"/>
                    <a:pt x="930449" y="508175"/>
                  </a:cubicBezTo>
                  <a:lnTo>
                    <a:pt x="21511" y="508175"/>
                  </a:lnTo>
                  <a:cubicBezTo>
                    <a:pt x="9631" y="508175"/>
                    <a:pt x="0" y="498544"/>
                    <a:pt x="0" y="486663"/>
                  </a:cubicBezTo>
                  <a:lnTo>
                    <a:pt x="0" y="21511"/>
                  </a:lnTo>
                  <a:cubicBezTo>
                    <a:pt x="0" y="9631"/>
                    <a:pt x="9631" y="0"/>
                    <a:pt x="21511" y="0"/>
                  </a:cubicBezTo>
                  <a:close/>
                </a:path>
              </a:pathLst>
            </a:custGeom>
            <a:solidFill>
              <a:srgbClr val="FFFFFF"/>
            </a:solidFill>
          </p:spPr>
        </p:sp>
        <p:sp>
          <p:nvSpPr>
            <p:cNvPr id="35" name="TextBox 35"/>
            <p:cNvSpPr txBox="1"/>
            <p:nvPr/>
          </p:nvSpPr>
          <p:spPr>
            <a:xfrm>
              <a:off x="0" y="-19050"/>
              <a:ext cx="951960" cy="527225"/>
            </a:xfrm>
            <a:prstGeom prst="rect">
              <a:avLst/>
            </a:prstGeom>
          </p:spPr>
          <p:txBody>
            <a:bodyPr lIns="50800" tIns="50800" rIns="50800" bIns="50800" rtlCol="0" anchor="ctr"/>
            <a:lstStyle/>
            <a:p>
              <a:pPr algn="ctr">
                <a:lnSpc>
                  <a:spcPts val="2339"/>
                </a:lnSpc>
              </a:pPr>
              <a:endParaRPr/>
            </a:p>
          </p:txBody>
        </p:sp>
      </p:grpSp>
      <p:grpSp>
        <p:nvGrpSpPr>
          <p:cNvPr id="36" name="Group 36"/>
          <p:cNvGrpSpPr/>
          <p:nvPr/>
        </p:nvGrpSpPr>
        <p:grpSpPr>
          <a:xfrm>
            <a:off x="3244924" y="5850549"/>
            <a:ext cx="5758395" cy="3073944"/>
            <a:chOff x="0" y="0"/>
            <a:chExt cx="951960" cy="508175"/>
          </a:xfrm>
        </p:grpSpPr>
        <p:sp>
          <p:nvSpPr>
            <p:cNvPr id="37" name="Freeform 37"/>
            <p:cNvSpPr/>
            <p:nvPr/>
          </p:nvSpPr>
          <p:spPr>
            <a:xfrm>
              <a:off x="0" y="0"/>
              <a:ext cx="951960" cy="508175"/>
            </a:xfrm>
            <a:custGeom>
              <a:avLst/>
              <a:gdLst/>
              <a:ahLst/>
              <a:cxnLst/>
              <a:rect l="l" t="t" r="r" b="b"/>
              <a:pathLst>
                <a:path w="951960" h="508175">
                  <a:moveTo>
                    <a:pt x="21511" y="0"/>
                  </a:moveTo>
                  <a:lnTo>
                    <a:pt x="930449" y="0"/>
                  </a:lnTo>
                  <a:cubicBezTo>
                    <a:pt x="936154" y="0"/>
                    <a:pt x="941625" y="2266"/>
                    <a:pt x="945659" y="6301"/>
                  </a:cubicBezTo>
                  <a:cubicBezTo>
                    <a:pt x="949693" y="10335"/>
                    <a:pt x="951960" y="15806"/>
                    <a:pt x="951960" y="21511"/>
                  </a:cubicBezTo>
                  <a:lnTo>
                    <a:pt x="951960" y="486663"/>
                  </a:lnTo>
                  <a:cubicBezTo>
                    <a:pt x="951960" y="498544"/>
                    <a:pt x="942329" y="508175"/>
                    <a:pt x="930449" y="508175"/>
                  </a:cubicBezTo>
                  <a:lnTo>
                    <a:pt x="21511" y="508175"/>
                  </a:lnTo>
                  <a:cubicBezTo>
                    <a:pt x="9631" y="508175"/>
                    <a:pt x="0" y="498544"/>
                    <a:pt x="0" y="486663"/>
                  </a:cubicBezTo>
                  <a:lnTo>
                    <a:pt x="0" y="21511"/>
                  </a:lnTo>
                  <a:cubicBezTo>
                    <a:pt x="0" y="9631"/>
                    <a:pt x="9631" y="0"/>
                    <a:pt x="21511" y="0"/>
                  </a:cubicBezTo>
                  <a:close/>
                </a:path>
              </a:pathLst>
            </a:custGeom>
            <a:solidFill>
              <a:srgbClr val="FFFFFF"/>
            </a:solidFill>
          </p:spPr>
        </p:sp>
        <p:sp>
          <p:nvSpPr>
            <p:cNvPr id="38" name="TextBox 38"/>
            <p:cNvSpPr txBox="1"/>
            <p:nvPr/>
          </p:nvSpPr>
          <p:spPr>
            <a:xfrm>
              <a:off x="0" y="-19050"/>
              <a:ext cx="951960" cy="527225"/>
            </a:xfrm>
            <a:prstGeom prst="rect">
              <a:avLst/>
            </a:prstGeom>
          </p:spPr>
          <p:txBody>
            <a:bodyPr lIns="50800" tIns="50800" rIns="50800" bIns="50800" rtlCol="0" anchor="ctr"/>
            <a:lstStyle/>
            <a:p>
              <a:pPr algn="ctr">
                <a:lnSpc>
                  <a:spcPts val="2339"/>
                </a:lnSpc>
              </a:pPr>
              <a:endParaRPr/>
            </a:p>
          </p:txBody>
        </p:sp>
      </p:grpSp>
      <p:grpSp>
        <p:nvGrpSpPr>
          <p:cNvPr id="39" name="Group 39"/>
          <p:cNvGrpSpPr/>
          <p:nvPr/>
        </p:nvGrpSpPr>
        <p:grpSpPr>
          <a:xfrm>
            <a:off x="10127120" y="1971409"/>
            <a:ext cx="5758395" cy="3073944"/>
            <a:chOff x="0" y="0"/>
            <a:chExt cx="951960" cy="508175"/>
          </a:xfrm>
        </p:grpSpPr>
        <p:sp>
          <p:nvSpPr>
            <p:cNvPr id="40" name="Freeform 40"/>
            <p:cNvSpPr/>
            <p:nvPr/>
          </p:nvSpPr>
          <p:spPr>
            <a:xfrm>
              <a:off x="0" y="0"/>
              <a:ext cx="951960" cy="508175"/>
            </a:xfrm>
            <a:custGeom>
              <a:avLst/>
              <a:gdLst/>
              <a:ahLst/>
              <a:cxnLst/>
              <a:rect l="l" t="t" r="r" b="b"/>
              <a:pathLst>
                <a:path w="951960" h="508175">
                  <a:moveTo>
                    <a:pt x="21511" y="0"/>
                  </a:moveTo>
                  <a:lnTo>
                    <a:pt x="930449" y="0"/>
                  </a:lnTo>
                  <a:cubicBezTo>
                    <a:pt x="936154" y="0"/>
                    <a:pt x="941625" y="2266"/>
                    <a:pt x="945659" y="6301"/>
                  </a:cubicBezTo>
                  <a:cubicBezTo>
                    <a:pt x="949693" y="10335"/>
                    <a:pt x="951960" y="15806"/>
                    <a:pt x="951960" y="21511"/>
                  </a:cubicBezTo>
                  <a:lnTo>
                    <a:pt x="951960" y="486663"/>
                  </a:lnTo>
                  <a:cubicBezTo>
                    <a:pt x="951960" y="498544"/>
                    <a:pt x="942329" y="508175"/>
                    <a:pt x="930449" y="508175"/>
                  </a:cubicBezTo>
                  <a:lnTo>
                    <a:pt x="21511" y="508175"/>
                  </a:lnTo>
                  <a:cubicBezTo>
                    <a:pt x="9631" y="508175"/>
                    <a:pt x="0" y="498544"/>
                    <a:pt x="0" y="486663"/>
                  </a:cubicBezTo>
                  <a:lnTo>
                    <a:pt x="0" y="21511"/>
                  </a:lnTo>
                  <a:cubicBezTo>
                    <a:pt x="0" y="9631"/>
                    <a:pt x="9631" y="0"/>
                    <a:pt x="21511" y="0"/>
                  </a:cubicBezTo>
                  <a:close/>
                </a:path>
              </a:pathLst>
            </a:custGeom>
            <a:solidFill>
              <a:srgbClr val="FFFFFF"/>
            </a:solidFill>
          </p:spPr>
        </p:sp>
        <p:sp>
          <p:nvSpPr>
            <p:cNvPr id="41" name="TextBox 41"/>
            <p:cNvSpPr txBox="1"/>
            <p:nvPr/>
          </p:nvSpPr>
          <p:spPr>
            <a:xfrm>
              <a:off x="0" y="-19050"/>
              <a:ext cx="951960" cy="527225"/>
            </a:xfrm>
            <a:prstGeom prst="rect">
              <a:avLst/>
            </a:prstGeom>
          </p:spPr>
          <p:txBody>
            <a:bodyPr lIns="50800" tIns="50800" rIns="50800" bIns="50800" rtlCol="0" anchor="ctr"/>
            <a:lstStyle/>
            <a:p>
              <a:pPr algn="ctr">
                <a:lnSpc>
                  <a:spcPts val="2339"/>
                </a:lnSpc>
              </a:pPr>
              <a:endParaRPr/>
            </a:p>
          </p:txBody>
        </p:sp>
      </p:grpSp>
      <p:grpSp>
        <p:nvGrpSpPr>
          <p:cNvPr id="42" name="Group 42"/>
          <p:cNvGrpSpPr/>
          <p:nvPr/>
        </p:nvGrpSpPr>
        <p:grpSpPr>
          <a:xfrm>
            <a:off x="10127120" y="5850549"/>
            <a:ext cx="5758395" cy="3073944"/>
            <a:chOff x="0" y="0"/>
            <a:chExt cx="951960" cy="508175"/>
          </a:xfrm>
        </p:grpSpPr>
        <p:sp>
          <p:nvSpPr>
            <p:cNvPr id="43" name="Freeform 43"/>
            <p:cNvSpPr/>
            <p:nvPr/>
          </p:nvSpPr>
          <p:spPr>
            <a:xfrm>
              <a:off x="0" y="0"/>
              <a:ext cx="951960" cy="508175"/>
            </a:xfrm>
            <a:custGeom>
              <a:avLst/>
              <a:gdLst/>
              <a:ahLst/>
              <a:cxnLst/>
              <a:rect l="l" t="t" r="r" b="b"/>
              <a:pathLst>
                <a:path w="951960" h="508175">
                  <a:moveTo>
                    <a:pt x="21511" y="0"/>
                  </a:moveTo>
                  <a:lnTo>
                    <a:pt x="930449" y="0"/>
                  </a:lnTo>
                  <a:cubicBezTo>
                    <a:pt x="936154" y="0"/>
                    <a:pt x="941625" y="2266"/>
                    <a:pt x="945659" y="6301"/>
                  </a:cubicBezTo>
                  <a:cubicBezTo>
                    <a:pt x="949693" y="10335"/>
                    <a:pt x="951960" y="15806"/>
                    <a:pt x="951960" y="21511"/>
                  </a:cubicBezTo>
                  <a:lnTo>
                    <a:pt x="951960" y="486663"/>
                  </a:lnTo>
                  <a:cubicBezTo>
                    <a:pt x="951960" y="498544"/>
                    <a:pt x="942329" y="508175"/>
                    <a:pt x="930449" y="508175"/>
                  </a:cubicBezTo>
                  <a:lnTo>
                    <a:pt x="21511" y="508175"/>
                  </a:lnTo>
                  <a:cubicBezTo>
                    <a:pt x="9631" y="508175"/>
                    <a:pt x="0" y="498544"/>
                    <a:pt x="0" y="486663"/>
                  </a:cubicBezTo>
                  <a:lnTo>
                    <a:pt x="0" y="21511"/>
                  </a:lnTo>
                  <a:cubicBezTo>
                    <a:pt x="0" y="9631"/>
                    <a:pt x="9631" y="0"/>
                    <a:pt x="21511" y="0"/>
                  </a:cubicBezTo>
                  <a:close/>
                </a:path>
              </a:pathLst>
            </a:custGeom>
            <a:solidFill>
              <a:srgbClr val="FFFFFF"/>
            </a:solidFill>
          </p:spPr>
        </p:sp>
        <p:sp>
          <p:nvSpPr>
            <p:cNvPr id="44" name="TextBox 44"/>
            <p:cNvSpPr txBox="1"/>
            <p:nvPr/>
          </p:nvSpPr>
          <p:spPr>
            <a:xfrm>
              <a:off x="0" y="-19050"/>
              <a:ext cx="951960" cy="527225"/>
            </a:xfrm>
            <a:prstGeom prst="rect">
              <a:avLst/>
            </a:prstGeom>
          </p:spPr>
          <p:txBody>
            <a:bodyPr lIns="50800" tIns="50800" rIns="50800" bIns="50800" rtlCol="0" anchor="ctr"/>
            <a:lstStyle/>
            <a:p>
              <a:pPr algn="ctr">
                <a:lnSpc>
                  <a:spcPts val="2339"/>
                </a:lnSpc>
              </a:pPr>
              <a:endParaRPr/>
            </a:p>
          </p:txBody>
        </p:sp>
      </p:grpSp>
      <p:sp>
        <p:nvSpPr>
          <p:cNvPr id="45" name="Freeform 45"/>
          <p:cNvSpPr/>
          <p:nvPr/>
        </p:nvSpPr>
        <p:spPr>
          <a:xfrm rot="5400000" flipV="1">
            <a:off x="1714721" y="2751420"/>
            <a:ext cx="2797088" cy="1513924"/>
          </a:xfrm>
          <a:custGeom>
            <a:avLst/>
            <a:gdLst/>
            <a:ahLst/>
            <a:cxnLst/>
            <a:rect l="l" t="t" r="r" b="b"/>
            <a:pathLst>
              <a:path w="2797088" h="1513924">
                <a:moveTo>
                  <a:pt x="0" y="1513923"/>
                </a:moveTo>
                <a:lnTo>
                  <a:pt x="2797087" y="1513923"/>
                </a:lnTo>
                <a:lnTo>
                  <a:pt x="2797087" y="0"/>
                </a:lnTo>
                <a:lnTo>
                  <a:pt x="0" y="0"/>
                </a:lnTo>
                <a:lnTo>
                  <a:pt x="0" y="151392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6" name="Freeform 46"/>
          <p:cNvSpPr/>
          <p:nvPr/>
        </p:nvSpPr>
        <p:spPr>
          <a:xfrm rot="5400000" flipV="1">
            <a:off x="1714721" y="6630559"/>
            <a:ext cx="2797088" cy="1513924"/>
          </a:xfrm>
          <a:custGeom>
            <a:avLst/>
            <a:gdLst/>
            <a:ahLst/>
            <a:cxnLst/>
            <a:rect l="l" t="t" r="r" b="b"/>
            <a:pathLst>
              <a:path w="2797088" h="1513924">
                <a:moveTo>
                  <a:pt x="0" y="1513924"/>
                </a:moveTo>
                <a:lnTo>
                  <a:pt x="2797087" y="1513924"/>
                </a:lnTo>
                <a:lnTo>
                  <a:pt x="2797087" y="0"/>
                </a:lnTo>
                <a:lnTo>
                  <a:pt x="0" y="0"/>
                </a:lnTo>
                <a:lnTo>
                  <a:pt x="0" y="151392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7" name="Freeform 47"/>
          <p:cNvSpPr/>
          <p:nvPr/>
        </p:nvSpPr>
        <p:spPr>
          <a:xfrm rot="5400000" flipV="1">
            <a:off x="8596917" y="2751420"/>
            <a:ext cx="2797088" cy="1513924"/>
          </a:xfrm>
          <a:custGeom>
            <a:avLst/>
            <a:gdLst/>
            <a:ahLst/>
            <a:cxnLst/>
            <a:rect l="l" t="t" r="r" b="b"/>
            <a:pathLst>
              <a:path w="2797088" h="1513924">
                <a:moveTo>
                  <a:pt x="0" y="1513923"/>
                </a:moveTo>
                <a:lnTo>
                  <a:pt x="2797088" y="1513923"/>
                </a:lnTo>
                <a:lnTo>
                  <a:pt x="2797088" y="0"/>
                </a:lnTo>
                <a:lnTo>
                  <a:pt x="0" y="0"/>
                </a:lnTo>
                <a:lnTo>
                  <a:pt x="0" y="151392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8" name="Freeform 48"/>
          <p:cNvSpPr/>
          <p:nvPr/>
        </p:nvSpPr>
        <p:spPr>
          <a:xfrm rot="5400000" flipV="1">
            <a:off x="8596917" y="6630559"/>
            <a:ext cx="2797088" cy="1513924"/>
          </a:xfrm>
          <a:custGeom>
            <a:avLst/>
            <a:gdLst/>
            <a:ahLst/>
            <a:cxnLst/>
            <a:rect l="l" t="t" r="r" b="b"/>
            <a:pathLst>
              <a:path w="2797088" h="1513924">
                <a:moveTo>
                  <a:pt x="0" y="1513924"/>
                </a:moveTo>
                <a:lnTo>
                  <a:pt x="2797088" y="1513924"/>
                </a:lnTo>
                <a:lnTo>
                  <a:pt x="2797088" y="0"/>
                </a:lnTo>
                <a:lnTo>
                  <a:pt x="0" y="0"/>
                </a:lnTo>
                <a:lnTo>
                  <a:pt x="0" y="151392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7006930" y="2991337"/>
            <a:ext cx="1144999" cy="967414"/>
          </a:xfrm>
          <a:prstGeom prst="rect">
            <a:avLst/>
          </a:prstGeom>
        </p:spPr>
        <p:txBody>
          <a:bodyPr lIns="0" tIns="0" rIns="0" bIns="0" rtlCol="0" anchor="t">
            <a:spAutoFit/>
          </a:bodyPr>
          <a:lstStyle/>
          <a:p>
            <a:pPr algn="r">
              <a:lnSpc>
                <a:spcPts val="7703"/>
              </a:lnSpc>
              <a:spcBef>
                <a:spcPct val="0"/>
              </a:spcBef>
            </a:pPr>
            <a:r>
              <a:rPr lang="en-US" sz="5925" b="1">
                <a:solidFill>
                  <a:srgbClr val="FD6220"/>
                </a:solidFill>
                <a:latin typeface="Public Sans Bold"/>
                <a:ea typeface="Public Sans Bold"/>
                <a:cs typeface="Public Sans Bold"/>
                <a:sym typeface="Public Sans Bold"/>
              </a:rPr>
              <a:t>01</a:t>
            </a:r>
          </a:p>
        </p:txBody>
      </p:sp>
      <p:sp>
        <p:nvSpPr>
          <p:cNvPr id="50" name="TextBox 50"/>
          <p:cNvSpPr txBox="1"/>
          <p:nvPr/>
        </p:nvSpPr>
        <p:spPr>
          <a:xfrm>
            <a:off x="7006930" y="6870476"/>
            <a:ext cx="1144999" cy="967414"/>
          </a:xfrm>
          <a:prstGeom prst="rect">
            <a:avLst/>
          </a:prstGeom>
        </p:spPr>
        <p:txBody>
          <a:bodyPr lIns="0" tIns="0" rIns="0" bIns="0" rtlCol="0" anchor="t">
            <a:spAutoFit/>
          </a:bodyPr>
          <a:lstStyle/>
          <a:p>
            <a:pPr algn="r">
              <a:lnSpc>
                <a:spcPts val="7703"/>
              </a:lnSpc>
              <a:spcBef>
                <a:spcPct val="0"/>
              </a:spcBef>
            </a:pPr>
            <a:r>
              <a:rPr lang="en-US" sz="5925" b="1">
                <a:solidFill>
                  <a:srgbClr val="FD6220"/>
                </a:solidFill>
                <a:latin typeface="Public Sans Bold"/>
                <a:ea typeface="Public Sans Bold"/>
                <a:cs typeface="Public Sans Bold"/>
                <a:sym typeface="Public Sans Bold"/>
              </a:rPr>
              <a:t>03</a:t>
            </a:r>
          </a:p>
        </p:txBody>
      </p:sp>
      <p:sp>
        <p:nvSpPr>
          <p:cNvPr id="51" name="TextBox 51"/>
          <p:cNvSpPr txBox="1"/>
          <p:nvPr/>
        </p:nvSpPr>
        <p:spPr>
          <a:xfrm>
            <a:off x="13889127" y="2991337"/>
            <a:ext cx="1144999" cy="967414"/>
          </a:xfrm>
          <a:prstGeom prst="rect">
            <a:avLst/>
          </a:prstGeom>
        </p:spPr>
        <p:txBody>
          <a:bodyPr lIns="0" tIns="0" rIns="0" bIns="0" rtlCol="0" anchor="t">
            <a:spAutoFit/>
          </a:bodyPr>
          <a:lstStyle/>
          <a:p>
            <a:pPr algn="r">
              <a:lnSpc>
                <a:spcPts val="7703"/>
              </a:lnSpc>
              <a:spcBef>
                <a:spcPct val="0"/>
              </a:spcBef>
            </a:pPr>
            <a:r>
              <a:rPr lang="en-US" sz="5925" b="1">
                <a:solidFill>
                  <a:srgbClr val="FD6220"/>
                </a:solidFill>
                <a:latin typeface="Public Sans Bold"/>
                <a:ea typeface="Public Sans Bold"/>
                <a:cs typeface="Public Sans Bold"/>
                <a:sym typeface="Public Sans Bold"/>
              </a:rPr>
              <a:t>02</a:t>
            </a:r>
          </a:p>
        </p:txBody>
      </p:sp>
      <p:sp>
        <p:nvSpPr>
          <p:cNvPr id="52" name="TextBox 52"/>
          <p:cNvSpPr txBox="1"/>
          <p:nvPr/>
        </p:nvSpPr>
        <p:spPr>
          <a:xfrm>
            <a:off x="13889127" y="6870476"/>
            <a:ext cx="1144999" cy="967414"/>
          </a:xfrm>
          <a:prstGeom prst="rect">
            <a:avLst/>
          </a:prstGeom>
        </p:spPr>
        <p:txBody>
          <a:bodyPr lIns="0" tIns="0" rIns="0" bIns="0" rtlCol="0" anchor="t">
            <a:spAutoFit/>
          </a:bodyPr>
          <a:lstStyle/>
          <a:p>
            <a:pPr algn="r">
              <a:lnSpc>
                <a:spcPts val="7703"/>
              </a:lnSpc>
              <a:spcBef>
                <a:spcPct val="0"/>
              </a:spcBef>
            </a:pPr>
            <a:r>
              <a:rPr lang="en-US" sz="5925" b="1">
                <a:solidFill>
                  <a:srgbClr val="FD6220"/>
                </a:solidFill>
                <a:latin typeface="Public Sans Bold"/>
                <a:ea typeface="Public Sans Bold"/>
                <a:cs typeface="Public Sans Bold"/>
                <a:sym typeface="Public Sans Bold"/>
              </a:rPr>
              <a:t>04</a:t>
            </a:r>
          </a:p>
        </p:txBody>
      </p:sp>
      <p:sp>
        <p:nvSpPr>
          <p:cNvPr id="53" name="Freeform 53"/>
          <p:cNvSpPr/>
          <p:nvPr/>
        </p:nvSpPr>
        <p:spPr>
          <a:xfrm rot="1668168">
            <a:off x="7803154" y="2647145"/>
            <a:ext cx="589947" cy="1722474"/>
          </a:xfrm>
          <a:custGeom>
            <a:avLst/>
            <a:gdLst/>
            <a:ahLst/>
            <a:cxnLst/>
            <a:rect l="l" t="t" r="r" b="b"/>
            <a:pathLst>
              <a:path w="589947" h="1722474">
                <a:moveTo>
                  <a:pt x="0" y="0"/>
                </a:moveTo>
                <a:lnTo>
                  <a:pt x="589948" y="0"/>
                </a:lnTo>
                <a:lnTo>
                  <a:pt x="589948" y="1722473"/>
                </a:lnTo>
                <a:lnTo>
                  <a:pt x="0" y="172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4" name="Freeform 54"/>
          <p:cNvSpPr/>
          <p:nvPr/>
        </p:nvSpPr>
        <p:spPr>
          <a:xfrm rot="1668168">
            <a:off x="7803154" y="6526284"/>
            <a:ext cx="589947" cy="1722474"/>
          </a:xfrm>
          <a:custGeom>
            <a:avLst/>
            <a:gdLst/>
            <a:ahLst/>
            <a:cxnLst/>
            <a:rect l="l" t="t" r="r" b="b"/>
            <a:pathLst>
              <a:path w="589947" h="1722474">
                <a:moveTo>
                  <a:pt x="0" y="0"/>
                </a:moveTo>
                <a:lnTo>
                  <a:pt x="589948" y="0"/>
                </a:lnTo>
                <a:lnTo>
                  <a:pt x="589948" y="1722474"/>
                </a:lnTo>
                <a:lnTo>
                  <a:pt x="0" y="17224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5" name="Freeform 55"/>
          <p:cNvSpPr/>
          <p:nvPr/>
        </p:nvSpPr>
        <p:spPr>
          <a:xfrm rot="1668168">
            <a:off x="14685351" y="2647145"/>
            <a:ext cx="589947" cy="1722474"/>
          </a:xfrm>
          <a:custGeom>
            <a:avLst/>
            <a:gdLst/>
            <a:ahLst/>
            <a:cxnLst/>
            <a:rect l="l" t="t" r="r" b="b"/>
            <a:pathLst>
              <a:path w="589947" h="1722474">
                <a:moveTo>
                  <a:pt x="0" y="0"/>
                </a:moveTo>
                <a:lnTo>
                  <a:pt x="589947" y="0"/>
                </a:lnTo>
                <a:lnTo>
                  <a:pt x="589947" y="1722473"/>
                </a:lnTo>
                <a:lnTo>
                  <a:pt x="0" y="17224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6" name="Freeform 56"/>
          <p:cNvSpPr/>
          <p:nvPr/>
        </p:nvSpPr>
        <p:spPr>
          <a:xfrm rot="1668168">
            <a:off x="14685351" y="6526284"/>
            <a:ext cx="589947" cy="1722474"/>
          </a:xfrm>
          <a:custGeom>
            <a:avLst/>
            <a:gdLst/>
            <a:ahLst/>
            <a:cxnLst/>
            <a:rect l="l" t="t" r="r" b="b"/>
            <a:pathLst>
              <a:path w="589947" h="1722474">
                <a:moveTo>
                  <a:pt x="0" y="0"/>
                </a:moveTo>
                <a:lnTo>
                  <a:pt x="589947" y="0"/>
                </a:lnTo>
                <a:lnTo>
                  <a:pt x="589947" y="1722474"/>
                </a:lnTo>
                <a:lnTo>
                  <a:pt x="0" y="17224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7" name="Freeform 57"/>
          <p:cNvSpPr/>
          <p:nvPr/>
        </p:nvSpPr>
        <p:spPr>
          <a:xfrm>
            <a:off x="2581226" y="3019218"/>
            <a:ext cx="939533" cy="939533"/>
          </a:xfrm>
          <a:custGeom>
            <a:avLst/>
            <a:gdLst/>
            <a:ahLst/>
            <a:cxnLst/>
            <a:rect l="l" t="t" r="r" b="b"/>
            <a:pathLst>
              <a:path w="939533" h="939533">
                <a:moveTo>
                  <a:pt x="0" y="0"/>
                </a:moveTo>
                <a:lnTo>
                  <a:pt x="939533" y="0"/>
                </a:lnTo>
                <a:lnTo>
                  <a:pt x="939533" y="939533"/>
                </a:lnTo>
                <a:lnTo>
                  <a:pt x="0" y="939533"/>
                </a:lnTo>
                <a:lnTo>
                  <a:pt x="0" y="0"/>
                </a:lnTo>
                <a:close/>
              </a:path>
            </a:pathLst>
          </a:custGeom>
          <a:blipFill>
            <a:blip r:embed="rId8"/>
            <a:stretch>
              <a:fillRect/>
            </a:stretch>
          </a:blipFill>
        </p:spPr>
      </p:sp>
      <p:sp>
        <p:nvSpPr>
          <p:cNvPr id="58" name="Freeform 58"/>
          <p:cNvSpPr/>
          <p:nvPr/>
        </p:nvSpPr>
        <p:spPr>
          <a:xfrm>
            <a:off x="2639828" y="6891018"/>
            <a:ext cx="946872" cy="946872"/>
          </a:xfrm>
          <a:custGeom>
            <a:avLst/>
            <a:gdLst/>
            <a:ahLst/>
            <a:cxnLst/>
            <a:rect l="l" t="t" r="r" b="b"/>
            <a:pathLst>
              <a:path w="946872" h="946872">
                <a:moveTo>
                  <a:pt x="0" y="0"/>
                </a:moveTo>
                <a:lnTo>
                  <a:pt x="946873" y="0"/>
                </a:lnTo>
                <a:lnTo>
                  <a:pt x="946873" y="946873"/>
                </a:lnTo>
                <a:lnTo>
                  <a:pt x="0" y="946873"/>
                </a:lnTo>
                <a:lnTo>
                  <a:pt x="0" y="0"/>
                </a:lnTo>
                <a:close/>
              </a:path>
            </a:pathLst>
          </a:custGeom>
          <a:blipFill>
            <a:blip r:embed="rId9"/>
            <a:stretch>
              <a:fillRect/>
            </a:stretch>
          </a:blipFill>
        </p:spPr>
      </p:sp>
      <p:sp>
        <p:nvSpPr>
          <p:cNvPr id="59" name="Freeform 59"/>
          <p:cNvSpPr/>
          <p:nvPr/>
        </p:nvSpPr>
        <p:spPr>
          <a:xfrm>
            <a:off x="9517669" y="6848794"/>
            <a:ext cx="925036" cy="925036"/>
          </a:xfrm>
          <a:custGeom>
            <a:avLst/>
            <a:gdLst/>
            <a:ahLst/>
            <a:cxnLst/>
            <a:rect l="l" t="t" r="r" b="b"/>
            <a:pathLst>
              <a:path w="925036" h="925036">
                <a:moveTo>
                  <a:pt x="0" y="0"/>
                </a:moveTo>
                <a:lnTo>
                  <a:pt x="925036" y="0"/>
                </a:lnTo>
                <a:lnTo>
                  <a:pt x="925036" y="925036"/>
                </a:lnTo>
                <a:lnTo>
                  <a:pt x="0" y="925036"/>
                </a:lnTo>
                <a:lnTo>
                  <a:pt x="0" y="0"/>
                </a:lnTo>
                <a:close/>
              </a:path>
            </a:pathLst>
          </a:custGeom>
          <a:blipFill>
            <a:blip r:embed="rId10"/>
            <a:stretch>
              <a:fillRect/>
            </a:stretch>
          </a:blipFill>
        </p:spPr>
      </p:sp>
      <p:sp>
        <p:nvSpPr>
          <p:cNvPr id="60" name="TextBox 60"/>
          <p:cNvSpPr txBox="1"/>
          <p:nvPr/>
        </p:nvSpPr>
        <p:spPr>
          <a:xfrm>
            <a:off x="1209964" y="472810"/>
            <a:ext cx="15586709" cy="688974"/>
          </a:xfrm>
          <a:prstGeom prst="rect">
            <a:avLst/>
          </a:prstGeom>
        </p:spPr>
        <p:txBody>
          <a:bodyPr lIns="0" tIns="0" rIns="0" bIns="0" rtlCol="0" anchor="t">
            <a:spAutoFit/>
          </a:bodyPr>
          <a:lstStyle/>
          <a:p>
            <a:pPr algn="just">
              <a:lnSpc>
                <a:spcPts val="5600"/>
              </a:lnSpc>
            </a:pPr>
            <a:r>
              <a:rPr lang="en-US" sz="4000" b="1">
                <a:solidFill>
                  <a:srgbClr val="191919"/>
                </a:solidFill>
                <a:latin typeface="Gotham Bold"/>
                <a:ea typeface="Gotham Bold"/>
                <a:cs typeface="Gotham Bold"/>
                <a:sym typeface="Gotham Bold"/>
              </a:rPr>
              <a:t>RECOMMENDATIONS &amp; CONCLUSION</a:t>
            </a:r>
          </a:p>
        </p:txBody>
      </p:sp>
      <p:grpSp>
        <p:nvGrpSpPr>
          <p:cNvPr id="61" name="Group 61"/>
          <p:cNvGrpSpPr/>
          <p:nvPr/>
        </p:nvGrpSpPr>
        <p:grpSpPr>
          <a:xfrm>
            <a:off x="4100366" y="2368767"/>
            <a:ext cx="3106534" cy="2138570"/>
            <a:chOff x="0" y="0"/>
            <a:chExt cx="4142045" cy="2851427"/>
          </a:xfrm>
        </p:grpSpPr>
        <p:sp>
          <p:nvSpPr>
            <p:cNvPr id="62" name="TextBox 62"/>
            <p:cNvSpPr txBox="1"/>
            <p:nvPr/>
          </p:nvSpPr>
          <p:spPr>
            <a:xfrm>
              <a:off x="0" y="0"/>
              <a:ext cx="4142045" cy="878005"/>
            </a:xfrm>
            <a:prstGeom prst="rect">
              <a:avLst/>
            </a:prstGeom>
          </p:spPr>
          <p:txBody>
            <a:bodyPr lIns="0" tIns="0" rIns="0" bIns="0" rtlCol="0" anchor="t">
              <a:spAutoFit/>
            </a:bodyPr>
            <a:lstStyle/>
            <a:p>
              <a:pPr algn="l">
                <a:lnSpc>
                  <a:spcPts val="2666"/>
                </a:lnSpc>
              </a:pPr>
              <a:r>
                <a:rPr lang="en-US" sz="2222" b="1">
                  <a:solidFill>
                    <a:srgbClr val="000000"/>
                  </a:solidFill>
                  <a:latin typeface="DM Sans Bold"/>
                  <a:ea typeface="DM Sans Bold"/>
                  <a:cs typeface="DM Sans Bold"/>
                  <a:sym typeface="DM Sans Bold"/>
                </a:rPr>
                <a:t>Expand Regional Diversity</a:t>
              </a:r>
            </a:p>
          </p:txBody>
        </p:sp>
        <p:sp>
          <p:nvSpPr>
            <p:cNvPr id="63" name="TextBox 63"/>
            <p:cNvSpPr txBox="1"/>
            <p:nvPr/>
          </p:nvSpPr>
          <p:spPr>
            <a:xfrm>
              <a:off x="13463" y="1172529"/>
              <a:ext cx="4128582" cy="1678898"/>
            </a:xfrm>
            <a:prstGeom prst="rect">
              <a:avLst/>
            </a:prstGeom>
          </p:spPr>
          <p:txBody>
            <a:bodyPr lIns="0" tIns="0" rIns="0" bIns="0" rtlCol="0" anchor="t">
              <a:spAutoFit/>
            </a:bodyPr>
            <a:lstStyle/>
            <a:p>
              <a:pPr algn="l">
                <a:lnSpc>
                  <a:spcPts val="2567"/>
                </a:lnSpc>
              </a:pPr>
              <a:r>
                <a:rPr lang="en-US" sz="1975">
                  <a:solidFill>
                    <a:srgbClr val="000000"/>
                  </a:solidFill>
                  <a:latin typeface="DM Sans"/>
                  <a:ea typeface="DM Sans"/>
                  <a:cs typeface="DM Sans"/>
                  <a:sym typeface="DM Sans"/>
                </a:rPr>
                <a:t>Increase content from underrepresented countries to improve cultural balance</a:t>
              </a:r>
            </a:p>
          </p:txBody>
        </p:sp>
      </p:grpSp>
      <p:grpSp>
        <p:nvGrpSpPr>
          <p:cNvPr id="64" name="Group 64"/>
          <p:cNvGrpSpPr/>
          <p:nvPr/>
        </p:nvGrpSpPr>
        <p:grpSpPr>
          <a:xfrm>
            <a:off x="4100366" y="6247907"/>
            <a:ext cx="2765456" cy="2126811"/>
            <a:chOff x="0" y="0"/>
            <a:chExt cx="3687275" cy="2835748"/>
          </a:xfrm>
        </p:grpSpPr>
        <p:sp>
          <p:nvSpPr>
            <p:cNvPr id="65" name="TextBox 65"/>
            <p:cNvSpPr txBox="1"/>
            <p:nvPr/>
          </p:nvSpPr>
          <p:spPr>
            <a:xfrm>
              <a:off x="0" y="0"/>
              <a:ext cx="3687275" cy="439003"/>
            </a:xfrm>
            <a:prstGeom prst="rect">
              <a:avLst/>
            </a:prstGeom>
          </p:spPr>
          <p:txBody>
            <a:bodyPr lIns="0" tIns="0" rIns="0" bIns="0" rtlCol="0" anchor="t">
              <a:spAutoFit/>
            </a:bodyPr>
            <a:lstStyle/>
            <a:p>
              <a:pPr algn="l">
                <a:lnSpc>
                  <a:spcPts val="2666"/>
                </a:lnSpc>
              </a:pPr>
              <a:r>
                <a:rPr lang="en-US" sz="2222" b="1">
                  <a:solidFill>
                    <a:srgbClr val="000000"/>
                  </a:solidFill>
                  <a:latin typeface="DM Sans Bold"/>
                  <a:ea typeface="DM Sans Bold"/>
                  <a:cs typeface="DM Sans Bold"/>
                  <a:sym typeface="DM Sans Bold"/>
                </a:rPr>
                <a:t>Broaden Genre Mix</a:t>
              </a:r>
            </a:p>
          </p:txBody>
        </p:sp>
        <p:sp>
          <p:nvSpPr>
            <p:cNvPr id="66" name="TextBox 66"/>
            <p:cNvSpPr txBox="1"/>
            <p:nvPr/>
          </p:nvSpPr>
          <p:spPr>
            <a:xfrm>
              <a:off x="11985" y="733526"/>
              <a:ext cx="3675290" cy="2102222"/>
            </a:xfrm>
            <a:prstGeom prst="rect">
              <a:avLst/>
            </a:prstGeom>
          </p:spPr>
          <p:txBody>
            <a:bodyPr lIns="0" tIns="0" rIns="0" bIns="0" rtlCol="0" anchor="t">
              <a:spAutoFit/>
            </a:bodyPr>
            <a:lstStyle/>
            <a:p>
              <a:pPr algn="l">
                <a:lnSpc>
                  <a:spcPts val="2567"/>
                </a:lnSpc>
              </a:pPr>
              <a:r>
                <a:rPr lang="en-US" sz="1975">
                  <a:solidFill>
                    <a:srgbClr val="000000"/>
                  </a:solidFill>
                  <a:latin typeface="DM Sans"/>
                  <a:ea typeface="DM Sans"/>
                  <a:cs typeface="DM Sans"/>
                  <a:sym typeface="DM Sans"/>
                </a:rPr>
                <a:t>Invest in less-represented genres to reach niche viewer groups and expand audience interest</a:t>
              </a:r>
            </a:p>
          </p:txBody>
        </p:sp>
      </p:grpSp>
      <p:grpSp>
        <p:nvGrpSpPr>
          <p:cNvPr id="67" name="Group 67"/>
          <p:cNvGrpSpPr/>
          <p:nvPr/>
        </p:nvGrpSpPr>
        <p:grpSpPr>
          <a:xfrm>
            <a:off x="10982563" y="2368767"/>
            <a:ext cx="2906564" cy="2138570"/>
            <a:chOff x="0" y="0"/>
            <a:chExt cx="3875419" cy="2851427"/>
          </a:xfrm>
        </p:grpSpPr>
        <p:sp>
          <p:nvSpPr>
            <p:cNvPr id="68" name="TextBox 68"/>
            <p:cNvSpPr txBox="1"/>
            <p:nvPr/>
          </p:nvSpPr>
          <p:spPr>
            <a:xfrm>
              <a:off x="0" y="0"/>
              <a:ext cx="3875419" cy="878005"/>
            </a:xfrm>
            <a:prstGeom prst="rect">
              <a:avLst/>
            </a:prstGeom>
          </p:spPr>
          <p:txBody>
            <a:bodyPr lIns="0" tIns="0" rIns="0" bIns="0" rtlCol="0" anchor="t">
              <a:spAutoFit/>
            </a:bodyPr>
            <a:lstStyle/>
            <a:p>
              <a:pPr algn="l">
                <a:lnSpc>
                  <a:spcPts val="2666"/>
                </a:lnSpc>
              </a:pPr>
              <a:r>
                <a:rPr lang="en-US" sz="2222" b="1">
                  <a:solidFill>
                    <a:srgbClr val="000000"/>
                  </a:solidFill>
                  <a:latin typeface="DM Sans Bold"/>
                  <a:ea typeface="DM Sans Bold"/>
                  <a:cs typeface="DM Sans Bold"/>
                  <a:sym typeface="DM Sans Bold"/>
                </a:rPr>
                <a:t>Balance Maturity Ratings</a:t>
              </a:r>
            </a:p>
          </p:txBody>
        </p:sp>
        <p:sp>
          <p:nvSpPr>
            <p:cNvPr id="69" name="TextBox 69"/>
            <p:cNvSpPr txBox="1"/>
            <p:nvPr/>
          </p:nvSpPr>
          <p:spPr>
            <a:xfrm>
              <a:off x="12596" y="1172529"/>
              <a:ext cx="3862823" cy="1678898"/>
            </a:xfrm>
            <a:prstGeom prst="rect">
              <a:avLst/>
            </a:prstGeom>
          </p:spPr>
          <p:txBody>
            <a:bodyPr lIns="0" tIns="0" rIns="0" bIns="0" rtlCol="0" anchor="t">
              <a:spAutoFit/>
            </a:bodyPr>
            <a:lstStyle/>
            <a:p>
              <a:pPr algn="l">
                <a:lnSpc>
                  <a:spcPts val="2567"/>
                </a:lnSpc>
              </a:pPr>
              <a:r>
                <a:rPr lang="en-US" sz="1975">
                  <a:solidFill>
                    <a:srgbClr val="000000"/>
                  </a:solidFill>
                  <a:latin typeface="DM Sans"/>
                  <a:ea typeface="DM Sans"/>
                  <a:cs typeface="DM Sans"/>
                  <a:sym typeface="DM Sans"/>
                </a:rPr>
                <a:t>Add more PG and family-friendly content to attract younger audiences</a:t>
              </a:r>
            </a:p>
          </p:txBody>
        </p:sp>
      </p:grpSp>
      <p:grpSp>
        <p:nvGrpSpPr>
          <p:cNvPr id="70" name="Group 70"/>
          <p:cNvGrpSpPr/>
          <p:nvPr/>
        </p:nvGrpSpPr>
        <p:grpSpPr>
          <a:xfrm>
            <a:off x="10982563" y="6247907"/>
            <a:ext cx="2906564" cy="2456063"/>
            <a:chOff x="0" y="0"/>
            <a:chExt cx="3875419" cy="3274751"/>
          </a:xfrm>
        </p:grpSpPr>
        <p:sp>
          <p:nvSpPr>
            <p:cNvPr id="71" name="TextBox 71"/>
            <p:cNvSpPr txBox="1"/>
            <p:nvPr/>
          </p:nvSpPr>
          <p:spPr>
            <a:xfrm>
              <a:off x="0" y="0"/>
              <a:ext cx="3875419" cy="878005"/>
            </a:xfrm>
            <a:prstGeom prst="rect">
              <a:avLst/>
            </a:prstGeom>
          </p:spPr>
          <p:txBody>
            <a:bodyPr lIns="0" tIns="0" rIns="0" bIns="0" rtlCol="0" anchor="t">
              <a:spAutoFit/>
            </a:bodyPr>
            <a:lstStyle/>
            <a:p>
              <a:pPr algn="l">
                <a:lnSpc>
                  <a:spcPts val="2666"/>
                </a:lnSpc>
              </a:pPr>
              <a:r>
                <a:rPr lang="en-US" sz="2222" b="1">
                  <a:solidFill>
                    <a:srgbClr val="000000"/>
                  </a:solidFill>
                  <a:latin typeface="DM Sans Bold"/>
                  <a:ea typeface="DM Sans Bold"/>
                  <a:cs typeface="DM Sans Bold"/>
                  <a:sym typeface="DM Sans Bold"/>
                </a:rPr>
                <a:t>Strengthen Local Productions</a:t>
              </a:r>
            </a:p>
          </p:txBody>
        </p:sp>
        <p:sp>
          <p:nvSpPr>
            <p:cNvPr id="72" name="TextBox 72"/>
            <p:cNvSpPr txBox="1"/>
            <p:nvPr/>
          </p:nvSpPr>
          <p:spPr>
            <a:xfrm>
              <a:off x="12596" y="1172529"/>
              <a:ext cx="3862823" cy="2102222"/>
            </a:xfrm>
            <a:prstGeom prst="rect">
              <a:avLst/>
            </a:prstGeom>
          </p:spPr>
          <p:txBody>
            <a:bodyPr lIns="0" tIns="0" rIns="0" bIns="0" rtlCol="0" anchor="t">
              <a:spAutoFit/>
            </a:bodyPr>
            <a:lstStyle/>
            <a:p>
              <a:pPr algn="l">
                <a:lnSpc>
                  <a:spcPts val="2567"/>
                </a:lnSpc>
              </a:pPr>
              <a:r>
                <a:rPr lang="en-US" sz="1975">
                  <a:solidFill>
                    <a:srgbClr val="000000"/>
                  </a:solidFill>
                  <a:latin typeface="DM Sans"/>
                  <a:ea typeface="DM Sans"/>
                  <a:cs typeface="DM Sans"/>
                  <a:sym typeface="DM Sans"/>
                </a:rPr>
                <a:t>Collaborate with regional creators to build country-specific originals and boost global presence.</a:t>
              </a:r>
            </a:p>
          </p:txBody>
        </p:sp>
      </p:grpSp>
      <p:sp>
        <p:nvSpPr>
          <p:cNvPr id="73" name="Freeform 73"/>
          <p:cNvSpPr/>
          <p:nvPr/>
        </p:nvSpPr>
        <p:spPr>
          <a:xfrm>
            <a:off x="9484344" y="3019218"/>
            <a:ext cx="991686" cy="991686"/>
          </a:xfrm>
          <a:custGeom>
            <a:avLst/>
            <a:gdLst/>
            <a:ahLst/>
            <a:cxnLst/>
            <a:rect l="l" t="t" r="r" b="b"/>
            <a:pathLst>
              <a:path w="991686" h="991686">
                <a:moveTo>
                  <a:pt x="0" y="0"/>
                </a:moveTo>
                <a:lnTo>
                  <a:pt x="991686" y="0"/>
                </a:lnTo>
                <a:lnTo>
                  <a:pt x="991686" y="991686"/>
                </a:lnTo>
                <a:lnTo>
                  <a:pt x="0" y="991686"/>
                </a:lnTo>
                <a:lnTo>
                  <a:pt x="0" y="0"/>
                </a:lnTo>
                <a:close/>
              </a:path>
            </a:pathLst>
          </a:custGeom>
          <a:blipFill>
            <a:blip r:embed="rId11"/>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TextBox 2"/>
          <p:cNvSpPr txBox="1"/>
          <p:nvPr/>
        </p:nvSpPr>
        <p:spPr>
          <a:xfrm>
            <a:off x="3857370" y="4198679"/>
            <a:ext cx="12204061" cy="1391857"/>
          </a:xfrm>
          <a:prstGeom prst="rect">
            <a:avLst/>
          </a:prstGeom>
        </p:spPr>
        <p:txBody>
          <a:bodyPr lIns="0" tIns="0" rIns="0" bIns="0" rtlCol="0" anchor="t">
            <a:spAutoFit/>
          </a:bodyPr>
          <a:lstStyle/>
          <a:p>
            <a:pPr algn="l">
              <a:lnSpc>
                <a:spcPts val="10149"/>
              </a:lnSpc>
            </a:pPr>
            <a:r>
              <a:rPr lang="en-US" sz="11153" b="1" i="1">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1143</Words>
  <Application>Microsoft Office PowerPoint</Application>
  <PresentationFormat>Custom</PresentationFormat>
  <Paragraphs>183</Paragraphs>
  <Slides>10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10</vt:i4>
      </vt:variant>
    </vt:vector>
  </HeadingPairs>
  <TitlesOfParts>
    <vt:vector size="27" baseType="lpstr">
      <vt:lpstr>Gotham Bold Italics</vt:lpstr>
      <vt:lpstr>Avenir Bold</vt:lpstr>
      <vt:lpstr>Barlow Condensed Semi-Bold</vt:lpstr>
      <vt:lpstr>Arial</vt:lpstr>
      <vt:lpstr>Calibri</vt:lpstr>
      <vt:lpstr>Open Sans</vt:lpstr>
      <vt:lpstr>Canva Sans Bold</vt:lpstr>
      <vt:lpstr>DM Sans Bold</vt:lpstr>
      <vt:lpstr>Open Sans Bold</vt:lpstr>
      <vt:lpstr>Avenir</vt:lpstr>
      <vt:lpstr>DM Sans</vt:lpstr>
      <vt:lpstr>Public Sans Bold</vt:lpstr>
      <vt:lpstr>Montserrat Bold</vt:lpstr>
      <vt:lpstr>Gotham</vt:lpstr>
      <vt:lpstr>Montserrat Semi-Bold</vt:lpstr>
      <vt:lpstr>Gotham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Content Insights for Netflix</dc:title>
  <cp:lastModifiedBy>Aryan Thakur</cp:lastModifiedBy>
  <cp:revision>2</cp:revision>
  <dcterms:created xsi:type="dcterms:W3CDTF">2006-08-16T00:00:00Z</dcterms:created>
  <dcterms:modified xsi:type="dcterms:W3CDTF">2025-11-16T08:04:27Z</dcterms:modified>
  <dc:identifier>DAG4gjBod5Y</dc:identifier>
</cp:coreProperties>
</file>